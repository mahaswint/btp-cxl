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d07f736b3a4592" /><Relationship Type="http://schemas.openxmlformats.org/officeDocument/2006/relationships/extended-properties" Target="/docProps/app.xml" Id="R95c4801c97a54a9d" /><Relationship Type="http://schemas.openxmlformats.org/officeDocument/2006/relationships/officeDocument" Target="/ppt/presentation.xml" Id="Rbf8713d1d1ff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d6f7b195cd4333"/>
  </p:sldMasterIdLst>
  <p:notesMasterIdLst>
    <p:notesMasterId xmlns:r="http://schemas.openxmlformats.org/officeDocument/2006/relationships" r:id="R3eb4def7287e4949"/>
  </p:notesMasterIdLst>
  <p:sldIdLst>
    <p:sldId xmlns:r="http://schemas.openxmlformats.org/officeDocument/2006/relationships" id="256" r:id="R18160c1756704965"/>
    <p:sldId xmlns:r="http://schemas.openxmlformats.org/officeDocument/2006/relationships" id="257" r:id="R24cfc678463b41d4"/>
    <p:sldId xmlns:r="http://schemas.openxmlformats.org/officeDocument/2006/relationships" id="258" r:id="Re5b2ac0fc69b4206"/>
    <p:sldId xmlns:r="http://schemas.openxmlformats.org/officeDocument/2006/relationships" id="259" r:id="R1ad299a00b7a457f"/>
    <p:sldId xmlns:r="http://schemas.openxmlformats.org/officeDocument/2006/relationships" id="260" r:id="R24c6953bb2ff4901"/>
    <p:sldId xmlns:r="http://schemas.openxmlformats.org/officeDocument/2006/relationships" id="261" r:id="R00e1cd2c7a5d4e06"/>
    <p:sldId xmlns:r="http://schemas.openxmlformats.org/officeDocument/2006/relationships" id="262" r:id="Rb12ab58b569b4870"/>
    <p:sldId xmlns:r="http://schemas.openxmlformats.org/officeDocument/2006/relationships" id="263" r:id="Re7dedf9edaf64ba5"/>
    <p:sldId xmlns:r="http://schemas.openxmlformats.org/officeDocument/2006/relationships" id="264" r:id="R3d381d6c6306460f"/>
    <p:sldId xmlns:r="http://schemas.openxmlformats.org/officeDocument/2006/relationships" id="265" r:id="Raa3cac661ca04efd"/>
    <p:sldId xmlns:r="http://schemas.openxmlformats.org/officeDocument/2006/relationships" id="266" r:id="R884131eba0ea4b33"/>
    <p:sldId xmlns:r="http://schemas.openxmlformats.org/officeDocument/2006/relationships" id="267" r:id="Rc19b1f09a20b4f28"/>
    <p:sldId xmlns:r="http://schemas.openxmlformats.org/officeDocument/2006/relationships" id="268" r:id="Re0a49d2a76974076"/>
    <p:sldId xmlns:r="http://schemas.openxmlformats.org/officeDocument/2006/relationships" id="269" r:id="Rd547671ab69e4b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dc650671b04f50" /><Relationship Type="http://schemas.openxmlformats.org/officeDocument/2006/relationships/slideMaster" Target="/ppt/slideMasters/slideMaster1.xml" Id="R88d6f7b195cd4333" /><Relationship Type="http://schemas.openxmlformats.org/officeDocument/2006/relationships/notesMaster" Target="/ppt/notesMasters/notesMaster1.xml" Id="R3eb4def7287e4949" /><Relationship Type="http://schemas.openxmlformats.org/officeDocument/2006/relationships/presProps" Target="/ppt/presProps.xml" Id="R46114ce61692401f" /><Relationship Type="http://schemas.openxmlformats.org/officeDocument/2006/relationships/tableStyles" Target="/ppt/tableStyles.xml" Id="Racbe1838ff304e35" /><Relationship Type="http://schemas.openxmlformats.org/officeDocument/2006/relationships/slide" Target="/ppt/slides/slide1.xml" Id="R18160c1756704965" /><Relationship Type="http://schemas.openxmlformats.org/officeDocument/2006/relationships/slide" Target="/ppt/slides/slide2.xml" Id="R24cfc678463b41d4" /><Relationship Type="http://schemas.openxmlformats.org/officeDocument/2006/relationships/slide" Target="/ppt/slides/slide3.xml" Id="Re5b2ac0fc69b4206" /><Relationship Type="http://schemas.openxmlformats.org/officeDocument/2006/relationships/slide" Target="/ppt/slides/slide4.xml" Id="R1ad299a00b7a457f" /><Relationship Type="http://schemas.openxmlformats.org/officeDocument/2006/relationships/slide" Target="/ppt/slides/slide5.xml" Id="R24c6953bb2ff4901" /><Relationship Type="http://schemas.openxmlformats.org/officeDocument/2006/relationships/slide" Target="/ppt/slides/slide6.xml" Id="R00e1cd2c7a5d4e06" /><Relationship Type="http://schemas.openxmlformats.org/officeDocument/2006/relationships/slide" Target="/ppt/slides/slide7.xml" Id="Rb12ab58b569b4870" /><Relationship Type="http://schemas.openxmlformats.org/officeDocument/2006/relationships/slide" Target="/ppt/slides/slide8.xml" Id="Re7dedf9edaf64ba5" /><Relationship Type="http://schemas.openxmlformats.org/officeDocument/2006/relationships/slide" Target="/ppt/slides/slide9.xml" Id="R3d381d6c6306460f" /><Relationship Type="http://schemas.openxmlformats.org/officeDocument/2006/relationships/slide" Target="/ppt/slides/slide10.xml" Id="Raa3cac661ca04efd" /><Relationship Type="http://schemas.openxmlformats.org/officeDocument/2006/relationships/slide" Target="/ppt/slides/slide11.xml" Id="R884131eba0ea4b33" /><Relationship Type="http://schemas.openxmlformats.org/officeDocument/2006/relationships/slide" Target="/ppt/slides/slide12.xml" Id="Rc19b1f09a20b4f28" /><Relationship Type="http://schemas.openxmlformats.org/officeDocument/2006/relationships/slide" Target="/ppt/slides/slide13.xml" Id="Re0a49d2a76974076" /><Relationship Type="http://schemas.openxmlformats.org/officeDocument/2006/relationships/slide" Target="/ppt/slides/slide14.xml" Id="Rd547671ab69e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0dc36d1714d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80c99abf7402c" /><Relationship Type="http://schemas.openxmlformats.org/officeDocument/2006/relationships/notesMaster" Target="/ppt/notesMasters/notesMaster1.xml" Id="R6ad3e392f3cc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d307582014861" /><Relationship Type="http://schemas.openxmlformats.org/officeDocument/2006/relationships/notesMaster" Target="/ppt/notesMasters/notesMaster1.xml" Id="R2d3da661a1a1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6e33a502de4e63" /><Relationship Type="http://schemas.openxmlformats.org/officeDocument/2006/relationships/notesMaster" Target="/ppt/notesMasters/notesMaster1.xml" Id="R6d40f179fb524c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eba20cadfa4c8e" /><Relationship Type="http://schemas.openxmlformats.org/officeDocument/2006/relationships/notesMaster" Target="/ppt/notesMasters/notesMaster1.xml" Id="R120dbd2deed94c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97ab6bbf7d40b1" /><Relationship Type="http://schemas.openxmlformats.org/officeDocument/2006/relationships/notesMaster" Target="/ppt/notesMasters/notesMaster1.xml" Id="R9f7b307ffb664e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7abe5a69d5448f" /><Relationship Type="http://schemas.openxmlformats.org/officeDocument/2006/relationships/notesMaster" Target="/ppt/notesMasters/notesMaster1.xml" Id="R0ecc702e078741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5d9b7e88d9428e" /><Relationship Type="http://schemas.openxmlformats.org/officeDocument/2006/relationships/notesMaster" Target="/ppt/notesMasters/notesMaster1.xml" Id="R373e6ddc8ccb46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277ccb53c64de6" /><Relationship Type="http://schemas.openxmlformats.org/officeDocument/2006/relationships/notesMaster" Target="/ppt/notesMasters/notesMaster1.xml" Id="R8f9461d20b85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f7804991bc4ee7" /><Relationship Type="http://schemas.openxmlformats.org/officeDocument/2006/relationships/notesMaster" Target="/ppt/notesMasters/notesMaster1.xml" Id="R8ab8fc5ba29747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541bc3df064321" /><Relationship Type="http://schemas.openxmlformats.org/officeDocument/2006/relationships/notesMaster" Target="/ppt/notesMasters/notesMaster1.xml" Id="R324bad5f3b444d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27e2dd5e214fea" /><Relationship Type="http://schemas.openxmlformats.org/officeDocument/2006/relationships/notesMaster" Target="/ppt/notesMasters/notesMaster1.xml" Id="R4bb82c94574646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4022d1e10b4588" /><Relationship Type="http://schemas.openxmlformats.org/officeDocument/2006/relationships/notesMaster" Target="/ppt/notesMasters/notesMaster1.xml" Id="Ra222fc6a057340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c2dd839bda4489" /><Relationship Type="http://schemas.openxmlformats.org/officeDocument/2006/relationships/notesMaster" Target="/ppt/notesMasters/notesMaster1.xml" Id="R1735c1cdcb434b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5a503b27674f28" /><Relationship Type="http://schemas.openxmlformats.org/officeDocument/2006/relationships/notesMaster" Target="/ppt/notesMasters/notesMaster1.xml" Id="Rc28f8fac4c01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four successful simulated smoke workloads, three native five-repetition campaigns and exploratory native pilot runs. The deck is a descriptive comparison, not a causal CXL benchmark. All proposals are untested hypotheses.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Ticks converted to ns using 1e12 ticks/s. These are transaction distributions, not application runtimes and not CPU-to-memory instruction latencies. One run per workload. P50/P95/P99 are empirical percentiles, not confidence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Fabric plus return is 148–149 ns; fabric + enqueue-to-start + return is about 165 ns. Enqueue-to-start contains modeled protocol/scheduling delay, not only congestion. Device service includes backend memory scheduling. No matched local-memory path measurement is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Transferred bytes are actual CXL payload, not application logical traffic. Unequal phase lengths and initialization costs confound total traffic comparisons. All four have zero recorded writes during the workload phase; stores may remain cached or write back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Average = read payload / completed phase seconds / 1e9. Peak is the reporter peak window metric at 1e9 ticks per window and 1e12 ticks per second. Peak is not endpoint capacity; compare equal window definitions. Endpoint read/write capacities were unspecified.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Queue-full event / read requests * 1000. This normalizes raw counts for unequal request volumes but is not a probability of a request being blocked: multiple attempts may belong to one request. Endpoint CXLType2Accel admission can reject due to request or response queue state. Backpressure cycles are node-level, not CPU memory-stall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cxl.link.1.read_utilization * 100. Denominator = 16 bytes / 417 ps = 38.3693 GB/s, modeled crossbar directional payload capacity, not an advertised physical CXL link. All endpoint utilization values are null; do not substitute port utilization. Low averages cannot rule out short bursts.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five QPS values from stdout_core_cache.log only: mean 72039.22964, sample SD 1966.51. All five individually plotted. Sim QPS=2667.0721. Mean native / sim =27.01. Native 200k vectors/1k queries; simulator 1024/8. Native allows affinity CPUs0–15 without explicit ANN OpenMP thread count. Simulator uses one core. Guest search time ~3 ms: timing granularity is a further concern.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hardware/workload and simulator-host improvements are hypotheses from the inspected data and source. Reducing calibrated latency is a design exploration, not evidence of a valid current optimization. More outstanding requests can hide latency but raise queueing. Online aggregation and startup fast-forward need semantic validation and warmup. Avoid presenting host-time reductions as improved simulated CXL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5fa13907f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5fea102514456" /><Relationship Type="http://schemas.openxmlformats.org/officeDocument/2006/relationships/slideLayout" Target="/ppt/slideLayouts/slideLayout1.xml" Id="R59dc4a84eae0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c4a84eae0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d50b815e54337" /><Relationship Type="http://schemas.openxmlformats.org/officeDocument/2006/relationships/notesSlide" Target="/ppt/notesSlides/notesSlide1.xml" Id="R7d9f580c3346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cc39582449a0" /><Relationship Type="http://schemas.openxmlformats.org/officeDocument/2006/relationships/notesSlide" Target="/ppt/notesSlides/notesSlide2.xml" Id="R2fbe0b68199b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3a3f1e7db49ac" /><Relationship Type="http://schemas.openxmlformats.org/officeDocument/2006/relationships/chart" Target="/ppt/slides/charts/chart1.xml" Id="R9019e2e3ff8242bf" /><Relationship Type="http://schemas.openxmlformats.org/officeDocument/2006/relationships/notesSlide" Target="/ppt/notesSlides/notesSlide3.xml" Id="R90f77aa4d366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ecf1fb49e447e" /><Relationship Type="http://schemas.openxmlformats.org/officeDocument/2006/relationships/chart" Target="/ppt/slides/charts/chart2.xml" Id="R0c36bcfc82f84a4e" /><Relationship Type="http://schemas.openxmlformats.org/officeDocument/2006/relationships/notesSlide" Target="/ppt/notesSlides/notesSlide4.xml" Id="R7843226e3de8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bff8025a4a15" /><Relationship Type="http://schemas.openxmlformats.org/officeDocument/2006/relationships/chart" Target="/ppt/slides/charts/chart3.xml" Id="Rf85acf916fab40f1" /><Relationship Type="http://schemas.openxmlformats.org/officeDocument/2006/relationships/notesSlide" Target="/ppt/notesSlides/notesSlide5.xml" Id="Rb233f989286b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eddf09f9b4d1f" /><Relationship Type="http://schemas.openxmlformats.org/officeDocument/2006/relationships/chart" Target="/ppt/slides/charts/chart4.xml" Id="R3de3be5f0cfc4b96" /><Relationship Type="http://schemas.openxmlformats.org/officeDocument/2006/relationships/notesSlide" Target="/ppt/notesSlides/notesSlide6.xml" Id="R483e25282f0e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a1337246344ff" /><Relationship Type="http://schemas.openxmlformats.org/officeDocument/2006/relationships/chart" Target="/ppt/slides/charts/chart5.xml" Id="Rf4b9ad8b666f48af" /><Relationship Type="http://schemas.openxmlformats.org/officeDocument/2006/relationships/notesSlide" Target="/ppt/notesSlides/notesSlide7.xml" Id="R38e2101ce1154d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0a59a9674bec" /><Relationship Type="http://schemas.openxmlformats.org/officeDocument/2006/relationships/chart" Target="/ppt/slides/charts/chart6.xml" Id="R099075a058a34a7a" /><Relationship Type="http://schemas.openxmlformats.org/officeDocument/2006/relationships/notesSlide" Target="/ppt/notesSlides/notesSlide8.xml" Id="R347c9f16096d41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14c49693343b5" /><Relationship Type="http://schemas.openxmlformats.org/officeDocument/2006/relationships/chart" Target="/ppt/slides/charts/chart7.xml" Id="R6dc3b80b91be4603" /><Relationship Type="http://schemas.openxmlformats.org/officeDocument/2006/relationships/notesSlide" Target="/ppt/notesSlides/notesSlide9.xml" Id="R973a5660af1940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da990398648a1" /><Relationship Type="http://schemas.openxmlformats.org/officeDocument/2006/relationships/notesSlide" Target="/ppt/notesSlides/notesSlide10.xml" Id="Rf04d55aa41ae4b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0bf6945f04d1f" /><Relationship Type="http://schemas.openxmlformats.org/officeDocument/2006/relationships/notesSlide" Target="/ppt/notesSlides/notesSlide11.xml" Id="Raa640ffc9e6e48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1ea84fa904acd" /><Relationship Type="http://schemas.openxmlformats.org/officeDocument/2006/relationships/notesSlide" Target="/ppt/notesSlides/notesSlide12.xml" Id="R5d8fbbd4a56e47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4545d3b8a4b85" /><Relationship Type="http://schemas.openxmlformats.org/officeDocument/2006/relationships/notesSlide" Target="/ppt/notesSlides/notesSlide13.xml" Id="R3b05a04d384b43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d2d459c0f43f7" /><Relationship Type="http://schemas.openxmlformats.org/officeDocument/2006/relationships/notesSlide" Target="/ppt/notesSlides/notesSlide14.xml" Id="R241c4226143847c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301.3320962328246</c:v>
              </c:pt>
              <c:pt idx="1">
                <c:v>296.8218274585654</c:v>
              </c:pt>
              <c:pt idx="2">
                <c:v>300.40134180228455</c:v>
              </c:pt>
              <c:pt idx="3">
                <c:v>290.0493740694458</c:v>
              </c:pt>
            </c:numLit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442.437</c:v>
              </c:pt>
              <c:pt idx="1">
                <c:v>406.158</c:v>
              </c:pt>
              <c:pt idx="2">
                <c:v>424.089</c:v>
              </c:pt>
              <c:pt idx="3">
                <c:v>397.761</c:v>
              </c:pt>
            </c:numLit>
          </c:val>
        </c:ser>
        <c:ser>
          <c:idx val="2"/>
          <c:order val="2"/>
          <c:tx>
            <c:v>P99</c:v>
          </c:tx>
          <c:spPr>
            <a:solidFill xmlns:a="http://schemas.openxmlformats.org/drawingml/2006/main">
              <a:srgbClr val="D58026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631.338</c:v>
              </c:pt>
              <c:pt idx="1">
                <c:v>597.545</c:v>
              </c:pt>
              <c:pt idx="2">
                <c:v>605.484</c:v>
              </c:pt>
              <c:pt idx="3">
                <c:v>607.569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Latency (ns)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1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Fabric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68.0431929726715</c:v>
              </c:pt>
              <c:pt idx="1">
                <c:v>67.56297959115616</c:v>
              </c:pt>
              <c:pt idx="2">
                <c:v>67.80606508846884</c:v>
              </c:pt>
              <c:pt idx="3">
                <c:v>66.66393529644228</c:v>
              </c:pt>
            </c:numLit>
          </c:val>
        </c:ser>
        <c:ser>
          <c:idx val="1"/>
          <c:order val="1"/>
          <c:tx>
            <c:v>Enqueue→start</c:v>
          </c:tx>
          <c:spPr>
            <a:solidFill xmlns:a="http://schemas.openxmlformats.org/drawingml/2006/main">
              <a:srgbClr val="D58026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16.327453227196674</c:v>
              </c:pt>
              <c:pt idx="1">
                <c:v>16.32438493347117</c:v>
              </c:pt>
              <c:pt idx="2">
                <c:v>16.32687620954378</c:v>
              </c:pt>
              <c:pt idx="3">
                <c:v>16.305590481378236</c:v>
              </c:pt>
            </c:numLit>
          </c:val>
        </c:ser>
        <c:ser>
          <c:idx val="2"/>
          <c:order val="2"/>
          <c:tx>
            <c:v>Device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135.64638660447196</c:v>
              </c:pt>
              <c:pt idx="1">
                <c:v>131.6193516857305</c:v>
              </c:pt>
              <c:pt idx="2">
                <c:v>134.95339786822282</c:v>
              </c:pt>
              <c:pt idx="3">
                <c:v>125.76377046151217</c:v>
              </c:pt>
            </c:numLit>
          </c:val>
        </c:ser>
        <c:ser>
          <c:idx val="3"/>
          <c:order val="3"/>
          <c:tx>
            <c:v>Return</c:v>
          </c:tx>
          <c:spPr>
            <a:solidFill xmlns:a="http://schemas.openxmlformats.org/drawingml/2006/main">
              <a:srgbClr val="9FAAB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81.31506342848452</c:v>
              </c:pt>
              <c:pt idx="1">
                <c:v>81.31511124820756</c:v>
              </c:pt>
              <c:pt idx="2">
                <c:v>81.31500263604913</c:v>
              </c:pt>
              <c:pt idx="3">
                <c:v>81.31607783011312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Mean latency (ns)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7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 MiB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1.20379638671875</c:v>
              </c:pt>
              <c:pt idx="1">
                <c:v>1.83026123046875</c:v>
              </c:pt>
              <c:pt idx="2">
                <c:v>67.58660888671875</c:v>
              </c:pt>
              <c:pt idx="3">
                <c:v>5.71453857421875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CXL read payload (MiB)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Phase mean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0.07285389135437677</c:v>
              </c:pt>
              <c:pt idx="1">
                <c:v>0.04206084733169161</c:v>
              </c:pt>
              <c:pt idx="2">
                <c:v>0.057972340028786956</c:v>
              </c:pt>
              <c:pt idx="3">
                <c:v>0.016361554790786006</c:v>
              </c:pt>
            </c:numLit>
          </c:val>
        </c:ser>
        <c:ser>
          <c:idx val="1"/>
          <c:order val="1"/>
          <c:tx>
            <c:v>1 ms peak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0.4112</c:v>
              </c:pt>
              <c:pt idx="1">
                <c:v>0.454656</c:v>
              </c:pt>
              <c:pt idx="2">
                <c:v>0.503808</c:v>
              </c:pt>
              <c:pt idx="3">
                <c:v>0.43008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Read bandwidth (GB/s)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Events per 1,000 reads</c:v>
          </c:tx>
          <c:spPr>
            <a:solidFill xmlns:a="http://schemas.openxmlformats.org/drawingml/2006/main">
              <a:srgbClr val="D58026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75.19140090249962</c:v>
              </c:pt>
              <c:pt idx="1">
                <c:v>67.59595824857438</c:v>
              </c:pt>
              <c:pt idx="2">
                <c:v>69.41234798015783</c:v>
              </c:pt>
              <c:pt idx="3">
                <c:v>41.29150779155585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Events / 1,000 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 utilization (%)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0.000</c:formatCode>
              <c:ptCount val="4"/>
              <c:pt idx="0">
                <c:v>0.18987545434234443</c:v>
              </c:pt>
              <c:pt idx="1">
                <c:v>0.10962108335822124</c:v>
              </c:pt>
              <c:pt idx="2">
                <c:v>0.151090411200026</c:v>
              </c:pt>
              <c:pt idx="3">
                <c:v>0.042642302173486024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Modeled port utilization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Queries/s</c:v>
          </c:tx>
          <c:spPr>
            <a:solidFill xmlns:a="http://schemas.openxmlformats.org/drawingml/2006/main">
              <a:srgbClr val="9FAABD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2676DD"/>
              </a:solidFill>
            </c:spPr>
          </c:dPt>
          <c:cat>
            <c:strLit>
              <c:ptCount val="6"/>
              <c:pt idx="0">
                <c:v>N1</c:v>
              </c:pt>
              <c:pt idx="1">
                <c:v>N2</c:v>
              </c:pt>
              <c:pt idx="2">
                <c:v>N3</c:v>
              </c:pt>
              <c:pt idx="3">
                <c:v>N4</c:v>
              </c:pt>
              <c:pt idx="4">
                <c:v>N5</c:v>
              </c:pt>
              <c:pt idx="5">
                <c:v>Sim</c:v>
              </c:pt>
            </c:strLit>
          </c:cat>
          <c:val>
            <c:numLit>
              <c:formatCode>0</c:formatCode>
              <c:ptCount val="6"/>
              <c:pt idx="0">
                <c:v>72190.7823</c:v>
              </c:pt>
              <c:pt idx="1">
                <c:v>73021.0883</c:v>
              </c:pt>
              <c:pt idx="2">
                <c:v>73534.4132</c:v>
              </c:pt>
              <c:pt idx="3">
                <c:v>72821.5064</c:v>
              </c:pt>
              <c:pt idx="4">
                <c:v>68628.358</c:v>
              </c:pt>
              <c:pt idx="5">
                <c:v>2667.0721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Queries/s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3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EA64003F-313C-4B36-B3D4-B772D16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63193EA-09FC-40CA-88A4-F9E3E91A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01</a:t>
            </a:r>
          </a:p>
        </p:txBody>
      </p:sp>
      <p:sp>
        <p:nvSpPr>
          <p:cNvPr id="3" name="BTP • EXPERIMENTAL RESULTS">
            <a:extLst xmlns:a="http://schemas.openxmlformats.org/drawingml/2006/main">
              <a:ext uri="{FF2B5EF4-FFF2-40B4-BE49-F238E27FC236}">
                <a16:creationId xmlns:a16="http://schemas.microsoft.com/office/drawing/2014/main" id="{1E776E5F-E63A-4EBB-8D62-4EC0B7F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76DD"/>
                </a:solidFill>
              </a:defRPr>
            </a:pPr>
            <a:r>
              <a:rPr sz="2100" b="1">
                <a:solidFill>
                  <a:srgbClr val="2676DD"/>
                </a:solidFill>
              </a:rPr>
              <a:t>BTP • EXPERIMENTAL RESULTS</a:t>
            </a:r>
          </a:p>
        </p:txBody>
      </p:sp>
      <p:sp>
        <p:nvSpPr>
          <p:cNvPr id="4" name="What the CXL&#10;results show">
            <a:extLst xmlns:a="http://schemas.openxmlformats.org/drawingml/2006/main">
              <a:ext uri="{FF2B5EF4-FFF2-40B4-BE49-F238E27FC236}">
                <a16:creationId xmlns:a16="http://schemas.microsoft.com/office/drawing/2014/main" id="{87DF4219-19A4-4CC7-AF32-DF486DF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42033"/>
                </a:solidFill>
              </a:defRPr>
            </a:pPr>
            <a:r>
              <a:rPr sz="6000" b="1">
                <a:solidFill>
                  <a:srgbClr val="142033"/>
                </a:solidFill>
              </a:rPr>
              <a:t>What the CXL</a:t>
            </a:r>
          </a:p>
          <a:p xmlns:a="http://schemas.openxmlformats.org/drawingml/2006/main">
            <a:pPr>
              <a:defRPr sz="6000" b="1">
                <a:solidFill>
                  <a:srgbClr val="142033"/>
                </a:solidFill>
              </a:defRPr>
            </a:pPr>
            <a:r>
              <a:rPr sz="6000" b="1">
                <a:solidFill>
                  <a:srgbClr val="142033"/>
                </a:solidFill>
              </a:rPr>
              <a:t>results show</a:t>
            </a:r>
          </a:p>
        </p:txBody>
      </p:sp>
      <p:sp>
        <p:nvSpPr>
          <p:cNvPr id="5" name="Latency, traffic and congestion across four successful ">
            <a:extLst xmlns:a="http://schemas.openxmlformats.org/drawingml/2006/main">
              <a:ext uri="{FF2B5EF4-FFF2-40B4-BE49-F238E27FC236}">
                <a16:creationId xmlns:a16="http://schemas.microsoft.com/office/drawing/2014/main" id="{C70D978E-EBE8-404E-A9BB-E71131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033"/>
                </a:solidFill>
              </a:defRPr>
            </a:pPr>
            <a:r>
              <a:rPr sz="2400" b="0">
                <a:solidFill>
                  <a:srgbClr val="142033"/>
                </a:solidFill>
              </a:rPr>
              <a:t>Latency, traffic and congestion across four successful workloads</a:t>
            </a:r>
          </a:p>
        </p:txBody>
      </p:sp>
      <p:sp>
        <p:nvSpPr>
          <p:cNvPr id="6" name="Native context • Key findings • Next experiments">
            <a:extLst xmlns:a="http://schemas.openxmlformats.org/drawingml/2006/main">
              <a:ext uri="{FF2B5EF4-FFF2-40B4-BE49-F238E27FC236}">
                <a16:creationId xmlns:a16="http://schemas.microsoft.com/office/drawing/2014/main" id="{990E7824-B1DF-4413-BBFD-9B5810A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74"/>
                </a:solidFill>
              </a:defRPr>
            </a:pPr>
            <a:r>
              <a:rPr sz="2025" b="0">
                <a:solidFill>
                  <a:srgbClr val="526174"/>
                </a:solidFill>
              </a:rPr>
              <a:t>Native context • Key findings • Next experiments</a:t>
            </a:r>
          </a:p>
        </p:txBody>
      </p:sp>
    </p:spTree>
    <p:extLst>
      <p:ext uri="{BB962C8B-B14F-4D97-AF65-F5344CB8AC3E}">
        <p14:creationId xmlns:p14="http://schemas.microsoft.com/office/powerpoint/2010/main" val="1101948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Inputs differ before memory is compared">
            <a:extLst xmlns:a="http://schemas.openxmlformats.org/drawingml/2006/main">
              <a:ext uri="{FF2B5EF4-FFF2-40B4-BE49-F238E27FC236}">
                <a16:creationId xmlns:a16="http://schemas.microsoft.com/office/drawing/2014/main" id="{A41450A3-A6B3-4787-9C77-55C889DA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Inputs differ before memory is compared</a:t>
            </a:r>
          </a:p>
        </p:txBody>
      </p:sp>
      <p:sp>
        <p:nvSpPr>
          <p:cNvPr id="2" name="Four successful simulator runs; one smoke repetition ea">
            <a:extLst xmlns:a="http://schemas.openxmlformats.org/drawingml/2006/main">
              <a:ext uri="{FF2B5EF4-FFF2-40B4-BE49-F238E27FC236}">
                <a16:creationId xmlns:a16="http://schemas.microsoft.com/office/drawing/2014/main" id="{52EF40F8-1FD3-48F4-B19D-62FFD5D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Four successful simulator runs; one smoke repetition each. Native campaigns have five repetitions.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9B045F62-D7D4-4B1B-85AC-3D6B24D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C5517240-D847-45C6-81C1-BD6263F5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Workload">
            <a:extLst xmlns:a="http://schemas.openxmlformats.org/drawingml/2006/main">
              <a:ext uri="{FF2B5EF4-FFF2-40B4-BE49-F238E27FC236}">
                <a16:creationId xmlns:a16="http://schemas.microsoft.com/office/drawing/2014/main" id="{349F2C08-761F-428F-A48E-6E9E237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Workload</a:t>
            </a:r>
          </a:p>
        </p:txBody>
      </p:sp>
      <p:sp>
        <p:nvSpPr>
          <p:cNvPr id="6" name="Native">
            <a:extLst xmlns:a="http://schemas.openxmlformats.org/drawingml/2006/main">
              <a:ext uri="{FF2B5EF4-FFF2-40B4-BE49-F238E27FC236}">
                <a16:creationId xmlns:a16="http://schemas.microsoft.com/office/drawing/2014/main" id="{6AF2CF8D-C668-498C-8F48-F2A11DF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288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Native</a:t>
            </a:r>
          </a:p>
        </p:txBody>
      </p:sp>
      <p:sp>
        <p:nvSpPr>
          <p:cNvPr id="7" name="SimCXL">
            <a:extLst xmlns:a="http://schemas.openxmlformats.org/drawingml/2006/main">
              <a:ext uri="{FF2B5EF4-FFF2-40B4-BE49-F238E27FC236}">
                <a16:creationId xmlns:a16="http://schemas.microsoft.com/office/drawing/2014/main" id="{DF6214FB-62CC-4729-8E84-C86FEC0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SimCXL</a:t>
            </a:r>
          </a:p>
        </p:txBody>
      </p:sp>
      <p:sp>
        <p:nvSpPr>
          <p:cNvPr id="8" name="Pilot">
            <a:extLst xmlns:a="http://schemas.openxmlformats.org/drawingml/2006/main">
              <a:ext uri="{FF2B5EF4-FFF2-40B4-BE49-F238E27FC236}">
                <a16:creationId xmlns:a16="http://schemas.microsoft.com/office/drawing/2014/main" id="{E8B8D21A-F4A1-488D-8B4D-EAC8E500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Pilot</a:t>
            </a:r>
          </a:p>
        </p:txBody>
      </p:sp>
      <p:sp>
        <p:nvSpPr>
          <p:cNvPr id="9" name="512 MiB; 8 passes">
            <a:extLst xmlns:a="http://schemas.openxmlformats.org/drawingml/2006/main">
              <a:ext uri="{FF2B5EF4-FFF2-40B4-BE49-F238E27FC236}">
                <a16:creationId xmlns:a16="http://schemas.microsoft.com/office/drawing/2014/main" id="{357D5942-C617-4DDB-B78D-EF47F3B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90800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512 MiB; 8 passes</a:t>
            </a:r>
          </a:p>
        </p:txBody>
      </p:sp>
      <p:sp>
        <p:nvSpPr>
          <p:cNvPr id="10" name="1 MiB; 8 passes">
            <a:extLst xmlns:a="http://schemas.openxmlformats.org/drawingml/2006/main">
              <a:ext uri="{FF2B5EF4-FFF2-40B4-BE49-F238E27FC236}">
                <a16:creationId xmlns:a16="http://schemas.microsoft.com/office/drawing/2014/main" id="{9E865F6E-7CB1-4FC5-900E-D845787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 MiB; 8 passes</a:t>
            </a:r>
          </a:p>
        </p:txBody>
      </p:sp>
      <p:sp>
        <p:nvSpPr>
          <p:cNvPr id="11" name="STREAM">
            <a:extLst xmlns:a="http://schemas.openxmlformats.org/drawingml/2006/main">
              <a:ext uri="{FF2B5EF4-FFF2-40B4-BE49-F238E27FC236}">
                <a16:creationId xmlns:a16="http://schemas.microsoft.com/office/drawing/2014/main" id="{7AA0EFFE-EAE5-4983-81ED-55FFF45A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STREAM</a:t>
            </a:r>
          </a:p>
        </p:txBody>
      </p:sp>
      <p:sp>
        <p:nvSpPr>
          <p:cNvPr id="12" name="1.2 GB; 20 iterations">
            <a:extLst xmlns:a="http://schemas.openxmlformats.org/drawingml/2006/main">
              <a:ext uri="{FF2B5EF4-FFF2-40B4-BE49-F238E27FC236}">
                <a16:creationId xmlns:a16="http://schemas.microsoft.com/office/drawing/2014/main" id="{48BC1F30-BD52-471D-BFEA-C74C8E3B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48025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1.2 GB; 20 iterations</a:t>
            </a:r>
          </a:p>
        </p:txBody>
      </p:sp>
      <p:sp>
        <p:nvSpPr>
          <p:cNvPr id="13" name="1.5 MiB; 3 iterations">
            <a:extLst xmlns:a="http://schemas.openxmlformats.org/drawingml/2006/main">
              <a:ext uri="{FF2B5EF4-FFF2-40B4-BE49-F238E27FC236}">
                <a16:creationId xmlns:a16="http://schemas.microsoft.com/office/drawing/2014/main" id="{175DD819-F0D1-400F-9F5A-31B58EA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48025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1.5 MiB; 3 iterations</a:t>
            </a:r>
          </a:p>
        </p:txBody>
      </p:sp>
      <p:sp>
        <p:nvSpPr>
          <p:cNvPr id="14" name="Pointer chase">
            <a:extLst xmlns:a="http://schemas.openxmlformats.org/drawingml/2006/main">
              <a:ext uri="{FF2B5EF4-FFF2-40B4-BE49-F238E27FC236}">
                <a16:creationId xmlns:a16="http://schemas.microsoft.com/office/drawing/2014/main" id="{8F49631F-268F-4D9E-B891-311A491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Pointer chase</a:t>
            </a:r>
          </a:p>
        </p:txBody>
      </p:sp>
      <p:sp>
        <p:nvSpPr>
          <p:cNvPr id="15" name="512 MiB; 5 samples">
            <a:extLst xmlns:a="http://schemas.openxmlformats.org/drawingml/2006/main">
              <a:ext uri="{FF2B5EF4-FFF2-40B4-BE49-F238E27FC236}">
                <a16:creationId xmlns:a16="http://schemas.microsoft.com/office/drawing/2014/main" id="{EAF45E25-2E21-4B71-A75E-A7ECAA4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05250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512 MiB; 5 samples</a:t>
            </a:r>
          </a:p>
        </p:txBody>
      </p:sp>
      <p:sp>
        <p:nvSpPr>
          <p:cNvPr id="16" name="2 MiB; 1 sample">
            <a:extLst xmlns:a="http://schemas.openxmlformats.org/drawingml/2006/main">
              <a:ext uri="{FF2B5EF4-FFF2-40B4-BE49-F238E27FC236}">
                <a16:creationId xmlns:a16="http://schemas.microsoft.com/office/drawing/2014/main" id="{26F8462A-64B7-43F7-B741-78027AD7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05250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2 MiB; 1 sample</a:t>
            </a:r>
          </a:p>
        </p:txBody>
      </p:sp>
      <p:sp>
        <p:nvSpPr>
          <p:cNvPr id="17" name="ANN">
            <a:extLst xmlns:a="http://schemas.openxmlformats.org/drawingml/2006/main">
              <a:ext uri="{FF2B5EF4-FFF2-40B4-BE49-F238E27FC236}">
                <a16:creationId xmlns:a16="http://schemas.microsoft.com/office/drawing/2014/main" id="{90AD994C-16C6-4743-ABC4-791555E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ANN</a:t>
            </a:r>
          </a:p>
        </p:txBody>
      </p:sp>
      <p:sp>
        <p:nvSpPr>
          <p:cNvPr id="18" name="200k vectors; 1k queries">
            <a:extLst xmlns:a="http://schemas.openxmlformats.org/drawingml/2006/main">
              <a:ext uri="{FF2B5EF4-FFF2-40B4-BE49-F238E27FC236}">
                <a16:creationId xmlns:a16="http://schemas.microsoft.com/office/drawing/2014/main" id="{D35C0B39-8572-4FD8-AAA4-CBDEB26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62475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200k vectors; 1k queries</a:t>
            </a:r>
          </a:p>
        </p:txBody>
      </p:sp>
      <p:sp>
        <p:nvSpPr>
          <p:cNvPr id="19" name="1,024 vectors; 8 queries">
            <a:extLst xmlns:a="http://schemas.openxmlformats.org/drawingml/2006/main">
              <a:ext uri="{FF2B5EF4-FFF2-40B4-BE49-F238E27FC236}">
                <a16:creationId xmlns:a16="http://schemas.microsoft.com/office/drawing/2014/main" id="{D0B0FF25-32AD-417D-9089-C4FDDE9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62475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1,024 vectors; 8 queries</a:t>
            </a:r>
          </a:p>
        </p:txBody>
      </p:sp>
      <p:sp>
        <p:nvSpPr>
          <p:cNvPr id="20" name="Native: i7-12700, 25 MiB L3     |     Sim: 1 TimingSimp">
            <a:extLst xmlns:a="http://schemas.openxmlformats.org/drawingml/2006/main">
              <a:ext uri="{FF2B5EF4-FFF2-40B4-BE49-F238E27FC236}">
                <a16:creationId xmlns:a16="http://schemas.microsoft.com/office/drawing/2014/main" id="{EC7AF6DF-56EF-4B8B-9585-F16ABD6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58026"/>
                </a:solidFill>
              </a:defRPr>
            </a:pPr>
            <a:r>
              <a:rPr sz="1800" b="1">
                <a:solidFill>
                  <a:srgbClr val="D58026"/>
                </a:solidFill>
              </a:rPr>
              <a:t>Native: i7-12700, 25 MiB L3     |     Sim: 1 TimingSimpleCPU, 96 MiB L3</a:t>
            </a:r>
          </a:p>
        </p:txBody>
      </p:sp>
    </p:spTree>
    <p:extLst>
      <p:ext uri="{BB962C8B-B14F-4D97-AF65-F5344CB8AC3E}">
        <p14:creationId xmlns:p14="http://schemas.microsoft.com/office/powerpoint/2010/main" val="1888330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XL read tails reach about 600 ns">
            <a:extLst xmlns:a="http://schemas.openxmlformats.org/drawingml/2006/main">
              <a:ext uri="{FF2B5EF4-FFF2-40B4-BE49-F238E27FC236}">
                <a16:creationId xmlns:a16="http://schemas.microsoft.com/office/drawing/2014/main" id="{6506C320-3D81-414A-9841-357AAA5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CXL read tails reach about 600 ns</a:t>
            </a:r>
          </a:p>
        </p:txBody>
      </p:sp>
      <p:sp>
        <p:nvSpPr>
          <p:cNvPr id="2" name="Completed workload phases • Host-facing CXL request to ">
            <a:extLst xmlns:a="http://schemas.openxmlformats.org/drawingml/2006/main">
              <a:ext uri="{FF2B5EF4-FFF2-40B4-BE49-F238E27FC236}">
                <a16:creationId xmlns:a16="http://schemas.microsoft.com/office/drawing/2014/main" id="{12BE4E8C-21D1-4666-8DCC-AAE58E1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Completed workload phases • Host-facing CXL request to returning response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B90E40B2-913F-4DAF-9A46-6CD23F3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96211185-FB5F-4B8F-9AF4-C0D5BF3B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19e2e3ff8242bf"/>
          </a:graphicData>
        </a:graphic>
      </p:graphicFrame>
      <p:sp>
        <p:nvSpPr>
          <p:cNvPr id="6" name="290–301 ns">
            <a:extLst xmlns:a="http://schemas.openxmlformats.org/drawingml/2006/main">
              <a:ext uri="{FF2B5EF4-FFF2-40B4-BE49-F238E27FC236}">
                <a16:creationId xmlns:a16="http://schemas.microsoft.com/office/drawing/2014/main" id="{FC70EB47-3ABF-424C-BB5A-7950524E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290–301 ns</a:t>
            </a:r>
          </a:p>
        </p:txBody>
      </p:sp>
      <p:sp>
        <p:nvSpPr>
          <p:cNvPr id="7" name="Mean read latency is similar across the four runs.">
            <a:extLst xmlns:a="http://schemas.openxmlformats.org/drawingml/2006/main">
              <a:ext uri="{FF2B5EF4-FFF2-40B4-BE49-F238E27FC236}">
                <a16:creationId xmlns:a16="http://schemas.microsoft.com/office/drawing/2014/main" id="{BAE5262B-530E-47B8-9D58-F6CEDD4A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Mean read latency is similar across the four runs.</a:t>
            </a:r>
          </a:p>
        </p:txBody>
      </p:sp>
      <p:sp>
        <p:nvSpPr>
          <p:cNvPr id="8" name="598–631 ns">
            <a:extLst xmlns:a="http://schemas.openxmlformats.org/drawingml/2006/main">
              <a:ext uri="{FF2B5EF4-FFF2-40B4-BE49-F238E27FC236}">
                <a16:creationId xmlns:a16="http://schemas.microsoft.com/office/drawing/2014/main" id="{C5C088FF-5C36-411C-A6B5-04C0265F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598–631 ns</a:t>
            </a:r>
          </a:p>
        </p:txBody>
      </p:sp>
      <p:sp>
        <p:nvSpPr>
          <p:cNvPr id="9" name="P99 is approximately twice the mean.">
            <a:extLst xmlns:a="http://schemas.openxmlformats.org/drawingml/2006/main">
              <a:ext uri="{FF2B5EF4-FFF2-40B4-BE49-F238E27FC236}">
                <a16:creationId xmlns:a16="http://schemas.microsoft.com/office/drawing/2014/main" id="{99753B73-F480-4F23-815E-618665D6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P99 is approximately twice the mean.</a:t>
            </a:r>
          </a:p>
        </p:txBody>
      </p:sp>
      <p:sp>
        <p:nvSpPr>
          <p:cNvPr id="10" name="CXL boundary">
            <a:extLst xmlns:a="http://schemas.openxmlformats.org/drawingml/2006/main">
              <a:ext uri="{FF2B5EF4-FFF2-40B4-BE49-F238E27FC236}">
                <a16:creationId xmlns:a16="http://schemas.microsoft.com/office/drawing/2014/main" id="{59A23C45-EE73-4361-8B58-3D31DF4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CXL boundary</a:t>
            </a:r>
          </a:p>
        </p:txBody>
      </p:sp>
      <p:sp>
        <p:nvSpPr>
          <p:cNvPr id="11" name="CPU and cache lookup time is outside this measurement.">
            <a:extLst xmlns:a="http://schemas.openxmlformats.org/drawingml/2006/main">
              <a:ext uri="{FF2B5EF4-FFF2-40B4-BE49-F238E27FC236}">
                <a16:creationId xmlns:a16="http://schemas.microsoft.com/office/drawing/2014/main" id="{CB5965DB-9D28-4B45-933A-B998F472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CPU and cache lookup time is outside this measurement.</a:t>
            </a:r>
          </a:p>
        </p:txBody>
      </p:sp>
    </p:spTree>
    <p:extLst>
      <p:ext uri="{BB962C8B-B14F-4D97-AF65-F5344CB8AC3E}">
        <p14:creationId xmlns:p14="http://schemas.microsoft.com/office/powerpoint/2010/main" val="728595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 modeled path adds about 165 ns">
            <a:extLst xmlns:a="http://schemas.openxmlformats.org/drawingml/2006/main">
              <a:ext uri="{FF2B5EF4-FFF2-40B4-BE49-F238E27FC236}">
                <a16:creationId xmlns:a16="http://schemas.microsoft.com/office/drawing/2014/main" id="{BF726330-35EB-4779-A360-14C72E2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The modeled path adds about 165 ns</a:t>
            </a:r>
          </a:p>
        </p:txBody>
      </p:sp>
      <p:sp>
        <p:nvSpPr>
          <p:cNvPr id="2" name="Mean latency components sum to total • This is not an i">
            <a:extLst xmlns:a="http://schemas.openxmlformats.org/drawingml/2006/main">
              <a:ext uri="{FF2B5EF4-FFF2-40B4-BE49-F238E27FC236}">
                <a16:creationId xmlns:a16="http://schemas.microsoft.com/office/drawing/2014/main" id="{91B5D6DF-A3B4-41F8-9F63-DAB66E30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Mean latency components sum to total • This is not an incremental native-DRAM penalty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E8EE5078-4863-4566-9644-6E40B6A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C3DAD393-B1C2-4820-AC89-78D0EC2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36bcfc82f84a4e"/>
          </a:graphicData>
        </a:graphic>
      </p:graphicFrame>
      <p:sp>
        <p:nvSpPr>
          <p:cNvPr id="6" name="148–149 ns">
            <a:extLst xmlns:a="http://schemas.openxmlformats.org/drawingml/2006/main">
              <a:ext uri="{FF2B5EF4-FFF2-40B4-BE49-F238E27FC236}">
                <a16:creationId xmlns:a16="http://schemas.microsoft.com/office/drawing/2014/main" id="{0CC14FBF-2769-405F-8076-9AC0F96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148–149 ns</a:t>
            </a:r>
          </a:p>
        </p:txBody>
      </p:sp>
      <p:sp>
        <p:nvSpPr>
          <p:cNvPr id="7" name="Fabric plus return-path time per read.">
            <a:extLst xmlns:a="http://schemas.openxmlformats.org/drawingml/2006/main">
              <a:ext uri="{FF2B5EF4-FFF2-40B4-BE49-F238E27FC236}">
                <a16:creationId xmlns:a16="http://schemas.microsoft.com/office/drawing/2014/main" id="{846BF854-EA53-434C-B140-C1DE63E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Fabric plus return-path time per read.</a:t>
            </a:r>
          </a:p>
        </p:txBody>
      </p:sp>
      <p:sp>
        <p:nvSpPr>
          <p:cNvPr id="8" name="126–136 ns">
            <a:extLst xmlns:a="http://schemas.openxmlformats.org/drawingml/2006/main">
              <a:ext uri="{FF2B5EF4-FFF2-40B4-BE49-F238E27FC236}">
                <a16:creationId xmlns:a16="http://schemas.microsoft.com/office/drawing/2014/main" id="{F9D1E2EC-8AAB-434E-B18B-E9F515EC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126–136 ns</a:t>
            </a:r>
          </a:p>
        </p:txBody>
      </p:sp>
      <p:sp>
        <p:nvSpPr>
          <p:cNvPr id="9" name="Device service, including backend scheduling.">
            <a:extLst xmlns:a="http://schemas.openxmlformats.org/drawingml/2006/main">
              <a:ext uri="{FF2B5EF4-FFF2-40B4-BE49-F238E27FC236}">
                <a16:creationId xmlns:a16="http://schemas.microsoft.com/office/drawing/2014/main" id="{36D3CF93-1524-4D6F-98C6-E7200A44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Device service, including backend scheduling.</a:t>
            </a:r>
          </a:p>
        </p:txBody>
      </p:sp>
      <p:sp>
        <p:nvSpPr>
          <p:cNvPr id="10" name="55–57%">
            <a:extLst xmlns:a="http://schemas.openxmlformats.org/drawingml/2006/main">
              <a:ext uri="{FF2B5EF4-FFF2-40B4-BE49-F238E27FC236}">
                <a16:creationId xmlns:a16="http://schemas.microsoft.com/office/drawing/2014/main" id="{537026BE-2CF3-4838-82D4-0D0E15A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55–57%</a:t>
            </a:r>
          </a:p>
        </p:txBody>
      </p:sp>
      <p:sp>
        <p:nvSpPr>
          <p:cNvPr id="11" name="Share outside device service; not all avoidable.">
            <a:extLst xmlns:a="http://schemas.openxmlformats.org/drawingml/2006/main">
              <a:ext uri="{FF2B5EF4-FFF2-40B4-BE49-F238E27FC236}">
                <a16:creationId xmlns:a16="http://schemas.microsoft.com/office/drawing/2014/main" id="{1D83F264-9F98-4364-892B-3554EC1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Share outside device service; not all avoidable.</a:t>
            </a:r>
          </a:p>
        </p:txBody>
      </p:sp>
    </p:spTree>
    <p:extLst>
      <p:ext uri="{BB962C8B-B14F-4D97-AF65-F5344CB8AC3E}">
        <p14:creationId xmlns:p14="http://schemas.microsoft.com/office/powerpoint/2010/main" val="447380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raffic volume reflects different phases">
            <a:extLst xmlns:a="http://schemas.openxmlformats.org/drawingml/2006/main">
              <a:ext uri="{FF2B5EF4-FFF2-40B4-BE49-F238E27FC236}">
                <a16:creationId xmlns:a16="http://schemas.microsoft.com/office/drawing/2014/main" id="{006A54A8-3AEF-4243-97D4-204FACE0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Traffic volume reflects different phases</a:t>
            </a:r>
          </a:p>
        </p:txBody>
      </p:sp>
      <p:sp>
        <p:nvSpPr>
          <p:cNvPr id="2" name="Read payload observed at the CXL boundary • 64 bytes pe">
            <a:extLst xmlns:a="http://schemas.openxmlformats.org/drawingml/2006/main">
              <a:ext uri="{FF2B5EF4-FFF2-40B4-BE49-F238E27FC236}">
                <a16:creationId xmlns:a16="http://schemas.microsoft.com/office/drawing/2014/main" id="{6256C389-14EF-457B-9754-8F6E0AAE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Read payload observed at the CXL boundary • 64 bytes per recorded read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25375E1B-B93D-4BDC-8C52-99F2F0BD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342A719F-4E3F-40F4-B407-85E9D416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5acf916fab40f1"/>
          </a:graphicData>
        </a:graphic>
      </p:graphicFrame>
      <p:sp>
        <p:nvSpPr>
          <p:cNvPr id="6" name="67.6 MiB">
            <a:extLst xmlns:a="http://schemas.openxmlformats.org/drawingml/2006/main">
              <a:ext uri="{FF2B5EF4-FFF2-40B4-BE49-F238E27FC236}">
                <a16:creationId xmlns:a16="http://schemas.microsoft.com/office/drawing/2014/main" id="{2B113C7A-12C1-4967-B607-5B8E89A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67.6 MiB</a:t>
            </a:r>
          </a:p>
        </p:txBody>
      </p:sp>
      <p:sp>
        <p:nvSpPr>
          <p:cNvPr id="7" name="Pointer chase transfers the most data over its 1.22 s p">
            <a:extLst xmlns:a="http://schemas.openxmlformats.org/drawingml/2006/main">
              <a:ext uri="{FF2B5EF4-FFF2-40B4-BE49-F238E27FC236}">
                <a16:creationId xmlns:a16="http://schemas.microsoft.com/office/drawing/2014/main" id="{00924CCF-3D53-4DB7-BA70-3785EEA5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Pointer chase transfers the most data over its 1.22 s phase.</a:t>
            </a:r>
          </a:p>
        </p:txBody>
      </p:sp>
      <p:sp>
        <p:nvSpPr>
          <p:cNvPr id="8" name="1.11 million">
            <a:extLst xmlns:a="http://schemas.openxmlformats.org/drawingml/2006/main">
              <a:ext uri="{FF2B5EF4-FFF2-40B4-BE49-F238E27FC236}">
                <a16:creationId xmlns:a16="http://schemas.microsoft.com/office/drawing/2014/main" id="{619403A7-46D6-43AF-A828-F95F20CC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1.11 million</a:t>
            </a:r>
          </a:p>
        </p:txBody>
      </p:sp>
      <p:sp>
        <p:nvSpPr>
          <p:cNvPr id="9" name="Pointer read requests; includes process setup activity.">
            <a:extLst xmlns:a="http://schemas.openxmlformats.org/drawingml/2006/main">
              <a:ext uri="{FF2B5EF4-FFF2-40B4-BE49-F238E27FC236}">
                <a16:creationId xmlns:a16="http://schemas.microsoft.com/office/drawing/2014/main" id="{6118A363-CE05-4E5F-BE96-BFB70E4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Pointer read requests; includes process setup activity.</a:t>
            </a:r>
          </a:p>
        </p:txBody>
      </p:sp>
      <p:sp>
        <p:nvSpPr>
          <p:cNvPr id="10" name="0 write bytes">
            <a:extLst xmlns:a="http://schemas.openxmlformats.org/drawingml/2006/main">
              <a:ext uri="{FF2B5EF4-FFF2-40B4-BE49-F238E27FC236}">
                <a16:creationId xmlns:a16="http://schemas.microsoft.com/office/drawing/2014/main" id="{7B3140E3-B58B-4276-8EF7-C581C7FD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 write bytes</a:t>
            </a:r>
          </a:p>
        </p:txBody>
      </p:sp>
      <p:sp>
        <p:nvSpPr>
          <p:cNvPr id="11" name="Recorded in all four phases; write behavior remains unt">
            <a:extLst xmlns:a="http://schemas.openxmlformats.org/drawingml/2006/main">
              <a:ext uri="{FF2B5EF4-FFF2-40B4-BE49-F238E27FC236}">
                <a16:creationId xmlns:a16="http://schemas.microsoft.com/office/drawing/2014/main" id="{5C5ED161-E61E-4B17-90A2-AA727580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Recorded in all four phases; write behavior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1905356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eak traffic exceeds the phase average">
            <a:extLst xmlns:a="http://schemas.openxmlformats.org/drawingml/2006/main">
              <a:ext uri="{FF2B5EF4-FFF2-40B4-BE49-F238E27FC236}">
                <a16:creationId xmlns:a16="http://schemas.microsoft.com/office/drawing/2014/main" id="{F3B0FA22-AB83-4863-A3B4-A5765703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Peak traffic exceeds the phase average</a:t>
            </a:r>
          </a:p>
        </p:txBody>
      </p:sp>
      <p:sp>
        <p:nvSpPr>
          <p:cNvPr id="2" name="Read bandwidth in decimal GB/s • Peaks use fixed 1 ms s">
            <a:extLst xmlns:a="http://schemas.openxmlformats.org/drawingml/2006/main">
              <a:ext uri="{FF2B5EF4-FFF2-40B4-BE49-F238E27FC236}">
                <a16:creationId xmlns:a16="http://schemas.microsoft.com/office/drawing/2014/main" id="{351D8D22-1528-4CEE-AD76-100BD34F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Read bandwidth in decimal GB/s • Peaks use fixed 1 ms simulation windows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3D947245-96E5-43CE-9635-D72CDB3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490A1CA7-B9C3-4B09-9F8A-1C79A098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e3be5f0cfc4b96"/>
          </a:graphicData>
        </a:graphic>
      </p:graphicFrame>
      <p:sp>
        <p:nvSpPr>
          <p:cNvPr id="6" name="0.016–0.073">
            <a:extLst xmlns:a="http://schemas.openxmlformats.org/drawingml/2006/main">
              <a:ext uri="{FF2B5EF4-FFF2-40B4-BE49-F238E27FC236}">
                <a16:creationId xmlns:a16="http://schemas.microsoft.com/office/drawing/2014/main" id="{73FA845B-D202-4F45-BA9C-F0B0652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0.016–0.073</a:t>
            </a:r>
          </a:p>
        </p:txBody>
      </p:sp>
      <p:sp>
        <p:nvSpPr>
          <p:cNvPr id="7" name="Phase-average GB/s. Long quiet intervals dilute average">
            <a:extLst xmlns:a="http://schemas.openxmlformats.org/drawingml/2006/main">
              <a:ext uri="{FF2B5EF4-FFF2-40B4-BE49-F238E27FC236}">
                <a16:creationId xmlns:a16="http://schemas.microsoft.com/office/drawing/2014/main" id="{1BAADE61-101B-420F-B303-D6ECA4B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Phase-average GB/s. Long quiet intervals dilute averages.</a:t>
            </a:r>
          </a:p>
        </p:txBody>
      </p:sp>
      <p:sp>
        <p:nvSpPr>
          <p:cNvPr id="8" name="0.411–0.504">
            <a:extLst xmlns:a="http://schemas.openxmlformats.org/drawingml/2006/main">
              <a:ext uri="{FF2B5EF4-FFF2-40B4-BE49-F238E27FC236}">
                <a16:creationId xmlns:a16="http://schemas.microsoft.com/office/drawing/2014/main" id="{820E5673-C7B2-4550-96CD-F8E094A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0.411–0.504</a:t>
            </a:r>
          </a:p>
        </p:txBody>
      </p:sp>
      <p:sp>
        <p:nvSpPr>
          <p:cNvPr id="9" name="Peak GB/s in the recorded windows.">
            <a:extLst xmlns:a="http://schemas.openxmlformats.org/drawingml/2006/main">
              <a:ext uri="{FF2B5EF4-FFF2-40B4-BE49-F238E27FC236}">
                <a16:creationId xmlns:a16="http://schemas.microsoft.com/office/drawing/2014/main" id="{9F762C46-13EA-4FF1-9476-97112E88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Peak GB/s in the recorded windows.</a:t>
            </a:r>
          </a:p>
        </p:txBody>
      </p:sp>
      <p:sp>
        <p:nvSpPr>
          <p:cNvPr id="10" name="Capacity unknown">
            <a:extLst xmlns:a="http://schemas.openxmlformats.org/drawingml/2006/main">
              <a:ext uri="{FF2B5EF4-FFF2-40B4-BE49-F238E27FC236}">
                <a16:creationId xmlns:a16="http://schemas.microsoft.com/office/drawing/2014/main" id="{C47F1A9F-1E8D-46D3-BBFE-DB67862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Capacity unknown</a:t>
            </a:r>
          </a:p>
        </p:txBody>
      </p:sp>
      <p:sp>
        <p:nvSpPr>
          <p:cNvPr id="11" name="These values do not establish a CXL bandwidth ceiling.">
            <a:extLst xmlns:a="http://schemas.openxmlformats.org/drawingml/2006/main">
              <a:ext uri="{FF2B5EF4-FFF2-40B4-BE49-F238E27FC236}">
                <a16:creationId xmlns:a16="http://schemas.microsoft.com/office/drawing/2014/main" id="{0EBB6CBF-DEFC-4861-88A0-E708C4AB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These values do not establish a CXL bandwidth ceiling.</a:t>
            </a:r>
          </a:p>
        </p:txBody>
      </p:sp>
    </p:spTree>
    <p:extLst>
      <p:ext uri="{BB962C8B-B14F-4D97-AF65-F5344CB8AC3E}">
        <p14:creationId xmlns:p14="http://schemas.microsoft.com/office/powerpoint/2010/main" val="1897255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dmission stalls occur in brief bursts">
            <a:extLst xmlns:a="http://schemas.openxmlformats.org/drawingml/2006/main">
              <a:ext uri="{FF2B5EF4-FFF2-40B4-BE49-F238E27FC236}">
                <a16:creationId xmlns:a16="http://schemas.microsoft.com/office/drawing/2014/main" id="{88E16076-774F-46A1-A32E-B8B600F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Admission stalls occur in brief bursts</a:t>
            </a:r>
          </a:p>
        </p:txBody>
      </p:sp>
      <p:sp>
        <p:nvSpPr>
          <p:cNvPr id="2" name="Endpoint queue-full attempts normalized by CXL read req">
            <a:extLst xmlns:a="http://schemas.openxmlformats.org/drawingml/2006/main">
              <a:ext uri="{FF2B5EF4-FFF2-40B4-BE49-F238E27FC236}">
                <a16:creationId xmlns:a16="http://schemas.microsoft.com/office/drawing/2014/main" id="{114B2FCC-058F-4747-98EE-E40F96F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Endpoint queue-full attempts normalized by CXL read requests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907C041E-A0D3-4031-BB92-4345CAD4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6159E8B-DB10-4A0C-A1AB-BEA9832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b9ad8b666f48af"/>
          </a:graphicData>
        </a:graphic>
      </p:graphicFrame>
      <p:sp>
        <p:nvSpPr>
          <p:cNvPr id="6" name="41–75 events">
            <a:extLst xmlns:a="http://schemas.openxmlformats.org/drawingml/2006/main">
              <a:ext uri="{FF2B5EF4-FFF2-40B4-BE49-F238E27FC236}">
                <a16:creationId xmlns:a16="http://schemas.microsoft.com/office/drawing/2014/main" id="{788BFDAF-9FAF-4D5C-BA9E-5A75C9B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41–75 events</a:t>
            </a:r>
          </a:p>
        </p:txBody>
      </p:sp>
      <p:sp>
        <p:nvSpPr>
          <p:cNvPr id="7" name="Per 1,000 reads; not a blocked-request percentage.">
            <a:extLst xmlns:a="http://schemas.openxmlformats.org/drawingml/2006/main">
              <a:ext uri="{FF2B5EF4-FFF2-40B4-BE49-F238E27FC236}">
                <a16:creationId xmlns:a16="http://schemas.microsoft.com/office/drawing/2014/main" id="{C56D7629-9C54-4F9A-93CC-5C1D40D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Per 1,000 reads; not a blocked-request percentage.</a:t>
            </a:r>
          </a:p>
        </p:txBody>
      </p:sp>
      <p:sp>
        <p:nvSpPr>
          <p:cNvPr id="8" name="P99 depth = 0">
            <a:extLst xmlns:a="http://schemas.openxmlformats.org/drawingml/2006/main">
              <a:ext uri="{FF2B5EF4-FFF2-40B4-BE49-F238E27FC236}">
                <a16:creationId xmlns:a16="http://schemas.microsoft.com/office/drawing/2014/main" id="{79833086-47F8-4A00-8945-BCC924DB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P99 depth = 0</a:t>
            </a:r>
          </a:p>
        </p:txBody>
      </p:sp>
      <p:sp>
        <p:nvSpPr>
          <p:cNvPr id="9" name="Endpoint request queue is empty for at least 99% of pha">
            <a:extLst xmlns:a="http://schemas.openxmlformats.org/drawingml/2006/main">
              <a:ext uri="{FF2B5EF4-FFF2-40B4-BE49-F238E27FC236}">
                <a16:creationId xmlns:a16="http://schemas.microsoft.com/office/drawing/2014/main" id="{866F2FCE-3BDB-4D58-9E49-0938FDC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Endpoint request queue is empty for at least 99% of phase time.</a:t>
            </a:r>
          </a:p>
        </p:txBody>
      </p:sp>
      <p:sp>
        <p:nvSpPr>
          <p:cNvPr id="10" name="Max depth = 40">
            <a:extLst xmlns:a="http://schemas.openxmlformats.org/drawingml/2006/main">
              <a:ext uri="{FF2B5EF4-FFF2-40B4-BE49-F238E27FC236}">
                <a16:creationId xmlns:a16="http://schemas.microsoft.com/office/drawing/2014/main" id="{481150E6-AE67-4CBC-A38E-2CD08E8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Max depth = 40</a:t>
            </a:r>
          </a:p>
        </p:txBody>
      </p:sp>
      <p:sp>
        <p:nvSpPr>
          <p:cNvPr id="11" name="Short bursts still occur despite low time-weighted dept">
            <a:extLst xmlns:a="http://schemas.openxmlformats.org/drawingml/2006/main">
              <a:ext uri="{FF2B5EF4-FFF2-40B4-BE49-F238E27FC236}">
                <a16:creationId xmlns:a16="http://schemas.microsoft.com/office/drawing/2014/main" id="{B1A1F779-F42F-49B5-94AF-59024661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Short bursts still occur despite low time-weighted depth.</a:t>
            </a:r>
          </a:p>
        </p:txBody>
      </p:sp>
    </p:spTree>
    <p:extLst>
      <p:ext uri="{BB962C8B-B14F-4D97-AF65-F5344CB8AC3E}">
        <p14:creationId xmlns:p14="http://schemas.microsoft.com/office/powerpoint/2010/main" val="969694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ort utilization stays below 0.2%">
            <a:extLst xmlns:a="http://schemas.openxmlformats.org/drawingml/2006/main">
              <a:ext uri="{FF2B5EF4-FFF2-40B4-BE49-F238E27FC236}">
                <a16:creationId xmlns:a16="http://schemas.microsoft.com/office/drawing/2014/main" id="{3644AF0D-F4A9-402D-A261-A11B6CD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Port utilization stays below 0.2%</a:t>
            </a:r>
          </a:p>
        </p:txBody>
      </p:sp>
      <p:sp>
        <p:nvSpPr>
          <p:cNvPr id="2" name="Upstream crossbar read utilization • Endpoint utilizati">
            <a:extLst xmlns:a="http://schemas.openxmlformats.org/drawingml/2006/main">
              <a:ext uri="{FF2B5EF4-FFF2-40B4-BE49-F238E27FC236}">
                <a16:creationId xmlns:a16="http://schemas.microsoft.com/office/drawing/2014/main" id="{C34E07C0-C762-4520-B17A-44197BE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Upstream crossbar read utilization • Endpoint utilization remains unknown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916F6984-2E8A-4730-9CD7-ED6B1EF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F404316D-9519-4417-AD63-051395F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9075a058a34a7a"/>
          </a:graphicData>
        </a:graphic>
      </p:graphicFrame>
      <p:sp>
        <p:nvSpPr>
          <p:cNvPr id="6" name="0.043–0.190%">
            <a:extLst xmlns:a="http://schemas.openxmlformats.org/drawingml/2006/main">
              <a:ext uri="{FF2B5EF4-FFF2-40B4-BE49-F238E27FC236}">
                <a16:creationId xmlns:a16="http://schemas.microsoft.com/office/drawing/2014/main" id="{8C4E8700-8FD7-47D2-AD71-F5E77C01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0.043–0.190%</a:t>
            </a:r>
          </a:p>
        </p:txBody>
      </p:sp>
      <p:sp>
        <p:nvSpPr>
          <p:cNvPr id="7" name="Measured phase-average read utilization.">
            <a:extLst xmlns:a="http://schemas.openxmlformats.org/drawingml/2006/main">
              <a:ext uri="{FF2B5EF4-FFF2-40B4-BE49-F238E27FC236}">
                <a16:creationId xmlns:a16="http://schemas.microsoft.com/office/drawing/2014/main" id="{13F772D9-3BC7-4B95-A0EE-FCAA32D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Measured phase-average read utilization.</a:t>
            </a:r>
          </a:p>
        </p:txBody>
      </p:sp>
      <p:sp>
        <p:nvSpPr>
          <p:cNvPr id="8" name="38.37 GB/s">
            <a:extLst xmlns:a="http://schemas.openxmlformats.org/drawingml/2006/main">
              <a:ext uri="{FF2B5EF4-FFF2-40B4-BE49-F238E27FC236}">
                <a16:creationId xmlns:a16="http://schemas.microsoft.com/office/drawing/2014/main" id="{E7C547DC-27E9-4345-AFDF-EDED4CA0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38.37 GB/s</a:t>
            </a:r>
          </a:p>
        </p:txBody>
      </p:sp>
      <p:sp>
        <p:nvSpPr>
          <p:cNvPr id="9" name="Denominator from crossbar width and simulated clock.">
            <a:extLst xmlns:a="http://schemas.openxmlformats.org/drawingml/2006/main">
              <a:ext uri="{FF2B5EF4-FFF2-40B4-BE49-F238E27FC236}">
                <a16:creationId xmlns:a16="http://schemas.microsoft.com/office/drawing/2014/main" id="{AE70696E-58D2-434A-945C-19236AF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Denominator from crossbar width and simulated clock.</a:t>
            </a:r>
          </a:p>
        </p:txBody>
      </p:sp>
      <p:sp>
        <p:nvSpPr>
          <p:cNvPr id="10" name="No ceiling shown">
            <a:extLst xmlns:a="http://schemas.openxmlformats.org/drawingml/2006/main">
              <a:ext uri="{FF2B5EF4-FFF2-40B4-BE49-F238E27FC236}">
                <a16:creationId xmlns:a16="http://schemas.microsoft.com/office/drawing/2014/main" id="{3C5FAC4B-FF89-46C2-A3A6-880E86F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No ceiling shown</a:t>
            </a:r>
          </a:p>
        </p:txBody>
      </p:sp>
      <p:sp>
        <p:nvSpPr>
          <p:cNvPr id="11" name="A low average does not rule out brief congestion.">
            <a:extLst xmlns:a="http://schemas.openxmlformats.org/drawingml/2006/main">
              <a:ext uri="{FF2B5EF4-FFF2-40B4-BE49-F238E27FC236}">
                <a16:creationId xmlns:a16="http://schemas.microsoft.com/office/drawing/2014/main" id="{C3E85FBB-E5BE-48B9-ACAC-1A9BC01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A low average does not rule out brief congestion.</a:t>
            </a:r>
          </a:p>
        </p:txBody>
      </p:sp>
    </p:spTree>
    <p:extLst>
      <p:ext uri="{BB962C8B-B14F-4D97-AF65-F5344CB8AC3E}">
        <p14:creationId xmlns:p14="http://schemas.microsoft.com/office/powerpoint/2010/main" val="125074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NN shows a gap, not a CXL penalty">
            <a:extLst xmlns:a="http://schemas.openxmlformats.org/drawingml/2006/main">
              <a:ext uri="{FF2B5EF4-FFF2-40B4-BE49-F238E27FC236}">
                <a16:creationId xmlns:a16="http://schemas.microsoft.com/office/drawing/2014/main" id="{35BD8352-FD06-4450-AFB0-CC49C9E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ANN shows a gap, not a CXL penalty</a:t>
            </a:r>
          </a:p>
        </p:txBody>
      </p:sp>
      <p:sp>
        <p:nvSpPr>
          <p:cNvPr id="2" name="Queries per second • Native repetitions versus one simu">
            <a:extLst xmlns:a="http://schemas.openxmlformats.org/drawingml/2006/main">
              <a:ext uri="{FF2B5EF4-FFF2-40B4-BE49-F238E27FC236}">
                <a16:creationId xmlns:a16="http://schemas.microsoft.com/office/drawing/2014/main" id="{33A26E1D-551D-4D95-90DF-E80A17C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Queries per second • Native repetitions versus one simulator smoke run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013C44AF-73DF-4F39-91ED-CA70A13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71BC9A77-AAB8-461C-BAC5-53FD3650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c3b80b91be4603"/>
          </a:graphicData>
        </a:graphic>
      </p:graphicFrame>
      <p:sp>
        <p:nvSpPr>
          <p:cNvPr id="6" name="72,039 vs 2,667">
            <a:extLst xmlns:a="http://schemas.openxmlformats.org/drawingml/2006/main">
              <a:ext uri="{FF2B5EF4-FFF2-40B4-BE49-F238E27FC236}">
                <a16:creationId xmlns:a16="http://schemas.microsoft.com/office/drawing/2014/main" id="{7441B74D-64B3-4BCE-95FB-A28FF77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72,039 vs 2,667</a:t>
            </a:r>
          </a:p>
        </p:txBody>
      </p:sp>
      <p:sp>
        <p:nvSpPr>
          <p:cNvPr id="7" name="Native mean versus simulator output.">
            <a:extLst xmlns:a="http://schemas.openxmlformats.org/drawingml/2006/main">
              <a:ext uri="{FF2B5EF4-FFF2-40B4-BE49-F238E27FC236}">
                <a16:creationId xmlns:a16="http://schemas.microsoft.com/office/drawing/2014/main" id="{79BB514B-1FED-470E-B930-9B9D4D0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Native mean versus simulator output.</a:t>
            </a:r>
          </a:p>
        </p:txBody>
      </p:sp>
      <p:sp>
        <p:nvSpPr>
          <p:cNvPr id="8" name="27× observed gap">
            <a:extLst xmlns:a="http://schemas.openxmlformats.org/drawingml/2006/main">
              <a:ext uri="{FF2B5EF4-FFF2-40B4-BE49-F238E27FC236}">
                <a16:creationId xmlns:a16="http://schemas.microsoft.com/office/drawing/2014/main" id="{FD5B611B-0933-46B4-A76E-BF18639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27× observed gap</a:t>
            </a:r>
          </a:p>
        </p:txBody>
      </p:sp>
      <p:sp>
        <p:nvSpPr>
          <p:cNvPr id="9" name="Different inputs, CPU model, cache and concurrency.">
            <a:extLst xmlns:a="http://schemas.openxmlformats.org/drawingml/2006/main">
              <a:ext uri="{FF2B5EF4-FFF2-40B4-BE49-F238E27FC236}">
                <a16:creationId xmlns:a16="http://schemas.microsoft.com/office/drawing/2014/main" id="{4B332A4C-88E7-45C2-8A71-9BEF1240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Different inputs, CPU model, cache and concurrency.</a:t>
            </a:r>
          </a:p>
        </p:txBody>
      </p:sp>
      <p:sp>
        <p:nvSpPr>
          <p:cNvPr id="10" name="No attribution">
            <a:extLst xmlns:a="http://schemas.openxmlformats.org/drawingml/2006/main">
              <a:ext uri="{FF2B5EF4-FFF2-40B4-BE49-F238E27FC236}">
                <a16:creationId xmlns:a16="http://schemas.microsoft.com/office/drawing/2014/main" id="{255065A5-8462-4C8D-BC7B-7482666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No attribution</a:t>
            </a:r>
          </a:p>
        </p:txBody>
      </p:sp>
      <p:sp>
        <p:nvSpPr>
          <p:cNvPr id="11" name="These data do not isolate CXL as the cause.">
            <a:extLst xmlns:a="http://schemas.openxmlformats.org/drawingml/2006/main">
              <a:ext uri="{FF2B5EF4-FFF2-40B4-BE49-F238E27FC236}">
                <a16:creationId xmlns:a16="http://schemas.microsoft.com/office/drawing/2014/main" id="{DBB72BCD-82EB-4BCD-B069-F07DCCAC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These data do not isolate CXL as the cause.</a:t>
            </a:r>
          </a:p>
        </p:txBody>
      </p:sp>
    </p:spTree>
    <p:extLst>
      <p:ext uri="{BB962C8B-B14F-4D97-AF65-F5344CB8AC3E}">
        <p14:creationId xmlns:p14="http://schemas.microsoft.com/office/powerpoint/2010/main" val="1603905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wo application metrics need new measurements">
            <a:extLst xmlns:a="http://schemas.openxmlformats.org/drawingml/2006/main">
              <a:ext uri="{FF2B5EF4-FFF2-40B4-BE49-F238E27FC236}">
                <a16:creationId xmlns:a16="http://schemas.microsoft.com/office/drawing/2014/main" id="{F74EE048-24D0-4DED-9DEC-5E4CCBFF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Two application metrics need new measurements</a:t>
            </a:r>
          </a:p>
        </p:txBody>
      </p:sp>
      <p:sp>
        <p:nvSpPr>
          <p:cNvPr id="2" name="Native reference values are valid context; simulator sm">
            <a:extLst xmlns:a="http://schemas.openxmlformats.org/drawingml/2006/main">
              <a:ext uri="{FF2B5EF4-FFF2-40B4-BE49-F238E27FC236}">
                <a16:creationId xmlns:a16="http://schemas.microsoft.com/office/drawing/2014/main" id="{1E4AA8F3-939D-4602-B8C4-0118BFD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Native reference values are valid context; simulator smoke values are not matched tests.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02731FBE-38B5-40A5-84AC-84E4B672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8DD9A9D6-6E78-4F0D-870A-11618EAE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STREAM bandwidth">
            <a:extLst xmlns:a="http://schemas.openxmlformats.org/drawingml/2006/main">
              <a:ext uri="{FF2B5EF4-FFF2-40B4-BE49-F238E27FC236}">
                <a16:creationId xmlns:a16="http://schemas.microsoft.com/office/drawing/2014/main" id="{F30CB803-B6B1-4A8F-874C-98160361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STREAM bandwidth</a:t>
            </a:r>
          </a:p>
        </p:txBody>
      </p:sp>
      <p:sp>
        <p:nvSpPr>
          <p:cNvPr id="6" name="Native Triad: 21.71 GB/s&#10;Mean of five reported best rat">
            <a:extLst xmlns:a="http://schemas.openxmlformats.org/drawingml/2006/main">
              <a:ext uri="{FF2B5EF4-FFF2-40B4-BE49-F238E27FC236}">
                <a16:creationId xmlns:a16="http://schemas.microsoft.com/office/drawing/2014/main" id="{1E5B048D-1C46-498C-A284-47F33DD9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Native Triad: 21.71 GB/s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Mean of five reported best rates.</a:t>
            </a:r>
          </a:p>
        </p:txBody>
      </p:sp>
      <p:sp>
        <p:nvSpPr>
          <p:cNvPr id="7" name="Sim Copy/Add: infinite rates.&#10;Guest timer resolution ≈1">
            <a:extLst xmlns:a="http://schemas.openxmlformats.org/drawingml/2006/main">
              <a:ext uri="{FF2B5EF4-FFF2-40B4-BE49-F238E27FC236}">
                <a16:creationId xmlns:a16="http://schemas.microsoft.com/office/drawing/2014/main" id="{86163EF6-BCCB-4A32-8F31-D97696E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Sim Copy/Add: infinite rates.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Guest timer resolution ≈1 ms.</a:t>
            </a:r>
          </a:p>
        </p:txBody>
      </p:sp>
      <p:sp>
        <p:nvSpPr>
          <p:cNvPr id="8" name="Reject the short-kernel rates.&#10;Use a longer or tick-bas">
            <a:extLst xmlns:a="http://schemas.openxmlformats.org/drawingml/2006/main">
              <a:ext uri="{FF2B5EF4-FFF2-40B4-BE49-F238E27FC236}">
                <a16:creationId xmlns:a16="http://schemas.microsoft.com/office/drawing/2014/main" id="{38A4AB80-2F3D-48B9-8F3B-21276BA4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Reject the short-kernel rates.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Use a longer or tick-based ROI.</a:t>
            </a:r>
          </a:p>
        </p:txBody>
      </p:sp>
      <p:sp>
        <p:nvSpPr>
          <p:cNvPr id="9" name="Pointer latency">
            <a:extLst xmlns:a="http://schemas.openxmlformats.org/drawingml/2006/main">
              <a:ext uri="{FF2B5EF4-FFF2-40B4-BE49-F238E27FC236}">
                <a16:creationId xmlns:a16="http://schemas.microsoft.com/office/drawing/2014/main" id="{84CF8974-37F9-4C8E-BB87-B6E7FF57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Pointer latency</a:t>
            </a:r>
          </a:p>
        </p:txBody>
      </p:sp>
      <p:sp>
        <p:nvSpPr>
          <p:cNvPr id="10" name="Native: 60.92 ns/dereference&#10;512 MiB buffer, five sampl">
            <a:extLst xmlns:a="http://schemas.openxmlformats.org/drawingml/2006/main">
              <a:ext uri="{FF2B5EF4-FFF2-40B4-BE49-F238E27FC236}">
                <a16:creationId xmlns:a16="http://schemas.microsoft.com/office/drawing/2014/main" id="{47D017C2-8B93-4407-822E-A422AC7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Native: 60.92 ns/dereference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512 MiB buffer, five samples.</a:t>
            </a:r>
          </a:p>
        </p:txBody>
      </p:sp>
      <p:sp>
        <p:nvSpPr>
          <p:cNvPr id="11" name="Sim: 7.437 ns/dereference&#10;2 MiB buffer, one sample.">
            <a:extLst xmlns:a="http://schemas.openxmlformats.org/drawingml/2006/main">
              <a:ext uri="{FF2B5EF4-FFF2-40B4-BE49-F238E27FC236}">
                <a16:creationId xmlns:a16="http://schemas.microsoft.com/office/drawing/2014/main" id="{37313C16-117C-4F32-872E-2D8DCFF0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Sim: 7.437 ns/dereference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2 MiB buffer, one sample.</a:t>
            </a:r>
          </a:p>
        </p:txBody>
      </p:sp>
      <p:sp>
        <p:nvSpPr>
          <p:cNvPr id="12" name="This is not a CXL-read latency.&#10;Caches and sampling dif">
            <a:extLst xmlns:a="http://schemas.openxmlformats.org/drawingml/2006/main">
              <a:ext uri="{FF2B5EF4-FFF2-40B4-BE49-F238E27FC236}">
                <a16:creationId xmlns:a16="http://schemas.microsoft.com/office/drawing/2014/main" id="{3027A549-87EB-4538-85D9-8B0311B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This is not a CXL-read latency.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Caches and sampling differ.</a:t>
            </a:r>
          </a:p>
        </p:txBody>
      </p:sp>
    </p:spTree>
    <p:extLst>
      <p:ext uri="{BB962C8B-B14F-4D97-AF65-F5344CB8AC3E}">
        <p14:creationId xmlns:p14="http://schemas.microsoft.com/office/powerpoint/2010/main" val="1046169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tency is the strongest observed cost">
            <a:extLst xmlns:a="http://schemas.openxmlformats.org/drawingml/2006/main">
              <a:ext uri="{FF2B5EF4-FFF2-40B4-BE49-F238E27FC236}">
                <a16:creationId xmlns:a16="http://schemas.microsoft.com/office/drawing/2014/main" id="{213193D2-5C71-40EE-9F2F-ABF1004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Latency is the strongest observed cost</a:t>
            </a:r>
          </a:p>
        </p:txBody>
      </p:sp>
      <p:sp>
        <p:nvSpPr>
          <p:cNvPr id="2" name="What the current successful runs establish—and what the">
            <a:extLst xmlns:a="http://schemas.openxmlformats.org/drawingml/2006/main">
              <a:ext uri="{FF2B5EF4-FFF2-40B4-BE49-F238E27FC236}">
                <a16:creationId xmlns:a16="http://schemas.microsoft.com/office/drawing/2014/main" id="{336E3612-7EF3-4637-B8F5-3F4DA4F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What the current successful runs establish—and what they leave open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127F7E79-E96B-41E3-A1D8-72A69B9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6B8659F8-F740-43E7-A757-B0613EC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Supported by measurements">
            <a:extLst xmlns:a="http://schemas.openxmlformats.org/drawingml/2006/main">
              <a:ext uri="{FF2B5EF4-FFF2-40B4-BE49-F238E27FC236}">
                <a16:creationId xmlns:a16="http://schemas.microsoft.com/office/drawing/2014/main" id="{0AA3D37D-410D-4951-8FE2-458F51E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Supported by measurements</a:t>
            </a:r>
          </a:p>
        </p:txBody>
      </p:sp>
      <p:sp>
        <p:nvSpPr>
          <p:cNvPr id="6" name="CXL reads average ~300 ns;&#10;P99 is near 600 ns.">
            <a:extLst xmlns:a="http://schemas.openxmlformats.org/drawingml/2006/main">
              <a:ext uri="{FF2B5EF4-FFF2-40B4-BE49-F238E27FC236}">
                <a16:creationId xmlns:a16="http://schemas.microsoft.com/office/drawing/2014/main" id="{49DB1703-EBF3-4218-99E0-55926AF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CXL reads average ~300 ns;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P99 is near 600 ns.</a:t>
            </a:r>
          </a:p>
        </p:txBody>
      </p:sp>
      <p:sp>
        <p:nvSpPr>
          <p:cNvPr id="7" name="Fabric and return contribute&#10;about half the transaction">
            <a:extLst xmlns:a="http://schemas.openxmlformats.org/drawingml/2006/main">
              <a:ext uri="{FF2B5EF4-FFF2-40B4-BE49-F238E27FC236}">
                <a16:creationId xmlns:a16="http://schemas.microsoft.com/office/drawing/2014/main" id="{3699988B-7328-4CBD-AD44-B94F95C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Fabric and return contribute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about half the transaction time.</a:t>
            </a:r>
          </a:p>
        </p:txBody>
      </p:sp>
      <p:sp>
        <p:nvSpPr>
          <p:cNvPr id="8" name="Brief admission backpressure&#10;exists within mostly empty">
            <a:extLst xmlns:a="http://schemas.openxmlformats.org/drawingml/2006/main">
              <a:ext uri="{FF2B5EF4-FFF2-40B4-BE49-F238E27FC236}">
                <a16:creationId xmlns:a16="http://schemas.microsoft.com/office/drawing/2014/main" id="{2A4624C7-1A3D-4C9A-A163-8BFE0549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Brief admission backpressure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exists within mostly empty queues.</a:t>
            </a:r>
          </a:p>
        </p:txBody>
      </p:sp>
      <p:sp>
        <p:nvSpPr>
          <p:cNvPr id="9" name="Still unmeasured">
            <a:extLst xmlns:a="http://schemas.openxmlformats.org/drawingml/2006/main">
              <a:ext uri="{FF2B5EF4-FFF2-40B4-BE49-F238E27FC236}">
                <a16:creationId xmlns:a16="http://schemas.microsoft.com/office/drawing/2014/main" id="{F8D98527-7214-4695-A36F-9E7330D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Still unmeasured</a:t>
            </a:r>
          </a:p>
        </p:txBody>
      </p:sp>
      <p:sp>
        <p:nvSpPr>
          <p:cNvPr id="10" name="Incremental CXL slowdown&#10;versus matched local memory.">
            <a:extLst xmlns:a="http://schemas.openxmlformats.org/drawingml/2006/main">
              <a:ext uri="{FF2B5EF4-FFF2-40B4-BE49-F238E27FC236}">
                <a16:creationId xmlns:a16="http://schemas.microsoft.com/office/drawing/2014/main" id="{5F39CBF9-BAFC-4F75-8567-089B24B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Incremental CXL slowdown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versus matched local memory.</a:t>
            </a:r>
          </a:p>
        </p:txBody>
      </p:sp>
      <p:sp>
        <p:nvSpPr>
          <p:cNvPr id="11" name="Write and bidirectional limits;&#10;endpoint bandwidth satu">
            <a:extLst xmlns:a="http://schemas.openxmlformats.org/drawingml/2006/main">
              <a:ext uri="{FF2B5EF4-FFF2-40B4-BE49-F238E27FC236}">
                <a16:creationId xmlns:a16="http://schemas.microsoft.com/office/drawing/2014/main" id="{931E7660-A6C6-4A43-8FE4-3278DD37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Write and bidirectional limits;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endpoint bandwidth saturation.</a:t>
            </a:r>
          </a:p>
        </p:txBody>
      </p:sp>
      <p:sp>
        <p:nvSpPr>
          <p:cNvPr id="12" name="Multi-endpoint balance and&#10;application-specific phase c">
            <a:extLst xmlns:a="http://schemas.openxmlformats.org/drawingml/2006/main">
              <a:ext uri="{FF2B5EF4-FFF2-40B4-BE49-F238E27FC236}">
                <a16:creationId xmlns:a16="http://schemas.microsoft.com/office/drawing/2014/main" id="{1C90B2DC-7B45-4939-835C-08255F07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Multi-endpoint balance and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application-specific phase costs.</a:t>
            </a:r>
          </a:p>
        </p:txBody>
      </p:sp>
    </p:spTree>
    <p:extLst>
      <p:ext uri="{BB962C8B-B14F-4D97-AF65-F5344CB8AC3E}">
        <p14:creationId xmlns:p14="http://schemas.microsoft.com/office/powerpoint/2010/main" val="9177432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mprove the experiment before tuning CXL">
            <a:extLst xmlns:a="http://schemas.openxmlformats.org/drawingml/2006/main">
              <a:ext uri="{FF2B5EF4-FFF2-40B4-BE49-F238E27FC236}">
                <a16:creationId xmlns:a16="http://schemas.microsoft.com/office/drawing/2014/main" id="{16185335-E0A7-46D7-BA1C-22A44FE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Improve the experiment before tuning CXL</a:t>
            </a:r>
          </a:p>
        </p:txBody>
      </p:sp>
      <p:sp>
        <p:nvSpPr>
          <p:cNvPr id="2" name="Recommended sequence • Separate CXL effects from measur">
            <a:extLst xmlns:a="http://schemas.openxmlformats.org/drawingml/2006/main">
              <a:ext uri="{FF2B5EF4-FFF2-40B4-BE49-F238E27FC236}">
                <a16:creationId xmlns:a16="http://schemas.microsoft.com/office/drawing/2014/main" id="{16E562A6-450B-427B-BD69-21AD876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Recommended sequence • Separate CXL effects from measurement artifacts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6A53E234-8877-4210-8721-AF0436B2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3B76FFBB-E8A5-43EB-97BE-42678157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Priority">
            <a:extLst xmlns:a="http://schemas.openxmlformats.org/drawingml/2006/main">
              <a:ext uri="{FF2B5EF4-FFF2-40B4-BE49-F238E27FC236}">
                <a16:creationId xmlns:a16="http://schemas.microsoft.com/office/drawing/2014/main" id="{248A1088-6597-47F4-98E0-9084699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Priority</a:t>
            </a:r>
          </a:p>
        </p:txBody>
      </p:sp>
      <p:sp>
        <p:nvSpPr>
          <p:cNvPr id="6" name="Change">
            <a:extLst xmlns:a="http://schemas.openxmlformats.org/drawingml/2006/main">
              <a:ext uri="{FF2B5EF4-FFF2-40B4-BE49-F238E27FC236}">
                <a16:creationId xmlns:a16="http://schemas.microsoft.com/office/drawing/2014/main" id="{C7327DE9-C0D8-423C-B43B-7730F50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288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Change</a:t>
            </a:r>
          </a:p>
        </p:txBody>
      </p:sp>
      <p:sp>
        <p:nvSpPr>
          <p:cNvPr id="7" name="What it resolves">
            <a:extLst xmlns:a="http://schemas.openxmlformats.org/drawingml/2006/main">
              <a:ext uri="{FF2B5EF4-FFF2-40B4-BE49-F238E27FC236}">
                <a16:creationId xmlns:a16="http://schemas.microsoft.com/office/drawing/2014/main" id="{98A92A22-F5CC-4A6E-A0BC-432CF38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28825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What it resolves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29507B7E-8462-4227-B8A0-DE3083A6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1</a:t>
            </a:r>
          </a:p>
        </p:txBody>
      </p:sp>
      <p:sp>
        <p:nvSpPr>
          <p:cNvPr id="9" name="Match local vs CXL runs">
            <a:extLst xmlns:a="http://schemas.openxmlformats.org/drawingml/2006/main">
              <a:ext uri="{FF2B5EF4-FFF2-40B4-BE49-F238E27FC236}">
                <a16:creationId xmlns:a16="http://schemas.microsoft.com/office/drawing/2014/main" id="{A5D3D205-C20F-4DB4-B8A9-D261B4D5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9080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Match local vs CXL runs</a:t>
            </a:r>
          </a:p>
        </p:txBody>
      </p:sp>
      <p:sp>
        <p:nvSpPr>
          <p:cNvPr id="10" name="Isolates placement cost">
            <a:extLst xmlns:a="http://schemas.openxmlformats.org/drawingml/2006/main">
              <a:ext uri="{FF2B5EF4-FFF2-40B4-BE49-F238E27FC236}">
                <a16:creationId xmlns:a16="http://schemas.microsoft.com/office/drawing/2014/main" id="{6FF1989D-7D37-4633-9689-4848495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Isolates placement cost</a:t>
            </a:r>
          </a:p>
        </p:txBody>
      </p:sp>
      <p:sp>
        <p:nvSpPr>
          <p:cNvPr id="11" name="2">
            <a:extLst xmlns:a="http://schemas.openxmlformats.org/drawingml/2006/main">
              <a:ext uri="{FF2B5EF4-FFF2-40B4-BE49-F238E27FC236}">
                <a16:creationId xmlns:a16="http://schemas.microsoft.com/office/drawing/2014/main" id="{78A1AD9F-9361-4A1B-8AF2-A6BBB55E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2</a:t>
            </a:r>
          </a:p>
        </p:txBody>
      </p:sp>
      <p:sp>
        <p:nvSpPr>
          <p:cNvPr id="12" name="Fix timers; mark useful work">
            <a:extLst xmlns:a="http://schemas.openxmlformats.org/drawingml/2006/main">
              <a:ext uri="{FF2B5EF4-FFF2-40B4-BE49-F238E27FC236}">
                <a16:creationId xmlns:a16="http://schemas.microsoft.com/office/drawing/2014/main" id="{8FA32413-06AC-4215-B1C9-6C7873DE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2422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Fix timers; mark useful work</a:t>
            </a:r>
          </a:p>
        </p:txBody>
      </p:sp>
      <p:sp>
        <p:nvSpPr>
          <p:cNvPr id="13" name="Separates setup and kernels">
            <a:extLst xmlns:a="http://schemas.openxmlformats.org/drawingml/2006/main">
              <a:ext uri="{FF2B5EF4-FFF2-40B4-BE49-F238E27FC236}">
                <a16:creationId xmlns:a16="http://schemas.microsoft.com/office/drawing/2014/main" id="{50EE8C39-326D-47C0-B52E-CFC6ABF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Separates setup and kernels</a:t>
            </a:r>
          </a:p>
        </p:txBody>
      </p:sp>
      <p:sp>
        <p:nvSpPr>
          <p:cNvPr id="14" name="3">
            <a:extLst xmlns:a="http://schemas.openxmlformats.org/drawingml/2006/main">
              <a:ext uri="{FF2B5EF4-FFF2-40B4-BE49-F238E27FC236}">
                <a16:creationId xmlns:a16="http://schemas.microsoft.com/office/drawing/2014/main" id="{D07D1C0E-82BD-442D-9E7A-FAB089F6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3</a:t>
            </a:r>
          </a:p>
        </p:txBody>
      </p:sp>
      <p:sp>
        <p:nvSpPr>
          <p:cNvPr id="15" name="Size data beyond relevant cache">
            <a:extLst xmlns:a="http://schemas.openxmlformats.org/drawingml/2006/main">
              <a:ext uri="{FF2B5EF4-FFF2-40B4-BE49-F238E27FC236}">
                <a16:creationId xmlns:a16="http://schemas.microsoft.com/office/drawing/2014/main" id="{AAB8ADEA-B85E-40CF-8EDE-FA46F01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5765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Size data beyond relevant cache</a:t>
            </a:r>
          </a:p>
        </p:txBody>
      </p:sp>
      <p:sp>
        <p:nvSpPr>
          <p:cNvPr id="16" name="Tests actual memory pressure">
            <a:extLst xmlns:a="http://schemas.openxmlformats.org/drawingml/2006/main">
              <a:ext uri="{FF2B5EF4-FFF2-40B4-BE49-F238E27FC236}">
                <a16:creationId xmlns:a16="http://schemas.microsoft.com/office/drawing/2014/main" id="{D11C9BE3-C52A-4253-A3F4-4F30FB3C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Tests actual memory pressure</a:t>
            </a:r>
          </a:p>
        </p:txBody>
      </p:sp>
      <p:sp>
        <p:nvSpPr>
          <p:cNvPr id="17" name="4">
            <a:extLst xmlns:a="http://schemas.openxmlformats.org/drawingml/2006/main">
              <a:ext uri="{FF2B5EF4-FFF2-40B4-BE49-F238E27FC236}">
                <a16:creationId xmlns:a16="http://schemas.microsoft.com/office/drawing/2014/main" id="{7ADF87F7-9AE1-4F1B-9666-D0173DB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4</a:t>
            </a:r>
          </a:p>
        </p:txBody>
      </p:sp>
      <p:sp>
        <p:nvSpPr>
          <p:cNvPr id="18" name="Set bandwidth; add read/write load">
            <a:extLst xmlns:a="http://schemas.openxmlformats.org/drawingml/2006/main">
              <a:ext uri="{FF2B5EF4-FFF2-40B4-BE49-F238E27FC236}">
                <a16:creationId xmlns:a16="http://schemas.microsoft.com/office/drawing/2014/main" id="{AB2D8856-CC0D-4B95-A2E4-E21B6C16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9107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Set bandwidth; add read/write load</a:t>
            </a:r>
          </a:p>
        </p:txBody>
      </p:sp>
      <p:sp>
        <p:nvSpPr>
          <p:cNvPr id="19" name="Tests saturation and directions">
            <a:extLst xmlns:a="http://schemas.openxmlformats.org/drawingml/2006/main">
              <a:ext uri="{FF2B5EF4-FFF2-40B4-BE49-F238E27FC236}">
                <a16:creationId xmlns:a16="http://schemas.microsoft.com/office/drawing/2014/main" id="{D39CB65E-FA05-4E38-AB05-EE9A9AEC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91075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Tests saturation and directions</a:t>
            </a:r>
          </a:p>
        </p:txBody>
      </p:sp>
    </p:spTree>
    <p:extLst>
      <p:ext uri="{BB962C8B-B14F-4D97-AF65-F5344CB8AC3E}">
        <p14:creationId xmlns:p14="http://schemas.microsoft.com/office/powerpoint/2010/main" val="20487920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st improvement hypotheses one at a time">
            <a:extLst xmlns:a="http://schemas.openxmlformats.org/drawingml/2006/main">
              <a:ext uri="{FF2B5EF4-FFF2-40B4-BE49-F238E27FC236}">
                <a16:creationId xmlns:a16="http://schemas.microsoft.com/office/drawing/2014/main" id="{4F0EC3F6-B23A-427B-9412-6071E43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Test improvement hypotheses one at a time</a:t>
            </a:r>
          </a:p>
        </p:txBody>
      </p:sp>
      <p:sp>
        <p:nvSpPr>
          <p:cNvPr id="2" name="Proposed experiments, not implemented gains • No speedu">
            <a:extLst xmlns:a="http://schemas.openxmlformats.org/drawingml/2006/main">
              <a:ext uri="{FF2B5EF4-FFF2-40B4-BE49-F238E27FC236}">
                <a16:creationId xmlns:a16="http://schemas.microsoft.com/office/drawing/2014/main" id="{D1B831D4-3250-455A-97A8-5C7EB25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Proposed experiments, not implemented gains • No speedup magnitude is established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AE9D9998-6330-4BD7-8CB7-D3CE917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161B4FEE-B10A-49A4-95C9-5B017E6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Modeled CXL performance">
            <a:extLst xmlns:a="http://schemas.openxmlformats.org/drawingml/2006/main">
              <a:ext uri="{FF2B5EF4-FFF2-40B4-BE49-F238E27FC236}">
                <a16:creationId xmlns:a16="http://schemas.microsoft.com/office/drawing/2014/main" id="{B50FE088-9E56-4ED3-AB7C-588A9D59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Modeled CXL performance</a:t>
            </a:r>
          </a:p>
        </p:txBody>
      </p:sp>
      <p:sp>
        <p:nvSpPr>
          <p:cNvPr id="6" name="Sweep calibrated path latency;&#10;measure application sens">
            <a:extLst xmlns:a="http://schemas.openxmlformats.org/drawingml/2006/main">
              <a:ext uri="{FF2B5EF4-FFF2-40B4-BE49-F238E27FC236}">
                <a16:creationId xmlns:a16="http://schemas.microsoft.com/office/drawing/2014/main" id="{0118B1B1-4D27-4C17-83F8-77BD37F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Sweep calibrated path latency;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measure application sensitivity.</a:t>
            </a:r>
          </a:p>
        </p:txBody>
      </p:sp>
      <p:sp>
        <p:nvSpPr>
          <p:cNvPr id="7" name="Test more concurrent requests;&#10;watch throughput and P99">
            <a:extLst xmlns:a="http://schemas.openxmlformats.org/drawingml/2006/main">
              <a:ext uri="{FF2B5EF4-FFF2-40B4-BE49-F238E27FC236}">
                <a16:creationId xmlns:a16="http://schemas.microsoft.com/office/drawing/2014/main" id="{ED28749E-FB1C-46FE-BBBA-FEEC4F7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Test more concurrent requests;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watch throughput and P99 together.</a:t>
            </a:r>
          </a:p>
        </p:txBody>
      </p:sp>
      <p:sp>
        <p:nvSpPr>
          <p:cNvPr id="8" name="Vary queue capacity only with&#10;evidence of sustained blo">
            <a:extLst xmlns:a="http://schemas.openxmlformats.org/drawingml/2006/main">
              <a:ext uri="{FF2B5EF4-FFF2-40B4-BE49-F238E27FC236}">
                <a16:creationId xmlns:a16="http://schemas.microsoft.com/office/drawing/2014/main" id="{F42CB963-181E-47AC-B3F1-64EC0E72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Vary queue capacity only with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evidence of sustained blocking.</a:t>
            </a:r>
          </a:p>
        </p:txBody>
      </p:sp>
      <p:sp>
        <p:nvSpPr>
          <p:cNvPr id="9" name="Simulator execution cost">
            <a:extLst xmlns:a="http://schemas.openxmlformats.org/drawingml/2006/main">
              <a:ext uri="{FF2B5EF4-FFF2-40B4-BE49-F238E27FC236}">
                <a16:creationId xmlns:a16="http://schemas.microsoft.com/office/drawing/2014/main" id="{291C5E0B-903F-48D1-8A98-348D7BB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Simulator execution cost</a:t>
            </a:r>
          </a:p>
        </p:txBody>
      </p:sp>
      <p:sp>
        <p:nvSpPr>
          <p:cNvPr id="10" name="Run trace-on/off comparison&#10;to measure logging overhead">
            <a:extLst xmlns:a="http://schemas.openxmlformats.org/drawingml/2006/main">
              <a:ext uri="{FF2B5EF4-FFF2-40B4-BE49-F238E27FC236}">
                <a16:creationId xmlns:a16="http://schemas.microsoft.com/office/drawing/2014/main" id="{24654191-1189-4BF0-BEB3-0155617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Run trace-on/off comparison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to measure logging overhead.</a:t>
            </a:r>
          </a:p>
        </p:txBody>
      </p:sp>
      <p:sp>
        <p:nvSpPr>
          <p:cNvPr id="11" name="Aggregate metrics online while&#10;preserving accounting se">
            <a:extLst xmlns:a="http://schemas.openxmlformats.org/drawingml/2006/main">
              <a:ext uri="{FF2B5EF4-FFF2-40B4-BE49-F238E27FC236}">
                <a16:creationId xmlns:a16="http://schemas.microsoft.com/office/drawing/2014/main" id="{75569BC6-1432-4B88-A6E3-7E41C69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Aggregate metrics online while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preserving accounting semantics.</a:t>
            </a:r>
          </a:p>
        </p:txBody>
      </p:sp>
      <p:sp>
        <p:nvSpPr>
          <p:cNvPr id="12" name="Fast-forward initialization with&#10;a validated warmup and">
            <a:extLst xmlns:a="http://schemas.openxmlformats.org/drawingml/2006/main">
              <a:ext uri="{FF2B5EF4-FFF2-40B4-BE49-F238E27FC236}">
                <a16:creationId xmlns:a16="http://schemas.microsoft.com/office/drawing/2014/main" id="{205BCE27-C9BA-4847-BB03-2AB97FC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Fast-forward initialization with</a:t>
            </a:r>
          </a:p>
          <a:p xmlns:a="http://schemas.openxmlformats.org/drawingml/2006/main">
            <a:pPr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 validated warmup and ROI.</a:t>
            </a:r>
          </a:p>
        </p:txBody>
      </p:sp>
    </p:spTree>
    <p:extLst>
      <p:ext uri="{BB962C8B-B14F-4D97-AF65-F5344CB8AC3E}">
        <p14:creationId xmlns:p14="http://schemas.microsoft.com/office/powerpoint/2010/main" val="592740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Use matched runs to make the next claim">
            <a:extLst xmlns:a="http://schemas.openxmlformats.org/drawingml/2006/main">
              <a:ext uri="{FF2B5EF4-FFF2-40B4-BE49-F238E27FC236}">
                <a16:creationId xmlns:a16="http://schemas.microsoft.com/office/drawing/2014/main" id="{221AFFDA-A707-4187-BF6E-3086B39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Use matched runs to make the next claim</a:t>
            </a:r>
          </a:p>
        </p:txBody>
      </p:sp>
      <p:sp>
        <p:nvSpPr>
          <p:cNvPr id="2" name="A reproducible comparison can turn descriptive measurem">
            <a:extLst xmlns:a="http://schemas.openxmlformats.org/drawingml/2006/main">
              <a:ext uri="{FF2B5EF4-FFF2-40B4-BE49-F238E27FC236}">
                <a16:creationId xmlns:a16="http://schemas.microsoft.com/office/drawing/2014/main" id="{23A04387-F835-459F-844D-8AA50E56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A reproducible comparison can turn descriptive measurements into a CXL result.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C63A5FB8-86EA-4396-A95E-CB3780B9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EA225854-C26A-4A96-BCC7-2BFCE9F2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Hold inputs, binaries, CPU, caches and measurement wind">
            <a:extLst xmlns:a="http://schemas.openxmlformats.org/drawingml/2006/main">
              <a:ext uri="{FF2B5EF4-FFF2-40B4-BE49-F238E27FC236}">
                <a16:creationId xmlns:a16="http://schemas.microsoft.com/office/drawing/2014/main" id="{1862E2A3-FABD-4DC0-A96B-D651D18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033"/>
                </a:solidFill>
              </a:defRPr>
            </a:pPr>
            <a:r>
              <a:rPr sz="2700" b="1">
                <a:solidFill>
                  <a:srgbClr val="142033"/>
                </a:solidFill>
              </a:rPr>
              <a:t>Hold inputs, binaries, CPU, caches and measurement window fixed.</a:t>
            </a:r>
          </a:p>
        </p:txBody>
      </p:sp>
      <p:sp>
        <p:nvSpPr>
          <p:cNvPr id="6" name="Change only memory placement: local DRAM ↔ CXL.">
            <a:extLst xmlns:a="http://schemas.openxmlformats.org/drawingml/2006/main">
              <a:ext uri="{FF2B5EF4-FFF2-40B4-BE49-F238E27FC236}">
                <a16:creationId xmlns:a16="http://schemas.microsoft.com/office/drawing/2014/main" id="{C498456C-1BE0-4333-9421-F0B1AFE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Change only memory placement: local DRAM ↔ CXL.</a:t>
            </a:r>
          </a:p>
        </p:txBody>
      </p:sp>
      <p:sp>
        <p:nvSpPr>
          <p:cNvPr id="7" name="Then compare simulated workload time, throughput, read/">
            <a:extLst xmlns:a="http://schemas.openxmlformats.org/drawingml/2006/main">
              <a:ext uri="{FF2B5EF4-FFF2-40B4-BE49-F238E27FC236}">
                <a16:creationId xmlns:a16="http://schemas.microsoft.com/office/drawing/2014/main" id="{F3665F01-3268-4E08-A0AE-3B46118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114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033"/>
                </a:solidFill>
              </a:defRPr>
            </a:pPr>
            <a:r>
              <a:rPr sz="2100" b="0">
                <a:solidFill>
                  <a:srgbClr val="142033"/>
                </a:solidFill>
              </a:rPr>
              <a:t>Then compare simulated workload time, throughput, read/write traffic,</a:t>
            </a:r>
          </a:p>
          <a:p xmlns:a="http://schemas.openxmlformats.org/drawingml/2006/main">
            <a:pPr>
              <a:defRPr sz="2100" b="0">
                <a:solidFill>
                  <a:srgbClr val="142033"/>
                </a:solidFill>
              </a:defRPr>
            </a:pPr>
            <a:r>
              <a:rPr sz="2100" b="0">
                <a:solidFill>
                  <a:srgbClr val="142033"/>
                </a:solidFill>
              </a:rPr>
              <a:t>latency tails and queue occupancy across repeated runs.</a:t>
            </a:r>
          </a:p>
        </p:txBody>
      </p:sp>
      <p:sp>
        <p:nvSpPr>
          <p:cNvPr id="8" name="Sources: native campaign (1 Sep) + completed SimCXL pha">
            <a:extLst xmlns:a="http://schemas.openxmlformats.org/drawingml/2006/main">
              <a:ext uri="{FF2B5EF4-FFF2-40B4-BE49-F238E27FC236}">
                <a16:creationId xmlns:a16="http://schemas.microsoft.com/office/drawing/2014/main" id="{3DFDC49B-E300-4CDD-99FB-66A65A6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Sources: native campaign (1 Sep) + completed SimCXL phases (3 Sep).</a:t>
            </a:r>
          </a:p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Detailed source paths, definitions and qualifications are in the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63681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2026-09-04T08:14:04.9150000Z</dcterms:created>
  <dcterms:modified xsi:type="dcterms:W3CDTF">2026-09-04T08:14:04.9150000Z</dcterms:modified>
</coreProperties>
</file>