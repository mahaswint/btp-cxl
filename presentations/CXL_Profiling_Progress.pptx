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1.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c6b21bcecc748ce" /><Relationship Type="http://schemas.openxmlformats.org/officeDocument/2006/relationships/extended-properties" Target="/docProps/app.xml" Id="Rd65fdcb94a724cc2" /><Relationship Type="http://schemas.openxmlformats.org/officeDocument/2006/relationships/officeDocument" Target="/ppt/presentation.xml" Id="Rbdbf746f240c4a81" /></Relationships>
</file>

<file path=ppt/presentation.xml><?xml version="1.0" encoding="utf-8"?>
<p:presentation xmlns:p="http://schemas.openxmlformats.org/presentationml/2006/main">
  <p:sldMasterIdLst>
    <p:sldMasterId xmlns:r="http://schemas.openxmlformats.org/officeDocument/2006/relationships" id="2147483648" r:id="Rc55d99dca3a145be"/>
  </p:sldMasterIdLst>
  <p:notesMasterIdLst>
    <p:notesMasterId xmlns:r="http://schemas.openxmlformats.org/officeDocument/2006/relationships" r:id="Raeb7e08d23564a46"/>
  </p:notesMasterIdLst>
  <p:sldIdLst>
    <p:sldId xmlns:r="http://schemas.openxmlformats.org/officeDocument/2006/relationships" id="256" r:id="R93a9793f84d24e93"/>
    <p:sldId xmlns:r="http://schemas.openxmlformats.org/officeDocument/2006/relationships" id="257" r:id="R1da52527dc3f4940"/>
    <p:sldId xmlns:r="http://schemas.openxmlformats.org/officeDocument/2006/relationships" id="258" r:id="Rd04ebc94403f4fd5"/>
    <p:sldId xmlns:r="http://schemas.openxmlformats.org/officeDocument/2006/relationships" id="259" r:id="R22cce54cb01948cd"/>
    <p:sldId xmlns:r="http://schemas.openxmlformats.org/officeDocument/2006/relationships" id="260" r:id="R3779d265a8924227"/>
    <p:sldId xmlns:r="http://schemas.openxmlformats.org/officeDocument/2006/relationships" id="261" r:id="Rf23fae8947c54af8"/>
    <p:sldId xmlns:r="http://schemas.openxmlformats.org/officeDocument/2006/relationships" id="262" r:id="R2e4251fb99be4df4"/>
    <p:sldId xmlns:r="http://schemas.openxmlformats.org/officeDocument/2006/relationships" id="263" r:id="Ref9be04e430d4f7a"/>
    <p:sldId xmlns:r="http://schemas.openxmlformats.org/officeDocument/2006/relationships" id="264" r:id="Rfc7860a2056f407b"/>
    <p:sldId xmlns:r="http://schemas.openxmlformats.org/officeDocument/2006/relationships" id="265" r:id="Rc6190a23e5ec49b7"/>
    <p:sldId xmlns:r="http://schemas.openxmlformats.org/officeDocument/2006/relationships" id="266" r:id="R0768edc909c949fe"/>
    <p:sldId xmlns:r="http://schemas.openxmlformats.org/officeDocument/2006/relationships" id="267" r:id="R995ad1b1e6314757"/>
    <p:sldId xmlns:r="http://schemas.openxmlformats.org/officeDocument/2006/relationships" id="268" r:id="R4a4853f40c9f40e8"/>
    <p:sldId xmlns:r="http://schemas.openxmlformats.org/officeDocument/2006/relationships" id="269" r:id="Ra6364bcdd795458a"/>
    <p:sldId xmlns:r="http://schemas.openxmlformats.org/officeDocument/2006/relationships" id="270" r:id="Rcb6f9fc67a284b37"/>
    <p:sldId xmlns:r="http://schemas.openxmlformats.org/officeDocument/2006/relationships" id="271" r:id="R655b717bec544126"/>
    <p:sldId xmlns:r="http://schemas.openxmlformats.org/officeDocument/2006/relationships" id="272" r:id="Ra7630dd1567f46b1"/>
    <p:sldId xmlns:r="http://schemas.openxmlformats.org/officeDocument/2006/relationships" id="273" r:id="Rcbf3ab52fd1b47f3"/>
    <p:sldId xmlns:r="http://schemas.openxmlformats.org/officeDocument/2006/relationships" id="274" r:id="R637f31191ace4086"/>
    <p:sldId xmlns:r="http://schemas.openxmlformats.org/officeDocument/2006/relationships" id="275" r:id="R6fb3e6ba25d94e61"/>
    <p:sldId xmlns:r="http://schemas.openxmlformats.org/officeDocument/2006/relationships" id="276" r:id="Re4f6bfd3290041b5"/>
    <p:sldId xmlns:r="http://schemas.openxmlformats.org/officeDocument/2006/relationships" id="277" r:id="Re14578582ef8401a"/>
    <p:sldId xmlns:r="http://schemas.openxmlformats.org/officeDocument/2006/relationships" id="278" r:id="Rce96a2114dbd465e"/>
    <p:sldId xmlns:r="http://schemas.openxmlformats.org/officeDocument/2006/relationships" id="279" r:id="Rf443be4079174add"/>
    <p:sldId xmlns:r="http://schemas.openxmlformats.org/officeDocument/2006/relationships" id="280" r:id="Re0a0e83e406d41c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00557ec8beb4cbc" /><Relationship Type="http://schemas.openxmlformats.org/officeDocument/2006/relationships/slideMaster" Target="/ppt/slideMasters/slideMaster1.xml" Id="Rc55d99dca3a145be" /><Relationship Type="http://schemas.openxmlformats.org/officeDocument/2006/relationships/notesMaster" Target="/ppt/notesMasters/notesMaster1.xml" Id="Raeb7e08d23564a46" /><Relationship Type="http://schemas.openxmlformats.org/officeDocument/2006/relationships/presProps" Target="/ppt/presProps.xml" Id="Rf90e5470dae9477b" /><Relationship Type="http://schemas.openxmlformats.org/officeDocument/2006/relationships/tableStyles" Target="/ppt/tableStyles.xml" Id="R59120704d2f74df7" /><Relationship Type="http://schemas.openxmlformats.org/officeDocument/2006/relationships/slide" Target="/ppt/slides/slide1.xml" Id="R93a9793f84d24e93" /><Relationship Type="http://schemas.openxmlformats.org/officeDocument/2006/relationships/slide" Target="/ppt/slides/slide2.xml" Id="R1da52527dc3f4940" /><Relationship Type="http://schemas.openxmlformats.org/officeDocument/2006/relationships/slide" Target="/ppt/slides/slide3.xml" Id="Rd04ebc94403f4fd5" /><Relationship Type="http://schemas.openxmlformats.org/officeDocument/2006/relationships/slide" Target="/ppt/slides/slide4.xml" Id="R22cce54cb01948cd" /><Relationship Type="http://schemas.openxmlformats.org/officeDocument/2006/relationships/slide" Target="/ppt/slides/slide5.xml" Id="R3779d265a8924227" /><Relationship Type="http://schemas.openxmlformats.org/officeDocument/2006/relationships/slide" Target="/ppt/slides/slide6.xml" Id="Rf23fae8947c54af8" /><Relationship Type="http://schemas.openxmlformats.org/officeDocument/2006/relationships/slide" Target="/ppt/slides/slide7.xml" Id="R2e4251fb99be4df4" /><Relationship Type="http://schemas.openxmlformats.org/officeDocument/2006/relationships/slide" Target="/ppt/slides/slide8.xml" Id="Ref9be04e430d4f7a" /><Relationship Type="http://schemas.openxmlformats.org/officeDocument/2006/relationships/slide" Target="/ppt/slides/slide9.xml" Id="Rfc7860a2056f407b" /><Relationship Type="http://schemas.openxmlformats.org/officeDocument/2006/relationships/slide" Target="/ppt/slides/slide10.xml" Id="Rc6190a23e5ec49b7" /><Relationship Type="http://schemas.openxmlformats.org/officeDocument/2006/relationships/slide" Target="/ppt/slides/slide11.xml" Id="R0768edc909c949fe" /><Relationship Type="http://schemas.openxmlformats.org/officeDocument/2006/relationships/slide" Target="/ppt/slides/slide12.xml" Id="R995ad1b1e6314757" /><Relationship Type="http://schemas.openxmlformats.org/officeDocument/2006/relationships/slide" Target="/ppt/slides/slide13.xml" Id="R4a4853f40c9f40e8" /><Relationship Type="http://schemas.openxmlformats.org/officeDocument/2006/relationships/slide" Target="/ppt/slides/slide14.xml" Id="Ra6364bcdd795458a" /><Relationship Type="http://schemas.openxmlformats.org/officeDocument/2006/relationships/slide" Target="/ppt/slides/slide15.xml" Id="Rcb6f9fc67a284b37" /><Relationship Type="http://schemas.openxmlformats.org/officeDocument/2006/relationships/slide" Target="/ppt/slides/slide16.xml" Id="R655b717bec544126" /><Relationship Type="http://schemas.openxmlformats.org/officeDocument/2006/relationships/slide" Target="/ppt/slides/slide17.xml" Id="Ra7630dd1567f46b1" /><Relationship Type="http://schemas.openxmlformats.org/officeDocument/2006/relationships/slide" Target="/ppt/slides/slide18.xml" Id="Rcbf3ab52fd1b47f3" /><Relationship Type="http://schemas.openxmlformats.org/officeDocument/2006/relationships/slide" Target="/ppt/slides/slide19.xml" Id="R637f31191ace4086" /><Relationship Type="http://schemas.openxmlformats.org/officeDocument/2006/relationships/slide" Target="/ppt/slides/slide20.xml" Id="R6fb3e6ba25d94e61" /><Relationship Type="http://schemas.openxmlformats.org/officeDocument/2006/relationships/slide" Target="/ppt/slides/slide21.xml" Id="Re4f6bfd3290041b5" /><Relationship Type="http://schemas.openxmlformats.org/officeDocument/2006/relationships/slide" Target="/ppt/slides/slide22.xml" Id="Re14578582ef8401a" /><Relationship Type="http://schemas.openxmlformats.org/officeDocument/2006/relationships/slide" Target="/ppt/slides/slide23.xml" Id="Rce96a2114dbd465e" /><Relationship Type="http://schemas.openxmlformats.org/officeDocument/2006/relationships/slide" Target="/ppt/slides/slide24.xml" Id="Rf443be4079174add" /><Relationship Type="http://schemas.openxmlformats.org/officeDocument/2006/relationships/slide" Target="/ppt/slides/slide25.xml" Id="Re0a0e83e406d41c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b02e1a5edb441c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cc591277d96482a" /><Relationship Type="http://schemas.openxmlformats.org/officeDocument/2006/relationships/notesMaster" Target="/ppt/notesMasters/notesMaster1.xml" Id="R466cc84330624dd4" /></Relationships>
</file>

<file path=ppt/notesSlides/_rels/notesSlide2.xml.rels>&#65279;<?xml version="1.0" encoding="utf-8"?><Relationships xmlns="http://schemas.openxmlformats.org/package/2006/relationships"><Relationship Type="http://schemas.openxmlformats.org/officeDocument/2006/relationships/slide" Target="/ppt/slides/slide2.xml" Id="R5bb543c446c34fbe" /><Relationship Type="http://schemas.openxmlformats.org/officeDocument/2006/relationships/notesMaster" Target="/ppt/notesMasters/notesMaster1.xml" Id="R76265a9b4f1549df" /></Relationships>
</file>

<file path=ppt/notesSlides/_rels/notesSlide3.xml.rels>&#65279;<?xml version="1.0" encoding="utf-8"?><Relationships xmlns="http://schemas.openxmlformats.org/package/2006/relationships"><Relationship Type="http://schemas.openxmlformats.org/officeDocument/2006/relationships/slide" Target="/ppt/slides/slide3.xml" Id="R4801ea7066794b3e" /><Relationship Type="http://schemas.openxmlformats.org/officeDocument/2006/relationships/notesMaster" Target="/ppt/notesMasters/notesMaster1.xml" Id="Rd273225c11ff4929" /></Relationships>
</file>

<file path=ppt/notesSlides/_rels/notesSlide4.xml.rels>&#65279;<?xml version="1.0" encoding="utf-8"?><Relationships xmlns="http://schemas.openxmlformats.org/package/2006/relationships"><Relationship Type="http://schemas.openxmlformats.org/officeDocument/2006/relationships/slide" Target="/ppt/slides/slide4.xml" Id="R77c590a2cc3842a3" /><Relationship Type="http://schemas.openxmlformats.org/officeDocument/2006/relationships/notesMaster" Target="/ppt/notesMasters/notesMaster1.xml" Id="R8ebddb23be1b42e5" /></Relationships>
</file>

<file path=ppt/notesSlides/_rels/notesSlide5.xml.rels>&#65279;<?xml version="1.0" encoding="utf-8"?><Relationships xmlns="http://schemas.openxmlformats.org/package/2006/relationships"><Relationship Type="http://schemas.openxmlformats.org/officeDocument/2006/relationships/slide" Target="/ppt/slides/slide5.xml" Id="Rc9a4128e3c6a4836" /><Relationship Type="http://schemas.openxmlformats.org/officeDocument/2006/relationships/notesMaster" Target="/ppt/notesMasters/notesMaster1.xml" Id="R0bbfc1618a6d449f" /></Relationships>
</file>

<file path=ppt/notesSlides/_rels/notesSlide6.xml.rels>&#65279;<?xml version="1.0" encoding="utf-8"?><Relationships xmlns="http://schemas.openxmlformats.org/package/2006/relationships"><Relationship Type="http://schemas.openxmlformats.org/officeDocument/2006/relationships/slide" Target="/ppt/slides/slide6.xml" Id="R5c5f58ca17c744b2" /><Relationship Type="http://schemas.openxmlformats.org/officeDocument/2006/relationships/notesMaster" Target="/ppt/notesMasters/notesMaster1.xml" Id="R9f864a92ffa74002" /></Relationships>
</file>

<file path=ppt/notesSlides/_rels/notesSlide7.xml.rels>&#65279;<?xml version="1.0" encoding="utf-8"?><Relationships xmlns="http://schemas.openxmlformats.org/package/2006/relationships"><Relationship Type="http://schemas.openxmlformats.org/officeDocument/2006/relationships/slide" Target="/ppt/slides/slide7.xml" Id="Rddb9986e46994c1a" /><Relationship Type="http://schemas.openxmlformats.org/officeDocument/2006/relationships/notesMaster" Target="/ppt/notesMasters/notesMaster1.xml" Id="R14d0e8c071f14b36" /></Relationships>
</file>

<file path=ppt/notesSlides/_rels/notesSlide8.xml.rels>&#65279;<?xml version="1.0" encoding="utf-8"?><Relationships xmlns="http://schemas.openxmlformats.org/package/2006/relationships"><Relationship Type="http://schemas.openxmlformats.org/officeDocument/2006/relationships/slide" Target="/ppt/slides/slide8.xml" Id="R55a710b6225644ad" /><Relationship Type="http://schemas.openxmlformats.org/officeDocument/2006/relationships/notesMaster" Target="/ppt/notesMasters/notesMaster1.xml" Id="Rb5007544383f49a0" /></Relationships>
</file>

<file path=ppt/notesSlides/_rels/notesSlide9.xml.rels>&#65279;<?xml version="1.0" encoding="utf-8"?><Relationships xmlns="http://schemas.openxmlformats.org/package/2006/relationships"><Relationship Type="http://schemas.openxmlformats.org/officeDocument/2006/relationships/slide" Target="/ppt/slides/slide9.xml" Id="R951b017159eb4559" /><Relationship Type="http://schemas.openxmlformats.org/officeDocument/2006/relationships/notesMaster" Target="/ppt/notesMasters/notesMaster1.xml" Id="R49c2ab345d2a474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2d62f60e5e54531" /><Relationship Type="http://schemas.openxmlformats.org/officeDocument/2006/relationships/notesMaster" Target="/ppt/notesMasters/notesMaster1.xml" Id="R11da801659ee492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0701635157d4f05" /><Relationship Type="http://schemas.openxmlformats.org/officeDocument/2006/relationships/notesMaster" Target="/ppt/notesMasters/notesMaster1.xml" Id="R721694513263442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b4af3572be348ea" /><Relationship Type="http://schemas.openxmlformats.org/officeDocument/2006/relationships/notesMaster" Target="/ppt/notesMasters/notesMaster1.xml" Id="R7c052d0e85af4c5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3c85e0d68984d44" /><Relationship Type="http://schemas.openxmlformats.org/officeDocument/2006/relationships/notesMaster" Target="/ppt/notesMasters/notesMaster1.xml" Id="R9cffe1d4722e460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1c4286befb049b6" /><Relationship Type="http://schemas.openxmlformats.org/officeDocument/2006/relationships/notesMaster" Target="/ppt/notesMasters/notesMaster1.xml" Id="Rd96411ca4b7e49f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bae1baa17aa4a22" /><Relationship Type="http://schemas.openxmlformats.org/officeDocument/2006/relationships/notesMaster" Target="/ppt/notesMasters/notesMaster1.xml" Id="R887d8bf6989b454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fafa17875e646c2" /><Relationship Type="http://schemas.openxmlformats.org/officeDocument/2006/relationships/notesMaster" Target="/ppt/notesMasters/notesMaster1.xml" Id="R0eb71e361e24434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b61208a58d64f71" /><Relationship Type="http://schemas.openxmlformats.org/officeDocument/2006/relationships/notesMaster" Target="/ppt/notesMasters/notesMaster1.xml" Id="R6789011c54124b3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d70628cbcfa478c" /><Relationship Type="http://schemas.openxmlformats.org/officeDocument/2006/relationships/notesMaster" Target="/ppt/notesMasters/notesMaster1.xml" Id="Rbc15a48dbe714f5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30c91e0722f4ec4" /><Relationship Type="http://schemas.openxmlformats.org/officeDocument/2006/relationships/notesMaster" Target="/ppt/notesMasters/notesMaster1.xml" Id="R5dd998f519e6481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d8ff9d466b24631" /><Relationship Type="http://schemas.openxmlformats.org/officeDocument/2006/relationships/notesMaster" Target="/ppt/notesMasters/notesMaster1.xml" Id="R48ca09d65c614ba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e0772e0146e45cb" /><Relationship Type="http://schemas.openxmlformats.org/officeDocument/2006/relationships/notesMaster" Target="/ppt/notesMasters/notesMaster1.xml" Id="Rbb729f4c97ab4bc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f70b37ea9794fdc" /><Relationship Type="http://schemas.openxmlformats.org/officeDocument/2006/relationships/notesMaster" Target="/ppt/notesMasters/notesMaster1.xml" Id="Rd073a747e941433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571fe49ab63499c" /><Relationship Type="http://schemas.openxmlformats.org/officeDocument/2006/relationships/notesMaster" Target="/ppt/notesMasters/notesMaster1.xml" Id="R1d7fc2eb03464a7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2a132d1f01b4a73" /><Relationship Type="http://schemas.openxmlformats.org/officeDocument/2006/relationships/notesMaster" Target="/ppt/notesMasters/notesMaster1.xml" Id="R9c7af588c9f34ea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a4caf3dc6d240b4" /><Relationship Type="http://schemas.openxmlformats.org/officeDocument/2006/relationships/notesMaster" Target="/ppt/notesMasters/notesMaster1.xml" Id="R8394fd55b0a04f1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Today I will explain how our profiling work developed, what the workloads taught us, and how the current architecture uses memory-level parallelism to choose pages. Our main result is a 23.95% reduction in modeled runtime on a controlled synthetic MLP-16 workload. With score decay, it reaches 24.16%. I will distinguish those mechanism experiments from native measurements and real-trace replay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Fast DRAM has limited capacity. We want to place the pages whose access delays matter most to runtime in DRAM, while leaving less critical pages in CXL memory.</a:t>
            </a:r>
          </a:p>
          <a:p xmlns:a="http://schemas.openxmlformats.org/drawingml/2006/main">
            <a:r>
              <a:t/>
            </a:r>
          </a:p>
          <a:p xmlns:a="http://schemas.openxmlformats.org/drawingml/2006/main">
            <a:r>
              <a:t>Access frequency tells us how often a page appears. It does not tell us how much of that page’s latency overlaps other memory requests or useful computation.</a:t>
            </a:r>
          </a:p>
          <a:p xmlns:a="http://schemas.openxmlformats.org/drawingml/2006/main">
            <a:r>
              <a:t/>
            </a:r>
          </a:p>
          <a:p xmlns:a="http://schemas.openxmlformats.org/drawingml/2006/main">
            <a:r>
              <a:t>Our work tests whether an MLP-weighted page score makes better placement decisions than frequency when both policies share the same capacity and migration rules.</a:t>
            </a:r>
          </a:p>
          <a:p xmlns:a="http://schemas.openxmlformats.org/drawingml/2006/main">
            <a:r>
              <a:t/>
            </a:r>
          </a:p>
          <a:p xmlns:a="http://schemas.openxmlformats.org/drawingml/2006/main">
            <a:r>
              <a:t>The presentation separates measured native behavior, modeled replay of public traces, and controlled synthetic experiments that expose the scoring mechanism.</a:t>
            </a:r>
          </a:p>
          <a:p xmlns:a="http://schemas.openxmlformats.org/drawingml/2006/main">
            <a:r>
              <a:t/>
            </a:r>
          </a:p>
          <a:p xmlns:a="http://schemas.openxmlformats.org/drawingml/2006/main">
            <a:r>
              <a:t>Source: https://github.com/mahaswint/btp-cxl/blob/main/criticality-profiler/README.md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archived native profiling runs, workload launchers, machine settings, processing scripts and derived results. Seven workload families have five-run summaries.</a:t>
            </a:r>
          </a:p>
          <a:p xmlns:a="http://schemas.openxmlformats.org/drawingml/2006/main">
            <a:r>
              <a:t/>
            </a:r>
          </a:p>
          <a:p xmlns:a="http://schemas.openxmlformats.org/drawingml/2006/main">
            <a:r>
              <a:t>We built analytical profilers for counterfactual criticality, trace dependency slack, static PAC scoring and continuous PAC-driven migration.</a:t>
            </a:r>
          </a:p>
          <a:p xmlns:a="http://schemas.openxmlformats.org/drawingml/2006/main">
            <a:r>
              <a:t/>
            </a:r>
          </a:p>
          <a:p xmlns:a="http://schemas.openxmlformats.org/drawingml/2006/main">
            <a:r>
              <a:t>We added streaming execution and a compact memory-event cache so longer public traces can be compared without repeatedly decoding the raw instruction stream.</a:t>
            </a:r>
          </a:p>
          <a:p xmlns:a="http://schemas.openxmlformats.org/drawingml/2006/main">
            <a:r>
              <a:t/>
            </a:r>
          </a:p>
          <a:p xmlns:a="http://schemas.openxmlformats.org/drawingml/2006/main">
            <a:r>
              <a:t>We audited PACT data and policy differences, retained real-trace controls, and designed variable-MLP streams that demonstrate more than 20% modeled improvement.</a:t>
            </a:r>
          </a:p>
          <a:p xmlns:a="http://schemas.openxmlformats.org/drawingml/2006/main">
            <a:r>
              <a:t/>
            </a:r>
          </a:p>
          <a:p xmlns:a="http://schemas.openxmlformats.org/drawingml/2006/main">
            <a:r>
              <a:t>Source: https://github.com/mahaswint/btp-cxl/blob/main/README.md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documented profiling approaches and our implementations. Native Linux perf is the confirmed hardware tool. The remaining rows are analytical engines we built and evaluated. We should not describe unrecorded tools such as VTune as completed experiments. The synthetic path and compact path share policy logic, while their execution abstractions differ.</a:t>
            </a:r>
          </a:p>
          <a:p xmlns:a="http://schemas.openxmlformats.org/drawingml/2006/main">
            <a:r>
              <a:t/>
            </a:r>
          </a:p>
          <a:p xmlns:a="http://schemas.openxmlformats.org/drawingml/2006/main">
            <a:r>
              <a:t>Source: https://github.com/mahaswint/btp-cxl/blob/main/criticality-profiler/README.md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recorded machine uses an Intel Core i7-12700 with 20 logical CPUs. Each run records the command, CPU affinity, kernel, governor and counter permissions.</a:t>
            </a:r>
          </a:p>
          <a:p xmlns:a="http://schemas.openxmlformats.org/drawingml/2006/main">
            <a:r>
              <a:t/>
            </a:r>
          </a:p>
          <a:p xmlns:a="http://schemas.openxmlformats.org/drawingml/2006/main">
            <a:r>
              <a:t>The profiling script runs six counter groups: core/cache, memory traffic, top-down memory bound, top-down backend bound, retired memory and TLB walks.</a:t>
            </a:r>
          </a:p>
          <a:p xmlns:a="http://schemas.openxmlformats.org/drawingml/2006/main">
            <a:r>
              <a:t/>
            </a:r>
          </a:p>
          <a:p xmlns:a="http://schemas.openxmlformats.org/drawingml/2006/main">
            <a:r>
              <a:t>We keep raw counter files, workload output and a return code for every group. The archive contains 54 run directories, including failed or partial attempts.</a:t>
            </a:r>
          </a:p>
          <a:p xmlns:a="http://schemas.openxmlformats.org/drawingml/2006/main">
            <a:r>
              <a:t/>
            </a:r>
          </a:p>
          <a:p xmlns:a="http://schemas.openxmlformats.org/drawingml/2006/main">
            <a:r>
              <a:t>Derived metrics use cycles and instructions from the same counter group. Five repetitions per summarized workload let us inspect variation rather than rely on one run.</a:t>
            </a:r>
          </a:p>
          <a:p xmlns:a="http://schemas.openxmlformats.org/drawingml/2006/main">
            <a:r>
              <a:t/>
            </a:r>
          </a:p>
          <a:p xmlns:a="http://schemas.openxmlformats.org/drawingml/2006/main">
            <a:r>
              <a:t>Sources: https://github.com/mahaswint/btp-cxl/blob/main/NativePC/README.md</a:t>
            </a:r>
          </a:p>
          <a:p xmlns:a="http://schemas.openxmlformats.org/drawingml/2006/main">
            <a:r>
              <a:t>https://github.com/mahaswint/btp-cxl/blob/main/NativePC/scripts/process_native_campaign.py</a:t>
            </a:r>
          </a:p>
          <a:p xmlns:a="http://schemas.openxmlformats.org/drawingml/2006/main">
            <a:r>
              <a:t>https://github.com/mahaswint/btp-cxl/blob/main/NativePC/system_info/system_baseline.txt</a:t>
            </a:r>
          </a:p>
          <a:p xmlns:a="http://schemas.openxmlformats.org/drawingml/2006/main">
            <a:r>
              <a:t/>
            </a:r>
          </a:p>
          <a:p xmlns:a="http://schemas.openxmlformats.org/drawingml/2006/main">
            <a:r>
              <a:t>Source: https://github.com/mahaswint/btp-cxl/blob/main/NativePC/scripts/run_native_profile.sh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profiled seven workload families, with five runs for each summary. Pointer chase and STREAM form the memory-heavy end of the table. The model workloads cover inference, embeddings, clustering and neighbor search. The third column is IPC, and the final column is retired L3 load misses per million instructions. This compares their native behavior, without claiming that any row already achieved a CXL speedup.</a:t>
            </a:r>
          </a:p>
          <a:p xmlns:a="http://schemas.openxmlformats.org/drawingml/2006/main">
            <a:r>
              <a:t/>
            </a:r>
          </a:p>
          <a:p xmlns:a="http://schemas.openxmlformats.org/drawingml/2006/main">
            <a:r>
              <a:t/>
            </a:r>
          </a:p>
          <a:p xmlns:a="http://schemas.openxmlformats.org/drawingml/2006/main">
            <a:r>
              <a:t/>
            </a:r>
          </a:p>
          <a:p xmlns:a="http://schemas.openxmlformats.org/drawingml/2006/main">
            <a:r>
              <a:t>Source: https://github.com/mahaswint/btp-cxl/blob/main/NativePC/processed_data/workload_summary.csv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Pointer chase and STREAM show very low IPC and many retired L3 load misses. They give us useful examples of strongly memory-sensitive behavior.</a:t>
            </a:r>
          </a:p>
          <a:p xmlns:a="http://schemas.openxmlformats.org/drawingml/2006/main">
            <a:r>
              <a:t/>
            </a:r>
          </a:p>
          <a:p xmlns:a="http://schemas.openxmlformats.org/drawingml/2006/main">
            <a:r>
              <a:t>llama.cpp has more L3 misses than the other summarized ML workloads. DLRM also shows memory activity and motivated separate phase-level instrumentation.</a:t>
            </a:r>
          </a:p>
          <a:p xmlns:a="http://schemas.openxmlformats.org/drawingml/2006/main">
            <a:r>
              <a:t/>
            </a:r>
          </a:p>
          <a:p xmlns:a="http://schemas.openxmlformats.org/drawingml/2006/main">
            <a:r>
              <a:t>Outstanding-read cycle fractions reach about 0.951 for pointer chase and 0.981 for STREAM. These indicate time with requests outstanding, not the average number of concurrent requests.</a:t>
            </a:r>
          </a:p>
          <a:p xmlns:a="http://schemas.openxmlformats.org/drawingml/2006/main">
            <a:r>
              <a:t/>
            </a:r>
          </a:p>
          <a:p xmlns:a="http://schemas.openxmlformats.org/drawingml/2006/main">
            <a:r>
              <a:t>We therefore cannot call a native workload “high MLP” from this fraction alone. PAC requires occupancy divided by active time, which our analytical engines measure explicitly.</a:t>
            </a:r>
          </a:p>
          <a:p xmlns:a="http://schemas.openxmlformats.org/drawingml/2006/main">
            <a:r>
              <a:t/>
            </a:r>
          </a:p>
          <a:p xmlns:a="http://schemas.openxmlformats.org/drawingml/2006/main">
            <a:r>
              <a:t>Source: https://github.com/mahaswint/btp-cxl/blob/main/NativePC/processed_data/workload_summary.csv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distinguish counter scheduling coverage from the workload metric. A counter running for 99% of the measurement does not mean page walks occupy 99% of runtime.</a:t>
            </a:r>
          </a:p>
          <a:p xmlns:a="http://schemas.openxmlformats.org/drawingml/2006/main">
            <a:r>
              <a:t/>
            </a:r>
          </a:p>
          <a:p xmlns:a="http://schemas.openxmlformats.org/drawingml/2006/main">
            <a:r>
              <a:t>The targeted DLRM run reports load page-walk activity of 1.302% and store page-walk activity of 2.042% of measured cycles.</a:t>
            </a:r>
          </a:p>
          <a:p xmlns:a="http://schemas.openxmlformats.org/drawingml/2006/main">
            <a:r>
              <a:t/>
            </a:r>
          </a:p>
          <a:p xmlns:a="http://schemas.openxmlformats.org/drawingml/2006/main">
            <a:r>
              <a:t>The exact combined load/store activity cannot be recovered from these aggregate counters. Its union lies between 2.042% and 3.344%, depending on overlap.</a:t>
            </a:r>
          </a:p>
          <a:p xmlns:a="http://schemas.openxmlformats.org/drawingml/2006/main">
            <a:r>
              <a:t/>
            </a:r>
          </a:p>
          <a:p xmlns:a="http://schemas.openxmlformats.org/drawingml/2006/main">
            <a:r>
              <a:t>The same principle motivates criticality profiling: adding events or counting misses does not reveal which delays overlap and which delays extend execution.</a:t>
            </a:r>
          </a:p>
          <a:p xmlns:a="http://schemas.openxmlformats.org/drawingml/2006/main">
            <a:r>
              <a:t/>
            </a:r>
          </a:p>
          <a:p xmlns:a="http://schemas.openxmlformats.org/drawingml/2006/main">
            <a:r>
              <a:t>Source: https://github.com/mahaswint/btp-cxl/blob/main/NativePC/raw_data/dlrm/native_pw/20260924_172101_dlrm_pw/summary.txt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repository preserves SimCXL and OCEAN work. We tested OCEAN’s direct memory-server path against an equivalent local-memory loop before a planned PIPM prototype.</a:t>
            </a:r>
          </a:p>
          <a:p xmlns:a="http://schemas.openxmlformats.org/drawingml/2006/main">
            <a:r>
              <a:t/>
            </a:r>
          </a:p>
          <a:p xmlns:a="http://schemas.openxmlformats.org/drawingml/2006/main">
            <a:r>
              <a:t>Median OCEAN/native ratios were 298.82× for 64 B requests, 19.70× for 4 KiB requests and 7.63× for 64 KiB requests, with five repetitions per configuration.</a:t>
            </a:r>
          </a:p>
          <a:p xmlns:a="http://schemas.openxmlformats.org/drawingml/2006/main">
            <a:r>
              <a:t/>
            </a:r>
          </a:p>
          <a:p xmlns:a="http://schemas.openxmlformats.org/drawingml/2006/main">
            <a:r>
              <a:t>That test exposes synchronous loopback TCP overhead and the importance of request batching. It is a data-path microbenchmark, rather than an application slowdown result.</a:t>
            </a:r>
          </a:p>
          <a:p xmlns:a="http://schemas.openxmlformats.org/drawingml/2006/main">
            <a:r>
              <a:t/>
            </a:r>
          </a:p>
          <a:p xmlns:a="http://schemas.openxmlformats.org/drawingml/2006/main">
            <a:r>
              <a:t>The audited QEMU backend allocates normal guest RAM and retains server metadata without forwarding guest memory operations. The baseline does not validate a full guest CXL path.</a:t>
            </a:r>
          </a:p>
          <a:p xmlns:a="http://schemas.openxmlformats.org/drawingml/2006/main">
            <a:r>
              <a:t/>
            </a:r>
          </a:p>
          <a:p xmlns:a="http://schemas.openxmlformats.org/drawingml/2006/main">
            <a:r>
              <a:t>Source: https://github.com/mahaswint/btp-cxl/blob/main/experiments/ocean-runtime-baseline-2026-09-29/README.md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phase/lane model computes a page’s benefit by replaying the workload with only that page moved to fast memory. It gives a 15% win in an overlap example.</a:t>
            </a:r>
          </a:p>
          <a:p xmlns:a="http://schemas.openxmlformats.org/drawingml/2006/main">
            <a:r>
              <a:t/>
            </a:r>
          </a:p>
          <a:p xmlns:a="http://schemas.openxmlformats.org/drawingml/2006/main">
            <a:r>
              <a:t>The serial control ties frequency. A joint-bottleneck counterexample loses 39.13%, because scoring pages individually misses the benefit of promoting two pages together.</a:t>
            </a:r>
          </a:p>
          <a:p xmlns:a="http://schemas.openxmlformats.org/drawingml/2006/main">
            <a:r>
              <a:t/>
            </a:r>
          </a:p>
          <a:p xmlns:a="http://schemas.openxmlformats.org/drawingml/2006/main">
            <a:r>
              <a:t>The instruction-trace pilot adds register dependencies, cache filtering and held-out evaluation using public SPEC traces: mcf, lbm and xalancbmk.</a:t>
            </a:r>
          </a:p>
          <a:p xmlns:a="http://schemas.openxmlformats.org/drawingml/2006/main">
            <a:r>
              <a:t/>
            </a:r>
          </a:p>
          <a:p xmlns:a="http://schemas.openxmlformats.org/drawingml/2006/main">
            <a:r>
              <a:t>The slack-based sweep shows mixed, small gains. mcf ranges from −2.376% to +1.919%, lbm from 0% to +1.502%, and the selected xalancbmk region ties throughout.</a:t>
            </a:r>
          </a:p>
          <a:p xmlns:a="http://schemas.openxmlformats.org/drawingml/2006/main">
            <a:r>
              <a:t/>
            </a:r>
          </a:p>
          <a:p xmlns:a="http://schemas.openxmlformats.org/drawingml/2006/main">
            <a:r>
              <a:t>Also see https://github.com/mahaswint/btp-cxl/blob/main/criticality-profiler/README.md. Explain that counterfactual replay is an offline diagnostic. Slack scoring is a separate heuristic from PAC. These results are modeled held-out comparisons, not native application speedups.</a:t>
            </a:r>
          </a:p>
          <a:p xmlns:a="http://schemas.openxmlformats.org/drawingml/2006/main">
            <a:r>
              <a:t/>
            </a:r>
          </a:p>
          <a:p xmlns:a="http://schemas.openxmlformats.org/drawingml/2006/main">
            <a:r>
              <a:t>Source: https://github.com/mahaswint/btp-cxl/blob/main/criticality-profiler/results/REPORT.md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Memory-level parallelism, or MLP, is the average number of outstanding demand-load requests while a tier has at least one such request active.</a:t>
            </a:r>
          </a:p>
          <a:p xmlns:a="http://schemas.openxmlformats.org/drawingml/2006/main">
            <a:r>
              <a:t/>
            </a:r>
          </a:p>
          <a:p xmlns:a="http://schemas.openxmlformats.org/drawingml/2006/main">
            <a:r>
              <a:t>For each tier and observation window: MLP = outstanding-request occupancy area / active time. Estimated stall cost = k × load misses / MLP.</a:t>
            </a:r>
          </a:p>
          <a:p xmlns:a="http://schemas.openxmlformats.org/drawingml/2006/main">
            <a:r>
              <a:t/>
            </a:r>
          </a:p>
          <a:p xmlns:a="http://schemas.openxmlformats.org/drawingml/2006/main">
            <a:r>
              <a:t>We attribute that cost to pages in proportion to their observed load misses. The accumulated score becomes PAC_new = alpha × PAC_old + new page contribution.</a:t>
            </a:r>
          </a:p>
          <a:p xmlns:a="http://schemas.openxmlformats.org/drawingml/2006/main">
            <a:r>
              <a:t/>
            </a:r>
          </a:p>
          <a:p xmlns:a="http://schemas.openxmlformats.org/drawingml/2006/main">
            <a:r>
              <a:t>A miss in a low-MLP window contributes more score than a miss in a high-MLP window. Within one tier and one window, PAC remains proportional to page frequency.</a:t>
            </a:r>
          </a:p>
          <a:p xmlns:a="http://schemas.openxmlformats.org/drawingml/2006/main">
            <a:r>
              <a:t/>
            </a:r>
          </a:p>
          <a:p xmlns:a="http://schemas.openxmlformats.org/drawingml/2006/main">
            <a:r>
              <a:t>Source: https://github.com/mahaswint/btp-cxl/blob/main/criticality-profiler/PACT_MODEL.md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serial group has one relative miss at MLP one, so its relative score is one. The hot group has four misses but MLP sixteen, so its relative score is only one quarter. Frequency sees four versus one and chooses the hot group. PAC sees the difference in overlap and can prioritize the serial group. This distinction appears across windows, because attribution within any one tier and window is still proportional to frequency.</a:t>
            </a:r>
          </a:p>
          <a:p xmlns:a="http://schemas.openxmlformats.org/drawingml/2006/main">
            <a:r>
              <a:t/>
            </a:r>
          </a:p>
          <a:p xmlns:a="http://schemas.openxmlformats.org/drawingml/2006/main">
            <a:r>
              <a:t/>
            </a:r>
          </a:p>
          <a:p xmlns:a="http://schemas.openxmlformats.org/drawingml/2006/main">
            <a:r>
              <a:t/>
            </a:r>
          </a:p>
          <a:p xmlns:a="http://schemas.openxmlformats.org/drawingml/2006/main">
            <a:r>
              <a:t>Source: https://github.com/mahaswint/btp-cxl/blob/main/criticality-profiler/SYNTHETIC_STREAMS.md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dynamic engine starts both policies with the same first-touch placement. It updates scores during a continuous execution region using only requests observed so far.</a:t>
            </a:r>
          </a:p>
          <a:p xmlns:a="http://schemas.openxmlformats.org/drawingml/2006/main">
            <a:r>
              <a:t/>
            </a:r>
          </a:p>
          <a:p xmlns:a="http://schemas.openxmlformats.org/drawingml/2006/main">
            <a:r>
              <a:t>At an update, high-score CXL pages become promotion candidates. The policy demotes least-recently-observed DRAM pages to make room and respects capacity and batch limits.</a:t>
            </a:r>
          </a:p>
          <a:p xmlns:a="http://schemas.openxmlformats.org/drawingml/2006/main">
            <a:r>
              <a:t/>
            </a:r>
          </a:p>
          <a:p xmlns:a="http://schemas.openxmlformats.org/drawingml/2006/main">
            <a:r>
              <a:t>Frequency and PAC share binning, sampling seed, first-touch placement, demotion and copy costs. Their scoring signal differs: miss count versus MLP-weighted contribution.</a:t>
            </a:r>
          </a:p>
          <a:p xmlns:a="http://schemas.openxmlformats.org/drawingml/2006/main">
            <a:r>
              <a:t/>
            </a:r>
          </a:p>
          <a:p xmlns:a="http://schemas.openxmlformats.org/drawingml/2006/main">
            <a:r>
              <a:t>Every promotion and demotion incurs an assumed cost. Copies pause modeled execution, so reduced runtime can reflect page selection, migration timing or reduced migration churn.</a:t>
            </a:r>
          </a:p>
          <a:p xmlns:a="http://schemas.openxmlformats.org/drawingml/2006/main">
            <a:r>
              <a:t/>
            </a:r>
          </a:p>
          <a:p xmlns:a="http://schemas.openxmlformats.org/drawingml/2006/main">
            <a:r>
              <a:t>Source: https://github.com/mahaswint/btp-cxl/blob/main/criticality-profiler/DYNAMIC_MODEL.md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diagram shows the implemented analytical evaluation architecture. It is not a deployed hardware PIPM or complete PACT/Linux runtime. The compact trace engine and designed synthetic engine feed the shared RuntimePolicy. Only requests observed before the decision time can update the policy. Moving a page changes later modeled service and measured overlap.</a:t>
            </a:r>
          </a:p>
          <a:p xmlns:a="http://schemas.openxmlformats.org/drawingml/2006/main">
            <a:r>
              <a:t/>
            </a:r>
          </a:p>
          <a:p xmlns:a="http://schemas.openxmlformats.org/drawingml/2006/main">
            <a:r>
              <a:t>Source: https://github.com/mahaswint/btp-cxl/blob/main/criticality-profiler/COMPACT_MODEL.md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Repeated raw instruction replay became expensive. The compact engine preprocesses the trace once into memory requests, weighted dependencies, compute gaps and epoch fences.</a:t>
            </a:r>
          </a:p>
          <a:p xmlns:a="http://schemas.openxmlformats.org/drawingml/2006/main">
            <a:r>
              <a:t/>
            </a:r>
          </a:p>
          <a:p xmlns:a="http://schemas.openxmlformats.org/drawingml/2006/main">
            <a:r>
              <a:t>For the available BC-kron region, 999.8 million measured instructions become a 405.2 MB event cache, compared with 64.0 GB of raw trace data.</a:t>
            </a:r>
          </a:p>
          <a:p xmlns:a="http://schemas.openxmlformats.org/drawingml/2006/main">
            <a:r>
              <a:t/>
            </a:r>
          </a:p>
          <a:p xmlns:a="http://schemas.openxmlformats.org/drawingml/2006/main">
            <a:r>
              <a:t>The 5-million-instruction pilot took 0.659 s to preprocess and 0.061 s for four-policy replay. Against the previous 5.837 s pilot, first-run profiler acceleration is 8.11×.</a:t>
            </a:r>
          </a:p>
          <a:p xmlns:a="http://schemas.openxmlformats.org/drawingml/2006/main">
            <a:r>
              <a:t/>
            </a:r>
          </a:p>
          <a:p xmlns:a="http://schemas.openxmlformats.org/drawingml/2006/main">
            <a:r>
              <a:t>This accelerates the profiling tool. It is separate from workload speedup. The compact model uses conservative 192-instruction epochs and omits pipelining between epochs.</a:t>
            </a:r>
          </a:p>
          <a:p xmlns:a="http://schemas.openxmlformats.org/drawingml/2006/main">
            <a:r>
              <a:t/>
            </a:r>
          </a:p>
          <a:p xmlns:a="http://schemas.openxmlformats.org/drawingml/2006/main">
            <a:r>
              <a:t>Source: https://github.com/mahaswint/btp-cxl/blob/main/criticality-profiler/results/compact/REPORT.md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real BC-kron trace is a useful check on our assumptions. The legacy policy essentially ties. The all-events profile initially looks like a 2.13% improvement, but matching actual migration counts reduces it to 0.006%. The sampled profile slightly favors frequency. Measured CXL MLP remains near 1.3 even though the resource limit allows sixteen requests. This is why a high configured limit alone does not establish high observed parallelism.</a:t>
            </a:r>
          </a:p>
          <a:p xmlns:a="http://schemas.openxmlformats.org/drawingml/2006/main">
            <a:r>
              <a:t/>
            </a:r>
          </a:p>
          <a:p xmlns:a="http://schemas.openxmlformats.org/drawingml/2006/main">
            <a:r>
              <a:t/>
            </a:r>
          </a:p>
          <a:p xmlns:a="http://schemas.openxmlformats.org/drawingml/2006/main">
            <a:r>
              <a:t/>
            </a:r>
          </a:p>
          <a:p xmlns:a="http://schemas.openxmlformats.org/drawingml/2006/main">
            <a:r>
              <a:t>Source: https://github.com/mahaswint/btp-cxl/blob/main/criticality-profiler/results/paper_aligned/REPORT.md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audited PACT public counter dataset contains 96 workload rows. On the emulated CXL tier, correlation with measured stall cycles rises from 0.829 for misses to 0.974 for misses/MLP.</a:t>
            </a:r>
          </a:p>
          <a:p xmlns:a="http://schemas.openxmlformats.org/drawingml/2006/main">
            <a:r>
              <a:t/>
            </a:r>
          </a:p>
          <a:p xmlns:a="http://schemas.openxmlformats.org/drawingml/2006/main">
            <a:r>
              <a:t>The fitted CXL coefficient is 771.070 cycles, with leave-one-out mean absolute error of 39.69%. It supports MLP weighting while leaving substantial prediction error.</a:t>
            </a:r>
          </a:p>
          <a:p xmlns:a="http://schemas.openxmlformats.org/drawingml/2006/main">
            <a:r>
              <a:t/>
            </a:r>
          </a:p>
          <a:p xmlns:a="http://schemas.openxmlformats.org/drawingml/2006/main">
            <a:r>
              <a:t>A continuous 48M-instruction BC-twitter prefix provides changing overlap. With 0.2 ms windows, PAC-only decay gives a 7.120% natural-policy improvement.</a:t>
            </a:r>
          </a:p>
          <a:p xmlns:a="http://schemas.openxmlformats.org/drawingml/2006/main">
            <a:r>
              <a:t/>
            </a:r>
          </a:p>
          <a:p xmlns:a="http://schemas.openxmlformats.org/drawingml/2006/main">
            <a:r>
              <a:t>When frequency also uses decay, that case drops to 0.031%, with different natural migration counts. Recency and copy overhead explain much of the apparent advantage.</a:t>
            </a:r>
          </a:p>
          <a:p xmlns:a="http://schemas.openxmlformats.org/drawingml/2006/main">
            <a:r>
              <a:t/>
            </a:r>
          </a:p>
          <a:p xmlns:a="http://schemas.openxmlformats.org/drawingml/2006/main">
            <a:r>
              <a:t>Additional source: https://github.com/mahaswint/btp-cxl/blob/main/criticality-profiler/results/decay_07/REPORT.md. These are a calibration audit of published counters and analytical replay sensitivity tests. The coefficients are effective stall cycles, not service latency in nanoseconds.</a:t>
            </a:r>
          </a:p>
          <a:p xmlns:a="http://schemas.openxmlformats.org/drawingml/2006/main">
            <a:r>
              <a:t/>
            </a:r>
          </a:p>
          <a:p xmlns:a="http://schemas.openxmlformats.org/drawingml/2006/main">
            <a:r>
              <a:t>Source: https://github.com/mahaswint/btp-cxl/blob/main/criticality-profiler/calibration/pact/REPORT.md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active set contains a 4 MiB serial pointer-chain group and a 4 MiB independent-load group. The independent group has exactly four times as many load misses.</a:t>
            </a:r>
          </a:p>
          <a:p xmlns:a="http://schemas.openxmlformats.org/drawingml/2006/main">
            <a:r>
              <a:t/>
            </a:r>
          </a:p>
          <a:p xmlns:a="http://schemas.openxmlformats.org/drawingml/2006/main">
            <a:r>
              <a:t>DRAM capacity is 4 MiB. Both policies start with the same cold warmup pages, so the active groups initially reside in CXL. The workload alternates both phases for 12 rounds.</a:t>
            </a:r>
          </a:p>
          <a:p xmlns:a="http://schemas.openxmlformats.org/drawingml/2006/main">
            <a:r>
              <a:t/>
            </a:r>
          </a:p>
          <a:p xmlns:a="http://schemas.openxmlformats.org/drawingml/2006/main">
            <a:r>
              <a:t>Independent batch width varies across 1, 2, 4, 8 and 16. The main sequence starts with the hot group, and a separate MLP-16 case reverses phase order.</a:t>
            </a:r>
          </a:p>
          <a:p xmlns:a="http://schemas.openxmlformats.org/drawingml/2006/main">
            <a:r>
              <a:t/>
            </a:r>
          </a:p>
          <a:p xmlns:a="http://schemas.openxmlformats.org/drawingml/2006/main">
            <a:r>
              <a:t>The model uses 90/190 ns DRAM/CXL service, 20 ms observations, 128-page batches and 1,024 total promotions. Both policies execute 25,313,280 load misses per case.</a:t>
            </a:r>
          </a:p>
          <a:p xmlns:a="http://schemas.openxmlformats.org/drawingml/2006/main">
            <a:r>
              <a:t/>
            </a:r>
          </a:p>
          <a:p xmlns:a="http://schemas.openxmlformats.org/drawingml/2006/main">
            <a:r>
              <a:t>Source: https://github.com/mahaswint/btp-cxl/blob/main/criticality-profiler/SYNTHETIC_STREAMS.md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chart shows every hot-first MLP setting at alpha one. Widths one, two and four tie. Width eight produces 4.90% less modeled runtime. Width sixteen produces 23.95%. The effect depends on overlap and on the policy decisions made before the migration budget runs out. These are deterministic designed streams with equal actual migration counts.</a:t>
            </a:r>
          </a:p>
          <a:p xmlns:a="http://schemas.openxmlformats.org/drawingml/2006/main">
            <a:r>
              <a:t/>
            </a:r>
          </a:p>
          <a:p xmlns:a="http://schemas.openxmlformats.org/drawingml/2006/main">
            <a:r>
              <a:t/>
            </a:r>
          </a:p>
          <a:p xmlns:a="http://schemas.openxmlformats.org/drawingml/2006/main">
            <a:r>
              <a:t/>
            </a:r>
          </a:p>
          <a:p xmlns:a="http://schemas.openxmlformats.org/drawingml/2006/main">
            <a:r>
              <a:t>Source: https://github.com/mahaswint/btp-cxl/blob/main/criticality-profiler/results/synthetic_streams/REPORT.md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central comparison in absolute terms. Frequency takes 1093.201 milliseconds and PAC takes 831.416 milliseconds. Both complete 1024 promotions and 1024 demotions and pay the same 2.886861 milliseconds of copying. Frequency ends with none of the serial pages in DRAM, while PAC has 768. The reduction is 23.95%. Equal copying costs strengthen the comparison, although the policies can still migrate at different times.</a:t>
            </a:r>
          </a:p>
          <a:p xmlns:a="http://schemas.openxmlformats.org/drawingml/2006/main">
            <a:r>
              <a:t/>
            </a:r>
          </a:p>
          <a:p xmlns:a="http://schemas.openxmlformats.org/drawingml/2006/main">
            <a:r>
              <a:t/>
            </a:r>
          </a:p>
          <a:p xmlns:a="http://schemas.openxmlformats.org/drawingml/2006/main">
            <a:r>
              <a:t/>
            </a:r>
          </a:p>
          <a:p xmlns:a="http://schemas.openxmlformats.org/drawingml/2006/main">
            <a:r>
              <a:t>Source: https://github.com/mahaswint/btp-cxl/blob/main/criticality-profiler/results/synthetic_streams/REPORT.md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kept the original settings and then tested score decay, shorter windows and reversed phase order. At twenty milliseconds, alpha 0.7 gives 24.16% at MLP sixteen. At ten milliseconds it gives 21.08%. Reversing phase order at alpha one still gives 21.43%. These historical decay runs predate the consistent reservoir-decay change in the following sweep. Shorter windows also make decay and promotion opportunities occur more frequently, so the changes cannot be attributed to observation precision alone.</a:t>
            </a:r>
          </a:p>
          <a:p xmlns:a="http://schemas.openxmlformats.org/drawingml/2006/main">
            <a:r>
              <a:t/>
            </a:r>
          </a:p>
          <a:p xmlns:a="http://schemas.openxmlformats.org/drawingml/2006/main">
            <a:r>
              <a:t/>
            </a:r>
          </a:p>
          <a:p xmlns:a="http://schemas.openxmlformats.org/drawingml/2006/main">
            <a:r>
              <a:t/>
            </a:r>
          </a:p>
          <a:p xmlns:a="http://schemas.openxmlformats.org/drawingml/2006/main">
            <a:r>
              <a:t>Source: https://github.com/mahaswint/btp-cxl/blob/main/criticality-profiler/results/synthetic_streams/alpha_0_7/REPORT.md</a:t>
            </a:r>
          </a:p>
          <a:p xmlns:a="http://schemas.openxmlformats.org/drawingml/2006/main">
            <a:r>
              <a:t>Other sources: https://github.com/mahaswint/btp-cxl/blob/main/criticality-profiler/results/synthetic_streams/REPORT.md</a:t>
            </a:r>
          </a:p>
          <a:p xmlns:a="http://schemas.openxmlformats.org/drawingml/2006/main">
            <a:r>
              <a:t>https://github.com/mahaswint/btp-cxl/blob/main/criticality-profiler/results/synthetic_streams/alpha_0_7_window_10ms/REPORT.md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Six random alpha values were drawn before outcomes with seed 20261013. Alpha 0.7 and 1 are fresh references. Every run uses equal actual promotions, demotions and 2.886861 ms copy charges. The minimum and maximum random alpha and alpha 0.7 have exact constant-MLP controls. The shared policy now decays histogram reservoir values as well as page scores. Therefore earlier alpha below one reports should be presented as historical experiments, without pooling them into this sweep. The best reduction is 28.14% at alpha 0.847 and 0.874. The minimum is 9.23% at alpha 0.264. All outcomes are retained.</a:t>
            </a:r>
          </a:p>
          <a:p xmlns:a="http://schemas.openxmlformats.org/drawingml/2006/main">
            <a:r>
              <a:t>Source: https://github.com/mahaswint/btp-cxl/blob/main/criticality-profiler/results/synthetic_streams/random_decay_20ms/REPORT.md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scenario preserves load-request count and DRAM capacity. Both policies must actually complete 1,024 promotions and 1,024 demotions, with equal copy costs.</a:t>
            </a:r>
          </a:p>
          <a:p xmlns:a="http://schemas.openxmlformats.org/drawingml/2006/main">
            <a:r>
              <a:t/>
            </a:r>
          </a:p>
          <a:p xmlns:a="http://schemas.openxmlformats.org/drawingml/2006/main">
            <a:r>
              <a:t>The synthetic timing checks cover serial execution, independent batches, repeated cycles, partial batches and mixed-tier requests. Constant-MLP scoring must tie frequency.</a:t>
            </a:r>
          </a:p>
          <a:p xmlns:a="http://schemas.openxmlformats.org/drawingml/2006/main">
            <a:r>
              <a:t/>
            </a:r>
          </a:p>
          <a:p xmlns:a="http://schemas.openxmlformats.org/drawingml/2006/main">
            <a:r>
              <a:t>The trace engines check cache filtering, demand-load attribution, store exclusion, causal dependency handling and decision timestamps. Streaming and full replay have equivalence checks.</a:t>
            </a:r>
          </a:p>
          <a:p xmlns:a="http://schemas.openxmlformats.org/drawingml/2006/main">
            <a:r>
              <a:t/>
            </a:r>
          </a:p>
          <a:p xmlns:a="http://schemas.openxmlformats.org/drawingml/2006/main">
            <a:r>
              <a:t>We retain window MLP, per-page scores, final residency, migrations, configuration and all fixed scenarios. These records explain the mechanism behind the reported percentage.</a:t>
            </a:r>
          </a:p>
          <a:p xmlns:a="http://schemas.openxmlformats.org/drawingml/2006/main">
            <a:r>
              <a:t/>
            </a:r>
          </a:p>
          <a:p xmlns:a="http://schemas.openxmlformats.org/drawingml/2006/main">
            <a:r>
              <a:t>Source: https://github.com/mahaswint/btp-cxl/blob/main/criticality-profiler/SYNTHETIC_STREAMS.md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Implemented today: an analytical execution and policy stack with native archives, trace processing, causal score updates, migration accounting and controlled workload generation.</a:t>
            </a:r>
          </a:p>
          <a:p xmlns:a="http://schemas.openxmlformats.org/drawingml/2006/main">
            <a:r>
              <a:t/>
            </a:r>
          </a:p>
          <a:p xmlns:a="http://schemas.openxmlformats.org/drawingml/2006/main">
            <a:r>
              <a:t>The synthetic result shows that MLP-weighted scoring can choose more useful pages under the declared assumptions. The available real-trace experiments show much smaller gains or ties.</a:t>
            </a:r>
          </a:p>
          <a:p xmlns:a="http://schemas.openxmlformats.org/drawingml/2006/main">
            <a:r>
              <a:t/>
            </a:r>
          </a:p>
          <a:p xmlns:a="http://schemas.openxmlformats.org/drawingml/2006/main">
            <a:r>
              <a:t>A hardware deployment still needs verified tier counters, reliable per-page observations, real service and migration measurements, and a memory path that truly reaches CXL.</a:t>
            </a:r>
          </a:p>
          <a:p xmlns:a="http://schemas.openxmlformats.org/drawingml/2006/main">
            <a:r>
              <a:t/>
            </a:r>
          </a:p>
          <a:p xmlns:a="http://schemas.openxmlformats.org/drawingml/2006/main">
            <a:r>
              <a:t>The next evaluation should compare an integrated runtime with frequency using representative applications, equal-resource controls and actual end-to-end timing, including profiling overhead.</a:t>
            </a:r>
          </a:p>
          <a:p xmlns:a="http://schemas.openxmlformats.org/drawingml/2006/main">
            <a:r>
              <a:t/>
            </a:r>
          </a:p>
          <a:p xmlns:a="http://schemas.openxmlformats.org/drawingml/2006/main">
            <a:r>
              <a:t>Source: https://github.com/mahaswint/btp-cxl/blob/main/criticality-profiler/COMPACT_MODEL.md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have a reproducible profiling workflow spanning native counters, multiple analytical profilers, public SPEC/GAP traces and designed workloads with explicit overlap.</a:t>
            </a:r>
          </a:p>
          <a:p xmlns:a="http://schemas.openxmlformats.org/drawingml/2006/main">
            <a:r>
              <a:t/>
            </a:r>
          </a:p>
          <a:p xmlns:a="http://schemas.openxmlformats.org/drawingml/2006/main">
            <a:r>
              <a:t>The final analytical architecture combines observation, PAC scoring and shared promotion/demotion policy. It records the decisions and costs needed to explain each result.</a:t>
            </a:r>
          </a:p>
          <a:p xmlns:a="http://schemas.openxmlformats.org/drawingml/2006/main">
            <a:r>
              <a:t/>
            </a:r>
          </a:p>
          <a:p xmlns:a="http://schemas.openxmlformats.org/drawingml/2006/main">
            <a:r>
              <a:t>Our central result is 23.95% less modeled runtime on the MLP-16 synthetic case, or 24.16% with alpha = 0.7. The reversed-order case gives 21.43%.</a:t>
            </a:r>
          </a:p>
          <a:p xmlns:a="http://schemas.openxmlformats.org/drawingml/2006/main">
            <a:r>
              <a:t/>
            </a:r>
          </a:p>
          <a:p xmlns:a="http://schemas.openxmlformats.org/drawingml/2006/main">
            <a:r>
              <a:t>This establishes the scoring mechanism and motivates the next hardware experiment. It does not yet establish a 20% gain for the native ML applications or a complete PACT/PIPM deployment.</a:t>
            </a:r>
          </a:p>
          <a:p xmlns:a="http://schemas.openxmlformats.org/drawingml/2006/main">
            <a:r>
              <a:t/>
            </a:r>
          </a:p>
          <a:p xmlns:a="http://schemas.openxmlformats.org/drawingml/2006/main">
            <a:r>
              <a:t>Source: https://github.com/mahaswint/btp-cxl/blob/main/criticality-profiler/results/synthetic_streams/REPORT.md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9d8d1b091d042b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cb5a82e9467468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465c05fd3e548d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95858da5ea44e8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68aebe89247476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3e15dea01e343f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2F7E8D1-003A-414F-A20E-6F666F3E52D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A3E80F1-A3AB-4442-B0B9-D0E97C346DE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D14BF5F-F1B8-41BC-B0F9-97476223881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171CF50-EA07-4BFF-954A-535D71C30F8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CC73DF0-B783-45EB-93DD-A91CAB31860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2062935-8FC5-4D2D-B5AB-054B6E5DC9C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6CE7427-6EDF-4BCF-B224-50B9417DF6A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9574F73-1E0E-4D22-A363-93ECD539AC6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7912D67-8CEC-4894-BFDD-401EB9B0386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EB6D3AC-C5F5-4833-8097-6C405549E72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f15c75cec8d48bc" /><Relationship Type="http://schemas.openxmlformats.org/officeDocument/2006/relationships/slideLayout" Target="/ppt/slideLayouts/slideLayout1.xml" Id="R1b1fc66899ae4cd7" /><Relationship Type="http://schemas.openxmlformats.org/officeDocument/2006/relationships/slideLayout" Target="/ppt/slideLayouts/slideLayout2.xml" Id="Rc65c8b967a374f1b" /><Relationship Type="http://schemas.openxmlformats.org/officeDocument/2006/relationships/slideLayout" Target="/ppt/slideLayouts/slideLayout3.xml" Id="Rf1bca08b8e1d4156" /><Relationship Type="http://schemas.openxmlformats.org/officeDocument/2006/relationships/slideLayout" Target="/ppt/slideLayouts/slideLayout4.xml" Id="Rfcff788628ff4d96" /><Relationship Type="http://schemas.openxmlformats.org/officeDocument/2006/relationships/slideLayout" Target="/ppt/slideLayouts/slideLayout5.xml" Id="Rd55b09bcad4e4b05" /><Relationship Type="http://schemas.openxmlformats.org/officeDocument/2006/relationships/slideLayout" Target="/ppt/slideLayouts/slideLayout6.xml" Id="Rfe09340c273148a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b1fc66899ae4cd7"/>
    <p:sldLayoutId xmlns:r="http://schemas.openxmlformats.org/officeDocument/2006/relationships" id="2147483650" r:id="Rc65c8b967a374f1b"/>
    <p:sldLayoutId xmlns:r="http://schemas.openxmlformats.org/officeDocument/2006/relationships" id="2147483651" r:id="Rf1bca08b8e1d4156"/>
    <p:sldLayoutId xmlns:r="http://schemas.openxmlformats.org/officeDocument/2006/relationships" id="2147483652" r:id="Rfcff788628ff4d96"/>
    <p:sldLayoutId xmlns:r="http://schemas.openxmlformats.org/officeDocument/2006/relationships" id="2147483653" r:id="Rd55b09bcad4e4b05"/>
    <p:sldLayoutId xmlns:r="http://schemas.openxmlformats.org/officeDocument/2006/relationships" id="2147483654" r:id="Rfe09340c273148a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3c3692e3b5845b4" /><Relationship Type="http://schemas.openxmlformats.org/officeDocument/2006/relationships/notesSlide" Target="/ppt/notesSlides/notesSlide1.xml" Id="R51417e8ec0a541b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56fc958e1324c8e" /><Relationship Type="http://schemas.openxmlformats.org/officeDocument/2006/relationships/notesSlide" Target="/ppt/notesSlides/notesSlide2.xml" Id="Rcb7271651e0f4a8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1b6681fe12b413b" /><Relationship Type="http://schemas.openxmlformats.org/officeDocument/2006/relationships/notesSlide" Target="/ppt/notesSlides/notesSlide3.xml" Id="Rd0c230110640425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6a968ebf0b648db" /><Relationship Type="http://schemas.openxmlformats.org/officeDocument/2006/relationships/notesSlide" Target="/ppt/notesSlides/notesSlide4.xml" Id="R035293abd802477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9444d5636f94b4f" /><Relationship Type="http://schemas.openxmlformats.org/officeDocument/2006/relationships/notesSlide" Target="/ppt/notesSlides/notesSlide5.xml" Id="R558c772d97be427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5fd44c46f9a45c8" /><Relationship Type="http://schemas.openxmlformats.org/officeDocument/2006/relationships/notesSlide" Target="/ppt/notesSlides/notesSlide6.xml" Id="Rfc5e70d3e21f463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824c704e00f4e8f" /><Relationship Type="http://schemas.openxmlformats.org/officeDocument/2006/relationships/notesSlide" Target="/ppt/notesSlides/notesSlide7.xml" Id="R48c054d9ae114af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144af7c1fb44ab3" /><Relationship Type="http://schemas.openxmlformats.org/officeDocument/2006/relationships/notesSlide" Target="/ppt/notesSlides/notesSlide8.xml" Id="R3bfe58d87ff94bd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22bdf505f084277" /><Relationship Type="http://schemas.openxmlformats.org/officeDocument/2006/relationships/notesSlide" Target="/ppt/notesSlides/notesSlide9.xml" Id="R17d13796e5f94bf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65f36476db04c9c" /><Relationship Type="http://schemas.openxmlformats.org/officeDocument/2006/relationships/notesSlide" Target="/ppt/notesSlides/notesSlide10.xml" Id="R3fba5e77e7344d4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a551677a80b442b" /><Relationship Type="http://schemas.openxmlformats.org/officeDocument/2006/relationships/notesSlide" Target="/ppt/notesSlides/notesSlide11.xml" Id="R8737869c60b0406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d8125b249f94250" /><Relationship Type="http://schemas.openxmlformats.org/officeDocument/2006/relationships/notesSlide" Target="/ppt/notesSlides/notesSlide12.xml" Id="R6a809224c94640d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bcd3564b18746f4" /><Relationship Type="http://schemas.openxmlformats.org/officeDocument/2006/relationships/notesSlide" Target="/ppt/notesSlides/notesSlide13.xml" Id="Rdcdf3b812e2a4fc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6fadf94b78be4f29" /><Relationship Type="http://schemas.openxmlformats.org/officeDocument/2006/relationships/notesSlide" Target="/ppt/notesSlides/notesSlide14.xml" Id="Rff9df48f2e444d7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a3d3335d12c041af" /><Relationship Type="http://schemas.openxmlformats.org/officeDocument/2006/relationships/notesSlide" Target="/ppt/notesSlides/notesSlide15.xml" Id="R26a63aea6bd54c3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b56cb0306e474a01" /><Relationship Type="http://schemas.openxmlformats.org/officeDocument/2006/relationships/notesSlide" Target="/ppt/notesSlides/notesSlide16.xml" Id="Reb451f4ea90d4c0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90dcf38949a44b49" /><Relationship Type="http://schemas.openxmlformats.org/officeDocument/2006/relationships/notesSlide" Target="/ppt/notesSlides/notesSlide17.xml" Id="Re9fa601b7c1c4c4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b90e0a828ab84436" /><Relationship Type="http://schemas.openxmlformats.org/officeDocument/2006/relationships/notesSlide" Target="/ppt/notesSlides/notesSlide18.xml" Id="Rad88bb18bdf7489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992e742ab5d644da" /><Relationship Type="http://schemas.openxmlformats.org/officeDocument/2006/relationships/chart" Target="/ppt/slides/charts/chart1.xml" Id="R65ac8862761642dd" /><Relationship Type="http://schemas.openxmlformats.org/officeDocument/2006/relationships/notesSlide" Target="/ppt/notesSlides/notesSlide19.xml" Id="R38a122f16418482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54362da0396a43d2" /><Relationship Type="http://schemas.openxmlformats.org/officeDocument/2006/relationships/notesSlide" Target="/ppt/notesSlides/notesSlide20.xml" Id="Rc4215341f1a04ce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9d32214a4d354adf" /><Relationship Type="http://schemas.openxmlformats.org/officeDocument/2006/relationships/notesSlide" Target="/ppt/notesSlides/notesSlide21.xml" Id="Rc4d10d2d7076491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12f4b133d15840e8" /><Relationship Type="http://schemas.openxmlformats.org/officeDocument/2006/relationships/notesSlide" Target="/ppt/notesSlides/notesSlide22.xml" Id="Ra3f628a4697149e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52ec0d2f5c0f4ecc" /><Relationship Type="http://schemas.openxmlformats.org/officeDocument/2006/relationships/notesSlide" Target="/ppt/notesSlides/notesSlide23.xml" Id="R39f0a2f024a743c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78b709e96cc44cc9" /><Relationship Type="http://schemas.openxmlformats.org/officeDocument/2006/relationships/notesSlide" Target="/ppt/notesSlides/notesSlide24.xml" Id="Rca2940761143402f"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ed4af8231662479c" /><Relationship Type="http://schemas.openxmlformats.org/officeDocument/2006/relationships/notesSlide" Target="/ppt/notesSlides/notesSlide25.xml" Id="R2d646594ac32462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Runtime reduction (%)</c:v>
          </c:tx>
          <c:spPr>
            <a:solidFill xmlns:a="http://schemas.openxmlformats.org/drawingml/2006/main">
              <a:srgbClr val="006A75"/>
            </a:solidFill>
          </c:spPr>
          <c:invertIfNegative val="0"/>
          <c:cat>
            <c:strRef>
              <c:f>'Chart Data'!$A$2:$A$6</c:f>
              <c:strCache>
                <c:ptCount val="5"/>
                <c:pt idx="0">
                  <c:v>MLP 1</c:v>
                </c:pt>
                <c:pt idx="1">
                  <c:v>MLP 2</c:v>
                </c:pt>
                <c:pt idx="2">
                  <c:v>MLP 4</c:v>
                </c:pt>
                <c:pt idx="3">
                  <c:v>MLP 8</c:v>
                </c:pt>
                <c:pt idx="4">
                  <c:v>MLP 16</c:v>
                </c:pt>
              </c:strCache>
            </c:strRef>
          </c:cat>
          <c:val>
            <c:numRef>
              <c:f>'Chart Data'!$B$2:$B$6</c:f>
              <c:numCache>
                <c:formatCode>0.0</c:formatCode>
                <c:ptCount val="5"/>
                <c:pt idx="0">
                  <c:v>0</c:v>
                </c:pt>
                <c:pt idx="1">
                  <c:v>0</c:v>
                </c:pt>
                <c:pt idx="2">
                  <c:v>0</c:v>
                </c:pt>
                <c:pt idx="3">
                  <c:v>4.899196</c:v>
                </c:pt>
                <c:pt idx="4">
                  <c:v>23.946698</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650">
                  <a:solidFill>
                    <a:srgbClr val="16283D"/>
                  </a:solidFill>
                  <a:latin typeface="Aptos"/>
                  <a:ea typeface="Aptos"/>
                  <a:cs typeface="Aptos"/>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6283D"/>
                </a:solidFill>
                <a:latin typeface="Aptos"/>
                <a:ea typeface="Aptos"/>
                <a:cs typeface="Aptos"/>
              </a:defRPr>
            </a:pPr>
          </a:p>
        </c:txPr>
        <c:crossAx val="48672768"/>
      </c:catAx>
      <c:valAx>
        <c:axId val="48672768"/>
        <c:scaling>
          <c:orientation val="minMax"/>
          <c:max val="30"/>
          <c:min val="0"/>
        </c:scaling>
        <c:delete val="0"/>
        <c:axPos val="l"/>
        <c:majorGridlines>
          <c:spPr>
            <a:ln xmlns:a="http://schemas.openxmlformats.org/drawingml/2006/main" w="9525">
              <a:solidFill>
                <a:srgbClr val="D4DDE4"/>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26276"/>
                </a:solidFill>
                <a:latin typeface="Aptos"/>
                <a:ea typeface="Aptos"/>
                <a:cs typeface="Aptos"/>
              </a:defRPr>
            </a:pPr>
          </a:p>
        </c:txPr>
        <c:crossAx val="48650112"/>
        <c:crossBetween val="between"/>
      </c:valAx>
      <c:spPr>
        <a:solidFill xmlns:a="http://schemas.openxmlformats.org/drawingml/2006/main">
          <a:srgbClr val="F7F8FA"/>
        </a:solidFill>
      </c:spPr>
    </c:plotArea>
    <c:plotVisOnly val="1"/>
  </c:chart>
  <c:spPr>
    <a:solidFill xmlns:a="http://schemas.openxmlformats.org/drawingml/2006/main">
      <a:srgbClr val="F7F8FA"/>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6283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729FCC3-7B22-4CC8-B377-CC240C4F6A74}"/>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6283D"/>
                </a:solidFill>
                <a:latin typeface="Aptos"/>
                <a:ea typeface="Aptos"/>
                <a:cs typeface="Aptos"/>
              </a:defRPr>
            </a:defPPr>
          </a:lstStyle>
          <a:p xmlns:a="http://schemas.openxmlformats.org/drawingml/2006/main">
            <a:r>
              <a:t/>
            </a:r>
          </a:p>
        </p:txBody>
      </p:sp>
      <p:sp>
        <p:nvSpPr>
          <p:cNvPr id="2" name="">
            <a:extLst xmlns:a="http://schemas.openxmlformats.org/drawingml/2006/main">
              <a:ext uri="{FF2B5EF4-FFF2-40B4-BE49-F238E27FC236}">
                <a16:creationId xmlns:a16="http://schemas.microsoft.com/office/drawing/2014/main" id="{A8F95A75-9DCD-4D5F-BA60-B38230F68741}"/>
              </a:ext>
            </a:extLst>
          </p:cNvPr>
          <p:cNvSpPr>
            <a:spLocks xmlns:a="http://schemas.openxmlformats.org/drawingml/2006/main" noGrp="1"/>
          </p:cNvSpPr>
          <p:nvPr/>
        </p:nvSpPr>
        <p:spPr>
          <a:xfrm xmlns:a="http://schemas.openxmlformats.org/drawingml/2006/main">
            <a:off x="11144250" y="63341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276"/>
                </a:solidFill>
                <a:latin typeface="Aptos"/>
                <a:ea typeface="Aptos"/>
                <a:cs typeface="Aptos"/>
              </a:defRPr>
            </a:defPPr>
          </a:lstStyle>
          <a:p xmlns:a="http://schemas.openxmlformats.org/drawingml/2006/main">
            <a:pPr>
              <a:defRPr sz="1200" b="0">
                <a:solidFill>
                  <a:srgbClr val="526276"/>
                </a:solidFill>
                <a:latin typeface="Aptos"/>
                <a:ea typeface="Aptos"/>
                <a:cs typeface="Aptos"/>
              </a:defRPr>
            </a:pPr>
            <a:r>
              <a:rPr sz="1200" b="0">
                <a:solidFill>
                  <a:srgbClr val="526276"/>
                </a:solidFill>
                <a:latin typeface="Aptos"/>
                <a:ea typeface="Aptos"/>
                <a:cs typeface="Aptos"/>
              </a:rPr>
              <a:t>01</a:t>
            </a:r>
          </a:p>
        </p:txBody>
      </p:sp>
      <p:sp>
        <p:nvSpPr>
          <p:cNvPr id="3" name="">
            <a:extLst xmlns:a="http://schemas.openxmlformats.org/drawingml/2006/main">
              <a:ext uri="{FF2B5EF4-FFF2-40B4-BE49-F238E27FC236}">
                <a16:creationId xmlns:a16="http://schemas.microsoft.com/office/drawing/2014/main" id="{CE77F7F0-FDDB-42B2-8CC8-256D8B53CB19}"/>
              </a:ext>
            </a:extLst>
          </p:cNvPr>
          <p:cNvSpPr>
            <a:spLocks xmlns:a="http://schemas.openxmlformats.org/drawingml/2006/main" noGrp="1"/>
          </p:cNvSpPr>
          <p:nvPr/>
        </p:nvSpPr>
        <p:spPr>
          <a:xfrm xmlns:a="http://schemas.openxmlformats.org/drawingml/2006/main">
            <a:off x="704850" y="1143000"/>
            <a:ext cx="10763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275" b="1">
                <a:solidFill>
                  <a:srgbClr val="FFFFFF"/>
                </a:solidFill>
                <a:latin typeface="Aptos"/>
                <a:ea typeface="Aptos"/>
                <a:cs typeface="Aptos"/>
              </a:defRPr>
            </a:defPPr>
          </a:lstStyle>
          <a:p xmlns:a="http://schemas.openxmlformats.org/drawingml/2006/main">
            <a:pPr>
              <a:defRPr sz="4275" b="1">
                <a:solidFill>
                  <a:srgbClr val="FFFFFF"/>
                </a:solidFill>
                <a:latin typeface="Aptos"/>
                <a:ea typeface="Aptos"/>
                <a:cs typeface="Aptos"/>
              </a:defRPr>
            </a:pPr>
            <a:r>
              <a:rPr sz="4275" b="1">
                <a:solidFill>
                  <a:srgbClr val="FFFFFF"/>
                </a:solidFill>
                <a:latin typeface="Aptos"/>
                <a:ea typeface="Aptos"/>
                <a:cs typeface="Aptos"/>
              </a:rPr>
              <a:t>CXL memory profiling</a:t>
            </a:r>
          </a:p>
          <a:p xmlns:a="http://schemas.openxmlformats.org/drawingml/2006/main">
            <a:pPr>
              <a:defRPr sz="4275" b="1">
                <a:solidFill>
                  <a:srgbClr val="FFFFFF"/>
                </a:solidFill>
                <a:latin typeface="Aptos"/>
                <a:ea typeface="Aptos"/>
                <a:cs typeface="Aptos"/>
              </a:defRPr>
            </a:pPr>
            <a:r>
              <a:rPr sz="4275" b="1">
                <a:solidFill>
                  <a:srgbClr val="FFFFFF"/>
                </a:solidFill>
                <a:latin typeface="Aptos"/>
                <a:ea typeface="Aptos"/>
                <a:cs typeface="Aptos"/>
              </a:rPr>
              <a:t>and criticality-based placement</a:t>
            </a:r>
          </a:p>
        </p:txBody>
      </p:sp>
      <p:sp>
        <p:nvSpPr>
          <p:cNvPr id="4" name="">
            <a:extLst xmlns:a="http://schemas.openxmlformats.org/drawingml/2006/main">
              <a:ext uri="{FF2B5EF4-FFF2-40B4-BE49-F238E27FC236}">
                <a16:creationId xmlns:a16="http://schemas.microsoft.com/office/drawing/2014/main" id="{5EC2D115-CBA0-4699-9DD9-987550D82584}"/>
              </a:ext>
            </a:extLst>
          </p:cNvPr>
          <p:cNvSpPr>
            <a:spLocks xmlns:a="http://schemas.openxmlformats.org/drawingml/2006/main" noGrp="1"/>
          </p:cNvSpPr>
          <p:nvPr/>
        </p:nvSpPr>
        <p:spPr>
          <a:xfrm xmlns:a="http://schemas.openxmlformats.org/drawingml/2006/main">
            <a:off x="742950" y="3286125"/>
            <a:ext cx="1028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DCE5ED"/>
                </a:solidFill>
                <a:latin typeface="Aptos"/>
                <a:ea typeface="Aptos"/>
                <a:cs typeface="Aptos"/>
              </a:defRPr>
            </a:defPPr>
          </a:lstStyle>
          <a:p xmlns:a="http://schemas.openxmlformats.org/drawingml/2006/main">
            <a:pPr>
              <a:defRPr sz="2400" b="0">
                <a:solidFill>
                  <a:srgbClr val="DCE5ED"/>
                </a:solidFill>
                <a:latin typeface="Aptos"/>
                <a:ea typeface="Aptos"/>
                <a:cs typeface="Aptos"/>
              </a:defRPr>
            </a:pPr>
            <a:r>
              <a:rPr sz="2400" b="0">
                <a:solidFill>
                  <a:srgbClr val="DCE5ED"/>
                </a:solidFill>
                <a:latin typeface="Aptos"/>
                <a:ea typeface="Aptos"/>
                <a:cs typeface="Aptos"/>
              </a:rPr>
              <a:t>Progress review: profilers, workloads, architecture and results</a:t>
            </a:r>
          </a:p>
        </p:txBody>
      </p:sp>
      <p:sp>
        <p:nvSpPr>
          <p:cNvPr id="5" name="">
            <a:extLst xmlns:a="http://schemas.openxmlformats.org/drawingml/2006/main">
              <a:ext uri="{FF2B5EF4-FFF2-40B4-BE49-F238E27FC236}">
                <a16:creationId xmlns:a16="http://schemas.microsoft.com/office/drawing/2014/main" id="{CB284FE6-5BB8-4CC5-8A78-9739795C5AB3}"/>
              </a:ext>
            </a:extLst>
          </p:cNvPr>
          <p:cNvSpPr>
            <a:spLocks xmlns:a="http://schemas.openxmlformats.org/drawingml/2006/main" noGrp="1"/>
          </p:cNvSpPr>
          <p:nvPr/>
        </p:nvSpPr>
        <p:spPr>
          <a:xfrm xmlns:a="http://schemas.openxmlformats.org/drawingml/2006/main">
            <a:off x="742950" y="4714875"/>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7CD8D4"/>
                </a:solidFill>
                <a:latin typeface="Aptos"/>
                <a:ea typeface="Aptos"/>
                <a:cs typeface="Aptos"/>
              </a:defRPr>
            </a:defPPr>
          </a:lstStyle>
          <a:p xmlns:a="http://schemas.openxmlformats.org/drawingml/2006/main">
            <a:pPr>
              <a:defRPr sz="2325" b="1">
                <a:solidFill>
                  <a:srgbClr val="7CD8D4"/>
                </a:solidFill>
                <a:latin typeface="Aptos"/>
                <a:ea typeface="Aptos"/>
                <a:cs typeface="Aptos"/>
              </a:defRPr>
            </a:pPr>
            <a:r>
              <a:rPr sz="2325" b="1">
                <a:solidFill>
                  <a:srgbClr val="7CD8D4"/>
                </a:solidFill>
                <a:latin typeface="Aptos"/>
                <a:ea typeface="Aptos"/>
                <a:cs typeface="Aptos"/>
              </a:rPr>
              <a:t>23.95% runtime reduction in the controlled MLP-16 experiment</a:t>
            </a:r>
          </a:p>
        </p:txBody>
      </p:sp>
      <p:sp>
        <p:nvSpPr>
          <p:cNvPr id="6" name="">
            <a:extLst xmlns:a="http://schemas.openxmlformats.org/drawingml/2006/main">
              <a:ext uri="{FF2B5EF4-FFF2-40B4-BE49-F238E27FC236}">
                <a16:creationId xmlns:a16="http://schemas.microsoft.com/office/drawing/2014/main" id="{9D87584E-839C-4E9C-9B4C-5669039AD96C}"/>
              </a:ext>
            </a:extLst>
          </p:cNvPr>
          <p:cNvSpPr>
            <a:spLocks xmlns:a="http://schemas.openxmlformats.org/drawingml/2006/main" noGrp="1"/>
          </p:cNvSpPr>
          <p:nvPr/>
        </p:nvSpPr>
        <p:spPr>
          <a:xfrm xmlns:a="http://schemas.openxmlformats.org/drawingml/2006/main">
            <a:off x="742950" y="5848350"/>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DCE5ED"/>
                </a:solidFill>
                <a:latin typeface="Aptos"/>
                <a:ea typeface="Aptos"/>
                <a:cs typeface="Aptos"/>
              </a:defRPr>
            </a:defPPr>
          </a:lstStyle>
          <a:p xmlns:a="http://schemas.openxmlformats.org/drawingml/2006/main">
            <a:pPr>
              <a:defRPr sz="1650" b="0">
                <a:solidFill>
                  <a:srgbClr val="DCE5ED"/>
                </a:solidFill>
                <a:latin typeface="Aptos"/>
                <a:ea typeface="Aptos"/>
                <a:cs typeface="Aptos"/>
              </a:defRPr>
            </a:pPr>
            <a:r>
              <a:rPr sz="1650" b="0">
                <a:solidFill>
                  <a:srgbClr val="DCE5ED"/>
                </a:solidFill>
                <a:latin typeface="Aptos"/>
                <a:ea typeface="Aptos"/>
                <a:cs typeface="Aptos"/>
              </a:rPr>
              <a:t>Mahaswin  /  BTP progress review  /  13 October 2026</a:t>
            </a:r>
          </a:p>
        </p:txBody>
      </p:sp>
    </p:spTree>
    <p:extLst>
      <p:ext uri="{BB962C8B-B14F-4D97-AF65-F5344CB8AC3E}">
        <p14:creationId xmlns:p14="http://schemas.microsoft.com/office/powerpoint/2010/main" val="2142726444"/>
      </p:ext>
    </p:extLst>
  </p:cSld>
</p:sld>
</file>

<file path=ppt/slides/slide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25FCCCB-E97A-4B0E-8838-D7D1B0A671B9}"/>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6283D"/>
                </a:solidFill>
                <a:latin typeface="Aptos"/>
                <a:ea typeface="Aptos"/>
                <a:cs typeface="Aptos"/>
              </a:defRPr>
            </a:defPPr>
          </a:lstStyle>
          <a:p xmlns:a="http://schemas.openxmlformats.org/drawingml/2006/main">
            <a:pPr>
              <a:defRPr sz="3225" b="1">
                <a:solidFill>
                  <a:srgbClr val="16283D"/>
                </a:solidFill>
                <a:latin typeface="Aptos"/>
                <a:ea typeface="Aptos"/>
                <a:cs typeface="Aptos"/>
              </a:defRPr>
            </a:pPr>
            <a:r>
              <a:rPr sz="3225" b="1">
                <a:solidFill>
                  <a:srgbClr val="16283D"/>
                </a:solidFill>
                <a:latin typeface="Aptos"/>
                <a:ea typeface="Aptos"/>
                <a:cs typeface="Aptos"/>
              </a:rPr>
              <a:t>The question behind our profiling work</a:t>
            </a:r>
          </a:p>
        </p:txBody>
      </p:sp>
      <p:sp>
        <p:nvSpPr>
          <p:cNvPr id="2" name="">
            <a:extLst xmlns:a="http://schemas.openxmlformats.org/drawingml/2006/main">
              <a:ext uri="{FF2B5EF4-FFF2-40B4-BE49-F238E27FC236}">
                <a16:creationId xmlns:a16="http://schemas.microsoft.com/office/drawing/2014/main" id="{88579520-FA46-47F6-8C3A-6AFBFE5D1412}"/>
              </a:ext>
            </a:extLst>
          </p:cNvPr>
          <p:cNvSpPr>
            <a:spLocks xmlns:a="http://schemas.openxmlformats.org/drawingml/2006/main" noGrp="1"/>
          </p:cNvSpPr>
          <p:nvPr/>
        </p:nvSpPr>
        <p:spPr>
          <a:xfrm xmlns:a="http://schemas.openxmlformats.org/drawingml/2006/main">
            <a:off x="11144250" y="63341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276"/>
                </a:solidFill>
                <a:latin typeface="Aptos"/>
                <a:ea typeface="Aptos"/>
                <a:cs typeface="Aptos"/>
              </a:defRPr>
            </a:defPPr>
          </a:lstStyle>
          <a:p xmlns:a="http://schemas.openxmlformats.org/drawingml/2006/main">
            <a:pPr>
              <a:defRPr sz="1200" b="0">
                <a:solidFill>
                  <a:srgbClr val="526276"/>
                </a:solidFill>
                <a:latin typeface="Aptos"/>
                <a:ea typeface="Aptos"/>
                <a:cs typeface="Aptos"/>
              </a:defRPr>
            </a:pPr>
            <a:r>
              <a:rPr sz="1200" b="0">
                <a:solidFill>
                  <a:srgbClr val="526276"/>
                </a:solidFill>
                <a:latin typeface="Aptos"/>
                <a:ea typeface="Aptos"/>
                <a:cs typeface="Aptos"/>
              </a:rPr>
              <a:t>02</a:t>
            </a:r>
          </a:p>
        </p:txBody>
      </p:sp>
      <p:sp>
        <p:nvSpPr>
          <p:cNvPr id="3" name="">
            <a:extLst xmlns:a="http://schemas.openxmlformats.org/drawingml/2006/main">
              <a:ext uri="{FF2B5EF4-FFF2-40B4-BE49-F238E27FC236}">
                <a16:creationId xmlns:a16="http://schemas.microsoft.com/office/drawing/2014/main" id="{BAF4A909-3C09-4F5C-B207-33CD80C17296}"/>
              </a:ext>
            </a:extLst>
          </p:cNvPr>
          <p:cNvSpPr>
            <a:spLocks xmlns:a="http://schemas.openxmlformats.org/drawingml/2006/main" noGrp="1"/>
          </p:cNvSpPr>
          <p:nvPr/>
        </p:nvSpPr>
        <p:spPr>
          <a:xfrm xmlns:a="http://schemas.openxmlformats.org/drawingml/2006/main">
            <a:off x="609600" y="6315075"/>
            <a:ext cx="10287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276"/>
                </a:solidFill>
                <a:latin typeface="Aptos"/>
                <a:ea typeface="Aptos"/>
                <a:cs typeface="Aptos"/>
              </a:defRPr>
            </a:defPPr>
          </a:lstStyle>
          <a:p xmlns:a="http://schemas.openxmlformats.org/drawingml/2006/main">
            <a:pPr>
              <a:defRPr sz="1125" b="0">
                <a:solidFill>
                  <a:srgbClr val="526276"/>
                </a:solidFill>
                <a:latin typeface="Aptos"/>
                <a:ea typeface="Aptos"/>
                <a:cs typeface="Aptos"/>
              </a:defRPr>
            </a:pPr>
            <a:r>
              <a:rPr sz="1125" b="0">
                <a:solidFill>
                  <a:srgbClr val="526276"/>
                </a:solidFill>
                <a:latin typeface="Aptos"/>
                <a:ea typeface="Aptos"/>
                <a:cs typeface="Aptos"/>
              </a:rPr>
              <a:t>Source: README.md</a:t>
            </a:r>
          </a:p>
        </p:txBody>
      </p:sp>
      <p:sp>
        <p:nvSpPr>
          <p:cNvPr id="4" name="">
            <a:extLst xmlns:a="http://schemas.openxmlformats.org/drawingml/2006/main">
              <a:ext uri="{FF2B5EF4-FFF2-40B4-BE49-F238E27FC236}">
                <a16:creationId xmlns:a16="http://schemas.microsoft.com/office/drawing/2014/main" id="{E9A80BD1-0567-42A9-AAD2-44F4E1126525}"/>
              </a:ext>
            </a:extLst>
          </p:cNvPr>
          <p:cNvSpPr>
            <a:spLocks xmlns:a="http://schemas.openxmlformats.org/drawingml/2006/main" noGrp="1"/>
          </p:cNvSpPr>
          <p:nvPr/>
        </p:nvSpPr>
        <p:spPr>
          <a:xfrm xmlns:a="http://schemas.openxmlformats.org/drawingml/2006/main">
            <a:off x="628650" y="150495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6A75"/>
                </a:solidFill>
                <a:latin typeface="Aptos"/>
                <a:ea typeface="Aptos"/>
                <a:cs typeface="Aptos"/>
              </a:defRPr>
            </a:defPPr>
          </a:lstStyle>
          <a:p xmlns:a="http://schemas.openxmlformats.org/drawingml/2006/main">
            <a:pPr>
              <a:defRPr sz="1725" b="1">
                <a:solidFill>
                  <a:srgbClr val="006A75"/>
                </a:solidFill>
                <a:latin typeface="Aptos"/>
                <a:ea typeface="Aptos"/>
                <a:cs typeface="Aptos"/>
              </a:defRPr>
            </a:pPr>
            <a:r>
              <a:rPr sz="1725" b="1">
                <a:solidFill>
                  <a:srgbClr val="006A75"/>
                </a:solidFill>
                <a:latin typeface="Aptos"/>
                <a:ea typeface="Aptos"/>
                <a:cs typeface="Aptos"/>
              </a:rPr>
              <a:t>01</a:t>
            </a:r>
          </a:p>
        </p:txBody>
      </p:sp>
      <p:sp>
        <p:nvSpPr>
          <p:cNvPr id="5" name="">
            <a:extLst xmlns:a="http://schemas.openxmlformats.org/drawingml/2006/main">
              <a:ext uri="{FF2B5EF4-FFF2-40B4-BE49-F238E27FC236}">
                <a16:creationId xmlns:a16="http://schemas.microsoft.com/office/drawing/2014/main" id="{DFB39EA7-19A0-45E3-AA98-4471D9412AB7}"/>
              </a:ext>
            </a:extLst>
          </p:cNvPr>
          <p:cNvSpPr>
            <a:spLocks xmlns:a="http://schemas.openxmlformats.org/drawingml/2006/main" noGrp="1"/>
          </p:cNvSpPr>
          <p:nvPr/>
        </p:nvSpPr>
        <p:spPr>
          <a:xfrm xmlns:a="http://schemas.openxmlformats.org/drawingml/2006/main">
            <a:off x="1200150" y="148590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83D"/>
                </a:solidFill>
                <a:latin typeface="Aptos"/>
                <a:ea typeface="Aptos"/>
                <a:cs typeface="Aptos"/>
              </a:defRPr>
            </a:defPPr>
          </a:lstStyle>
          <a:p xmlns:a="http://schemas.openxmlformats.org/drawingml/2006/main">
            <a:pPr>
              <a:defRPr sz="2100" b="0">
                <a:solidFill>
                  <a:srgbClr val="16283D"/>
                </a:solidFill>
                <a:latin typeface="Aptos"/>
                <a:ea typeface="Aptos"/>
                <a:cs typeface="Aptos"/>
              </a:defRPr>
            </a:pPr>
            <a:r>
              <a:rPr sz="2100" b="0">
                <a:solidFill>
                  <a:srgbClr val="16283D"/>
                </a:solidFill>
                <a:latin typeface="Aptos"/>
                <a:ea typeface="Aptos"/>
                <a:cs typeface="Aptos"/>
              </a:rPr>
              <a:t>Fast DRAM has limited capacity. We want to place the pages whose access delays matter most to runtime in DRAM, while leaving less critical pages in CXL memory.</a:t>
            </a:r>
          </a:p>
        </p:txBody>
      </p:sp>
      <p:sp>
        <p:nvSpPr>
          <p:cNvPr id="6" name="">
            <a:extLst xmlns:a="http://schemas.openxmlformats.org/drawingml/2006/main">
              <a:ext uri="{FF2B5EF4-FFF2-40B4-BE49-F238E27FC236}">
                <a16:creationId xmlns:a16="http://schemas.microsoft.com/office/drawing/2014/main" id="{7A8A51E4-605B-41E9-93AA-9B2CC9DC8B8D}"/>
              </a:ext>
            </a:extLst>
          </p:cNvPr>
          <p:cNvSpPr>
            <a:spLocks xmlns:a="http://schemas.openxmlformats.org/drawingml/2006/main" noGrp="1"/>
          </p:cNvSpPr>
          <p:nvPr/>
        </p:nvSpPr>
        <p:spPr>
          <a:xfrm xmlns:a="http://schemas.openxmlformats.org/drawingml/2006/main">
            <a:off x="628650" y="260985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6A75"/>
                </a:solidFill>
                <a:latin typeface="Aptos"/>
                <a:ea typeface="Aptos"/>
                <a:cs typeface="Aptos"/>
              </a:defRPr>
            </a:defPPr>
          </a:lstStyle>
          <a:p xmlns:a="http://schemas.openxmlformats.org/drawingml/2006/main">
            <a:pPr>
              <a:defRPr sz="1725" b="1">
                <a:solidFill>
                  <a:srgbClr val="006A75"/>
                </a:solidFill>
                <a:latin typeface="Aptos"/>
                <a:ea typeface="Aptos"/>
                <a:cs typeface="Aptos"/>
              </a:defRPr>
            </a:pPr>
            <a:r>
              <a:rPr sz="1725" b="1">
                <a:solidFill>
                  <a:srgbClr val="006A75"/>
                </a:solidFill>
                <a:latin typeface="Aptos"/>
                <a:ea typeface="Aptos"/>
                <a:cs typeface="Aptos"/>
              </a:rPr>
              <a:t>02</a:t>
            </a:r>
          </a:p>
        </p:txBody>
      </p:sp>
      <p:sp>
        <p:nvSpPr>
          <p:cNvPr id="7" name="">
            <a:extLst xmlns:a="http://schemas.openxmlformats.org/drawingml/2006/main">
              <a:ext uri="{FF2B5EF4-FFF2-40B4-BE49-F238E27FC236}">
                <a16:creationId xmlns:a16="http://schemas.microsoft.com/office/drawing/2014/main" id="{9F67A725-D272-43BD-BB39-CDCC259DC9A0}"/>
              </a:ext>
            </a:extLst>
          </p:cNvPr>
          <p:cNvSpPr>
            <a:spLocks xmlns:a="http://schemas.openxmlformats.org/drawingml/2006/main" noGrp="1"/>
          </p:cNvSpPr>
          <p:nvPr/>
        </p:nvSpPr>
        <p:spPr>
          <a:xfrm xmlns:a="http://schemas.openxmlformats.org/drawingml/2006/main">
            <a:off x="1200150" y="259080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83D"/>
                </a:solidFill>
                <a:latin typeface="Aptos"/>
                <a:ea typeface="Aptos"/>
                <a:cs typeface="Aptos"/>
              </a:defRPr>
            </a:defPPr>
          </a:lstStyle>
          <a:p xmlns:a="http://schemas.openxmlformats.org/drawingml/2006/main">
            <a:pPr>
              <a:defRPr sz="2100" b="0">
                <a:solidFill>
                  <a:srgbClr val="16283D"/>
                </a:solidFill>
                <a:latin typeface="Aptos"/>
                <a:ea typeface="Aptos"/>
                <a:cs typeface="Aptos"/>
              </a:defRPr>
            </a:pPr>
            <a:r>
              <a:rPr sz="2100" b="0">
                <a:solidFill>
                  <a:srgbClr val="16283D"/>
                </a:solidFill>
                <a:latin typeface="Aptos"/>
                <a:ea typeface="Aptos"/>
                <a:cs typeface="Aptos"/>
              </a:rPr>
              <a:t>Access frequency tells us how often a page appears. It does not tell us how much of that page’s latency overlaps other memory requests or useful computation.</a:t>
            </a:r>
          </a:p>
        </p:txBody>
      </p:sp>
      <p:sp>
        <p:nvSpPr>
          <p:cNvPr id="8" name="">
            <a:extLst xmlns:a="http://schemas.openxmlformats.org/drawingml/2006/main">
              <a:ext uri="{FF2B5EF4-FFF2-40B4-BE49-F238E27FC236}">
                <a16:creationId xmlns:a16="http://schemas.microsoft.com/office/drawing/2014/main" id="{38873324-E25E-4C80-BB6C-8E6E595B7DD3}"/>
              </a:ext>
            </a:extLst>
          </p:cNvPr>
          <p:cNvSpPr>
            <a:spLocks xmlns:a="http://schemas.openxmlformats.org/drawingml/2006/main" noGrp="1"/>
          </p:cNvSpPr>
          <p:nvPr/>
        </p:nvSpPr>
        <p:spPr>
          <a:xfrm xmlns:a="http://schemas.openxmlformats.org/drawingml/2006/main">
            <a:off x="628650" y="371475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6A75"/>
                </a:solidFill>
                <a:latin typeface="Aptos"/>
                <a:ea typeface="Aptos"/>
                <a:cs typeface="Aptos"/>
              </a:defRPr>
            </a:defPPr>
          </a:lstStyle>
          <a:p xmlns:a="http://schemas.openxmlformats.org/drawingml/2006/main">
            <a:pPr>
              <a:defRPr sz="1725" b="1">
                <a:solidFill>
                  <a:srgbClr val="006A75"/>
                </a:solidFill>
                <a:latin typeface="Aptos"/>
                <a:ea typeface="Aptos"/>
                <a:cs typeface="Aptos"/>
              </a:defRPr>
            </a:pPr>
            <a:r>
              <a:rPr sz="1725" b="1">
                <a:solidFill>
                  <a:srgbClr val="006A75"/>
                </a:solidFill>
                <a:latin typeface="Aptos"/>
                <a:ea typeface="Aptos"/>
                <a:cs typeface="Aptos"/>
              </a:rPr>
              <a:t>03</a:t>
            </a:r>
          </a:p>
        </p:txBody>
      </p:sp>
      <p:sp>
        <p:nvSpPr>
          <p:cNvPr id="9" name="">
            <a:extLst xmlns:a="http://schemas.openxmlformats.org/drawingml/2006/main">
              <a:ext uri="{FF2B5EF4-FFF2-40B4-BE49-F238E27FC236}">
                <a16:creationId xmlns:a16="http://schemas.microsoft.com/office/drawing/2014/main" id="{6F95D1F3-9153-4E88-A0BE-B60A3F32ACE0}"/>
              </a:ext>
            </a:extLst>
          </p:cNvPr>
          <p:cNvSpPr>
            <a:spLocks xmlns:a="http://schemas.openxmlformats.org/drawingml/2006/main" noGrp="1"/>
          </p:cNvSpPr>
          <p:nvPr/>
        </p:nvSpPr>
        <p:spPr>
          <a:xfrm xmlns:a="http://schemas.openxmlformats.org/drawingml/2006/main">
            <a:off x="1200150" y="369570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83D"/>
                </a:solidFill>
                <a:latin typeface="Aptos"/>
                <a:ea typeface="Aptos"/>
                <a:cs typeface="Aptos"/>
              </a:defRPr>
            </a:defPPr>
          </a:lstStyle>
          <a:p xmlns:a="http://schemas.openxmlformats.org/drawingml/2006/main">
            <a:pPr>
              <a:defRPr sz="2100" b="0">
                <a:solidFill>
                  <a:srgbClr val="16283D"/>
                </a:solidFill>
                <a:latin typeface="Aptos"/>
                <a:ea typeface="Aptos"/>
                <a:cs typeface="Aptos"/>
              </a:defRPr>
            </a:pPr>
            <a:r>
              <a:rPr sz="2100" b="0">
                <a:solidFill>
                  <a:srgbClr val="16283D"/>
                </a:solidFill>
                <a:latin typeface="Aptos"/>
                <a:ea typeface="Aptos"/>
                <a:cs typeface="Aptos"/>
              </a:rPr>
              <a:t>Our work tests whether an MLP-weighted page score makes better placement decisions than frequency when both policies share the same capacity and migration rules.</a:t>
            </a:r>
          </a:p>
        </p:txBody>
      </p:sp>
      <p:sp>
        <p:nvSpPr>
          <p:cNvPr id="10" name="">
            <a:extLst xmlns:a="http://schemas.openxmlformats.org/drawingml/2006/main">
              <a:ext uri="{FF2B5EF4-FFF2-40B4-BE49-F238E27FC236}">
                <a16:creationId xmlns:a16="http://schemas.microsoft.com/office/drawing/2014/main" id="{87725624-5FBB-42DD-AC2B-AEB139AB22C1}"/>
              </a:ext>
            </a:extLst>
          </p:cNvPr>
          <p:cNvSpPr>
            <a:spLocks xmlns:a="http://schemas.openxmlformats.org/drawingml/2006/main" noGrp="1"/>
          </p:cNvSpPr>
          <p:nvPr/>
        </p:nvSpPr>
        <p:spPr>
          <a:xfrm xmlns:a="http://schemas.openxmlformats.org/drawingml/2006/main">
            <a:off x="628650" y="481965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6A75"/>
                </a:solidFill>
                <a:latin typeface="Aptos"/>
                <a:ea typeface="Aptos"/>
                <a:cs typeface="Aptos"/>
              </a:defRPr>
            </a:defPPr>
          </a:lstStyle>
          <a:p xmlns:a="http://schemas.openxmlformats.org/drawingml/2006/main">
            <a:pPr>
              <a:defRPr sz="1725" b="1">
                <a:solidFill>
                  <a:srgbClr val="006A75"/>
                </a:solidFill>
                <a:latin typeface="Aptos"/>
                <a:ea typeface="Aptos"/>
                <a:cs typeface="Aptos"/>
              </a:defRPr>
            </a:pPr>
            <a:r>
              <a:rPr sz="1725" b="1">
                <a:solidFill>
                  <a:srgbClr val="006A75"/>
                </a:solidFill>
                <a:latin typeface="Aptos"/>
                <a:ea typeface="Aptos"/>
                <a:cs typeface="Aptos"/>
              </a:rPr>
              <a:t>04</a:t>
            </a:r>
          </a:p>
        </p:txBody>
      </p:sp>
      <p:sp>
        <p:nvSpPr>
          <p:cNvPr id="11" name="">
            <a:extLst xmlns:a="http://schemas.openxmlformats.org/drawingml/2006/main">
              <a:ext uri="{FF2B5EF4-FFF2-40B4-BE49-F238E27FC236}">
                <a16:creationId xmlns:a16="http://schemas.microsoft.com/office/drawing/2014/main" id="{4C373C34-75DD-489E-BF58-86501C2C19BE}"/>
              </a:ext>
            </a:extLst>
          </p:cNvPr>
          <p:cNvSpPr>
            <a:spLocks xmlns:a="http://schemas.openxmlformats.org/drawingml/2006/main" noGrp="1"/>
          </p:cNvSpPr>
          <p:nvPr/>
        </p:nvSpPr>
        <p:spPr>
          <a:xfrm xmlns:a="http://schemas.openxmlformats.org/drawingml/2006/main">
            <a:off x="1200150" y="480060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83D"/>
                </a:solidFill>
                <a:latin typeface="Aptos"/>
                <a:ea typeface="Aptos"/>
                <a:cs typeface="Aptos"/>
              </a:defRPr>
            </a:defPPr>
          </a:lstStyle>
          <a:p xmlns:a="http://schemas.openxmlformats.org/drawingml/2006/main">
            <a:pPr>
              <a:defRPr sz="2100" b="0">
                <a:solidFill>
                  <a:srgbClr val="16283D"/>
                </a:solidFill>
                <a:latin typeface="Aptos"/>
                <a:ea typeface="Aptos"/>
                <a:cs typeface="Aptos"/>
              </a:defRPr>
            </a:pPr>
            <a:r>
              <a:rPr sz="2100" b="0">
                <a:solidFill>
                  <a:srgbClr val="16283D"/>
                </a:solidFill>
                <a:latin typeface="Aptos"/>
                <a:ea typeface="Aptos"/>
                <a:cs typeface="Aptos"/>
              </a:rPr>
              <a:t>The presentation separates measured native behavior, modeled replay of public traces, and controlled synthetic experiments that expose the scoring mechanism.</a:t>
            </a:r>
          </a:p>
        </p:txBody>
      </p:sp>
    </p:spTree>
    <p:extLst>
      <p:ext uri="{BB962C8B-B14F-4D97-AF65-F5344CB8AC3E}">
        <p14:creationId xmlns:p14="http://schemas.microsoft.com/office/powerpoint/2010/main" val="843679304"/>
      </p:ext>
    </p:extLst>
  </p:cSld>
</p:sld>
</file>

<file path=ppt/slides/slide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E31388C-0DDB-4515-A360-BFC58846FD90}"/>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6283D"/>
                </a:solidFill>
                <a:latin typeface="Aptos"/>
                <a:ea typeface="Aptos"/>
                <a:cs typeface="Aptos"/>
              </a:defRPr>
            </a:defPPr>
          </a:lstStyle>
          <a:p xmlns:a="http://schemas.openxmlformats.org/drawingml/2006/main">
            <a:pPr>
              <a:defRPr sz="3225" b="1">
                <a:solidFill>
                  <a:srgbClr val="16283D"/>
                </a:solidFill>
                <a:latin typeface="Aptos"/>
                <a:ea typeface="Aptos"/>
                <a:cs typeface="Aptos"/>
              </a:defRPr>
            </a:pPr>
            <a:r>
              <a:rPr sz="3225" b="1">
                <a:solidFill>
                  <a:srgbClr val="16283D"/>
                </a:solidFill>
                <a:latin typeface="Aptos"/>
                <a:ea typeface="Aptos"/>
                <a:cs typeface="Aptos"/>
              </a:rPr>
              <a:t>What we have completed so far</a:t>
            </a:r>
          </a:p>
        </p:txBody>
      </p:sp>
      <p:sp>
        <p:nvSpPr>
          <p:cNvPr id="2" name="">
            <a:extLst xmlns:a="http://schemas.openxmlformats.org/drawingml/2006/main">
              <a:ext uri="{FF2B5EF4-FFF2-40B4-BE49-F238E27FC236}">
                <a16:creationId xmlns:a16="http://schemas.microsoft.com/office/drawing/2014/main" id="{D8816E55-E832-4A9A-B469-4770C7A1B6E4}"/>
              </a:ext>
            </a:extLst>
          </p:cNvPr>
          <p:cNvSpPr>
            <a:spLocks xmlns:a="http://schemas.openxmlformats.org/drawingml/2006/main" noGrp="1"/>
          </p:cNvSpPr>
          <p:nvPr/>
        </p:nvSpPr>
        <p:spPr>
          <a:xfrm xmlns:a="http://schemas.openxmlformats.org/drawingml/2006/main">
            <a:off x="11144250" y="63341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276"/>
                </a:solidFill>
                <a:latin typeface="Aptos"/>
                <a:ea typeface="Aptos"/>
                <a:cs typeface="Aptos"/>
              </a:defRPr>
            </a:defPPr>
          </a:lstStyle>
          <a:p xmlns:a="http://schemas.openxmlformats.org/drawingml/2006/main">
            <a:pPr>
              <a:defRPr sz="1200" b="0">
                <a:solidFill>
                  <a:srgbClr val="526276"/>
                </a:solidFill>
                <a:latin typeface="Aptos"/>
                <a:ea typeface="Aptos"/>
                <a:cs typeface="Aptos"/>
              </a:defRPr>
            </a:pPr>
            <a:r>
              <a:rPr sz="1200" b="0">
                <a:solidFill>
                  <a:srgbClr val="526276"/>
                </a:solidFill>
                <a:latin typeface="Aptos"/>
                <a:ea typeface="Aptos"/>
                <a:cs typeface="Aptos"/>
              </a:rPr>
              <a:t>03</a:t>
            </a:r>
          </a:p>
        </p:txBody>
      </p:sp>
      <p:sp>
        <p:nvSpPr>
          <p:cNvPr id="3" name="">
            <a:extLst xmlns:a="http://schemas.openxmlformats.org/drawingml/2006/main">
              <a:ext uri="{FF2B5EF4-FFF2-40B4-BE49-F238E27FC236}">
                <a16:creationId xmlns:a16="http://schemas.microsoft.com/office/drawing/2014/main" id="{A9D37BB0-01C3-4263-A47B-1FC3B2EF51FA}"/>
              </a:ext>
            </a:extLst>
          </p:cNvPr>
          <p:cNvSpPr>
            <a:spLocks xmlns:a="http://schemas.openxmlformats.org/drawingml/2006/main" noGrp="1"/>
          </p:cNvSpPr>
          <p:nvPr/>
        </p:nvSpPr>
        <p:spPr>
          <a:xfrm xmlns:a="http://schemas.openxmlformats.org/drawingml/2006/main">
            <a:off x="609600" y="6315075"/>
            <a:ext cx="10287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276"/>
                </a:solidFill>
                <a:latin typeface="Aptos"/>
                <a:ea typeface="Aptos"/>
                <a:cs typeface="Aptos"/>
              </a:defRPr>
            </a:defPPr>
          </a:lstStyle>
          <a:p xmlns:a="http://schemas.openxmlformats.org/drawingml/2006/main">
            <a:pPr>
              <a:defRPr sz="1125" b="0">
                <a:solidFill>
                  <a:srgbClr val="526276"/>
                </a:solidFill>
                <a:latin typeface="Aptos"/>
                <a:ea typeface="Aptos"/>
                <a:cs typeface="Aptos"/>
              </a:defRPr>
            </a:pPr>
            <a:r>
              <a:rPr sz="1125" b="0">
                <a:solidFill>
                  <a:srgbClr val="526276"/>
                </a:solidFill>
                <a:latin typeface="Aptos"/>
                <a:ea typeface="Aptos"/>
                <a:cs typeface="Aptos"/>
              </a:rPr>
              <a:t>Source: README.md</a:t>
            </a:r>
          </a:p>
        </p:txBody>
      </p:sp>
      <p:sp>
        <p:nvSpPr>
          <p:cNvPr id="4" name="">
            <a:extLst xmlns:a="http://schemas.openxmlformats.org/drawingml/2006/main">
              <a:ext uri="{FF2B5EF4-FFF2-40B4-BE49-F238E27FC236}">
                <a16:creationId xmlns:a16="http://schemas.microsoft.com/office/drawing/2014/main" id="{380F622C-F67A-4D41-9A56-2440B765CD96}"/>
              </a:ext>
            </a:extLst>
          </p:cNvPr>
          <p:cNvSpPr>
            <a:spLocks xmlns:a="http://schemas.openxmlformats.org/drawingml/2006/main" noGrp="1"/>
          </p:cNvSpPr>
          <p:nvPr/>
        </p:nvSpPr>
        <p:spPr>
          <a:xfrm xmlns:a="http://schemas.openxmlformats.org/drawingml/2006/main">
            <a:off x="628650" y="150495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6A75"/>
                </a:solidFill>
                <a:latin typeface="Aptos"/>
                <a:ea typeface="Aptos"/>
                <a:cs typeface="Aptos"/>
              </a:defRPr>
            </a:defPPr>
          </a:lstStyle>
          <a:p xmlns:a="http://schemas.openxmlformats.org/drawingml/2006/main">
            <a:pPr>
              <a:defRPr sz="1725" b="1">
                <a:solidFill>
                  <a:srgbClr val="006A75"/>
                </a:solidFill>
                <a:latin typeface="Aptos"/>
                <a:ea typeface="Aptos"/>
                <a:cs typeface="Aptos"/>
              </a:defRPr>
            </a:pPr>
            <a:r>
              <a:rPr sz="1725" b="1">
                <a:solidFill>
                  <a:srgbClr val="006A75"/>
                </a:solidFill>
                <a:latin typeface="Aptos"/>
                <a:ea typeface="Aptos"/>
                <a:cs typeface="Aptos"/>
              </a:rPr>
              <a:t>01</a:t>
            </a:r>
          </a:p>
        </p:txBody>
      </p:sp>
      <p:sp>
        <p:nvSpPr>
          <p:cNvPr id="5" name="">
            <a:extLst xmlns:a="http://schemas.openxmlformats.org/drawingml/2006/main">
              <a:ext uri="{FF2B5EF4-FFF2-40B4-BE49-F238E27FC236}">
                <a16:creationId xmlns:a16="http://schemas.microsoft.com/office/drawing/2014/main" id="{B181BC91-832A-400B-80EB-289C0163C187}"/>
              </a:ext>
            </a:extLst>
          </p:cNvPr>
          <p:cNvSpPr>
            <a:spLocks xmlns:a="http://schemas.openxmlformats.org/drawingml/2006/main" noGrp="1"/>
          </p:cNvSpPr>
          <p:nvPr/>
        </p:nvSpPr>
        <p:spPr>
          <a:xfrm xmlns:a="http://schemas.openxmlformats.org/drawingml/2006/main">
            <a:off x="1200150" y="148590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83D"/>
                </a:solidFill>
                <a:latin typeface="Aptos"/>
                <a:ea typeface="Aptos"/>
                <a:cs typeface="Aptos"/>
              </a:defRPr>
            </a:defPPr>
          </a:lstStyle>
          <a:p xmlns:a="http://schemas.openxmlformats.org/drawingml/2006/main">
            <a:pPr>
              <a:defRPr sz="2100" b="0">
                <a:solidFill>
                  <a:srgbClr val="16283D"/>
                </a:solidFill>
                <a:latin typeface="Aptos"/>
                <a:ea typeface="Aptos"/>
                <a:cs typeface="Aptos"/>
              </a:defRPr>
            </a:pPr>
            <a:r>
              <a:rPr sz="2100" b="0">
                <a:solidFill>
                  <a:srgbClr val="16283D"/>
                </a:solidFill>
                <a:latin typeface="Aptos"/>
                <a:ea typeface="Aptos"/>
                <a:cs typeface="Aptos"/>
              </a:rPr>
              <a:t>We archived native profiling runs, workload launchers, machine settings, processing scripts and derived results. Seven workload families have five-run summaries.</a:t>
            </a:r>
          </a:p>
        </p:txBody>
      </p:sp>
      <p:sp>
        <p:nvSpPr>
          <p:cNvPr id="6" name="">
            <a:extLst xmlns:a="http://schemas.openxmlformats.org/drawingml/2006/main">
              <a:ext uri="{FF2B5EF4-FFF2-40B4-BE49-F238E27FC236}">
                <a16:creationId xmlns:a16="http://schemas.microsoft.com/office/drawing/2014/main" id="{CEC6A2A8-3437-4E97-A7BD-E7683C7EF47E}"/>
              </a:ext>
            </a:extLst>
          </p:cNvPr>
          <p:cNvSpPr>
            <a:spLocks xmlns:a="http://schemas.openxmlformats.org/drawingml/2006/main" noGrp="1"/>
          </p:cNvSpPr>
          <p:nvPr/>
        </p:nvSpPr>
        <p:spPr>
          <a:xfrm xmlns:a="http://schemas.openxmlformats.org/drawingml/2006/main">
            <a:off x="628650" y="260985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6A75"/>
                </a:solidFill>
                <a:latin typeface="Aptos"/>
                <a:ea typeface="Aptos"/>
                <a:cs typeface="Aptos"/>
              </a:defRPr>
            </a:defPPr>
          </a:lstStyle>
          <a:p xmlns:a="http://schemas.openxmlformats.org/drawingml/2006/main">
            <a:pPr>
              <a:defRPr sz="1725" b="1">
                <a:solidFill>
                  <a:srgbClr val="006A75"/>
                </a:solidFill>
                <a:latin typeface="Aptos"/>
                <a:ea typeface="Aptos"/>
                <a:cs typeface="Aptos"/>
              </a:defRPr>
            </a:pPr>
            <a:r>
              <a:rPr sz="1725" b="1">
                <a:solidFill>
                  <a:srgbClr val="006A75"/>
                </a:solidFill>
                <a:latin typeface="Aptos"/>
                <a:ea typeface="Aptos"/>
                <a:cs typeface="Aptos"/>
              </a:rPr>
              <a:t>02</a:t>
            </a:r>
          </a:p>
        </p:txBody>
      </p:sp>
      <p:sp>
        <p:nvSpPr>
          <p:cNvPr id="7" name="">
            <a:extLst xmlns:a="http://schemas.openxmlformats.org/drawingml/2006/main">
              <a:ext uri="{FF2B5EF4-FFF2-40B4-BE49-F238E27FC236}">
                <a16:creationId xmlns:a16="http://schemas.microsoft.com/office/drawing/2014/main" id="{EB13DA5A-2283-4163-97FB-95C4F18DCA9D}"/>
              </a:ext>
            </a:extLst>
          </p:cNvPr>
          <p:cNvSpPr>
            <a:spLocks xmlns:a="http://schemas.openxmlformats.org/drawingml/2006/main" noGrp="1"/>
          </p:cNvSpPr>
          <p:nvPr/>
        </p:nvSpPr>
        <p:spPr>
          <a:xfrm xmlns:a="http://schemas.openxmlformats.org/drawingml/2006/main">
            <a:off x="1200150" y="259080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83D"/>
                </a:solidFill>
                <a:latin typeface="Aptos"/>
                <a:ea typeface="Aptos"/>
                <a:cs typeface="Aptos"/>
              </a:defRPr>
            </a:defPPr>
          </a:lstStyle>
          <a:p xmlns:a="http://schemas.openxmlformats.org/drawingml/2006/main">
            <a:pPr>
              <a:defRPr sz="2100" b="0">
                <a:solidFill>
                  <a:srgbClr val="16283D"/>
                </a:solidFill>
                <a:latin typeface="Aptos"/>
                <a:ea typeface="Aptos"/>
                <a:cs typeface="Aptos"/>
              </a:defRPr>
            </a:pPr>
            <a:r>
              <a:rPr sz="2100" b="0">
                <a:solidFill>
                  <a:srgbClr val="16283D"/>
                </a:solidFill>
                <a:latin typeface="Aptos"/>
                <a:ea typeface="Aptos"/>
                <a:cs typeface="Aptos"/>
              </a:rPr>
              <a:t>We built analytical profilers for counterfactual criticality, trace dependency slack, static PAC scoring and continuous PAC-driven migration.</a:t>
            </a:r>
          </a:p>
        </p:txBody>
      </p:sp>
      <p:sp>
        <p:nvSpPr>
          <p:cNvPr id="8" name="">
            <a:extLst xmlns:a="http://schemas.openxmlformats.org/drawingml/2006/main">
              <a:ext uri="{FF2B5EF4-FFF2-40B4-BE49-F238E27FC236}">
                <a16:creationId xmlns:a16="http://schemas.microsoft.com/office/drawing/2014/main" id="{881B9C98-8716-4688-90F2-A73B17D3D52A}"/>
              </a:ext>
            </a:extLst>
          </p:cNvPr>
          <p:cNvSpPr>
            <a:spLocks xmlns:a="http://schemas.openxmlformats.org/drawingml/2006/main" noGrp="1"/>
          </p:cNvSpPr>
          <p:nvPr/>
        </p:nvSpPr>
        <p:spPr>
          <a:xfrm xmlns:a="http://schemas.openxmlformats.org/drawingml/2006/main">
            <a:off x="628650" y="371475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6A75"/>
                </a:solidFill>
                <a:latin typeface="Aptos"/>
                <a:ea typeface="Aptos"/>
                <a:cs typeface="Aptos"/>
              </a:defRPr>
            </a:defPPr>
          </a:lstStyle>
          <a:p xmlns:a="http://schemas.openxmlformats.org/drawingml/2006/main">
            <a:pPr>
              <a:defRPr sz="1725" b="1">
                <a:solidFill>
                  <a:srgbClr val="006A75"/>
                </a:solidFill>
                <a:latin typeface="Aptos"/>
                <a:ea typeface="Aptos"/>
                <a:cs typeface="Aptos"/>
              </a:defRPr>
            </a:pPr>
            <a:r>
              <a:rPr sz="1725" b="1">
                <a:solidFill>
                  <a:srgbClr val="006A75"/>
                </a:solidFill>
                <a:latin typeface="Aptos"/>
                <a:ea typeface="Aptos"/>
                <a:cs typeface="Aptos"/>
              </a:rPr>
              <a:t>03</a:t>
            </a:r>
          </a:p>
        </p:txBody>
      </p:sp>
      <p:sp>
        <p:nvSpPr>
          <p:cNvPr id="9" name="">
            <a:extLst xmlns:a="http://schemas.openxmlformats.org/drawingml/2006/main">
              <a:ext uri="{FF2B5EF4-FFF2-40B4-BE49-F238E27FC236}">
                <a16:creationId xmlns:a16="http://schemas.microsoft.com/office/drawing/2014/main" id="{5E0C5FEF-7DC1-4E32-B03A-7C38B67B9771}"/>
              </a:ext>
            </a:extLst>
          </p:cNvPr>
          <p:cNvSpPr>
            <a:spLocks xmlns:a="http://schemas.openxmlformats.org/drawingml/2006/main" noGrp="1"/>
          </p:cNvSpPr>
          <p:nvPr/>
        </p:nvSpPr>
        <p:spPr>
          <a:xfrm xmlns:a="http://schemas.openxmlformats.org/drawingml/2006/main">
            <a:off x="1200150" y="369570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83D"/>
                </a:solidFill>
                <a:latin typeface="Aptos"/>
                <a:ea typeface="Aptos"/>
                <a:cs typeface="Aptos"/>
              </a:defRPr>
            </a:defPPr>
          </a:lstStyle>
          <a:p xmlns:a="http://schemas.openxmlformats.org/drawingml/2006/main">
            <a:pPr>
              <a:defRPr sz="2100" b="0">
                <a:solidFill>
                  <a:srgbClr val="16283D"/>
                </a:solidFill>
                <a:latin typeface="Aptos"/>
                <a:ea typeface="Aptos"/>
                <a:cs typeface="Aptos"/>
              </a:defRPr>
            </a:pPr>
            <a:r>
              <a:rPr sz="2100" b="0">
                <a:solidFill>
                  <a:srgbClr val="16283D"/>
                </a:solidFill>
                <a:latin typeface="Aptos"/>
                <a:ea typeface="Aptos"/>
                <a:cs typeface="Aptos"/>
              </a:rPr>
              <a:t>We added streaming execution and a compact memory-event cache so longer public traces can be compared without repeatedly decoding the raw instruction stream.</a:t>
            </a:r>
          </a:p>
        </p:txBody>
      </p:sp>
      <p:sp>
        <p:nvSpPr>
          <p:cNvPr id="10" name="">
            <a:extLst xmlns:a="http://schemas.openxmlformats.org/drawingml/2006/main">
              <a:ext uri="{FF2B5EF4-FFF2-40B4-BE49-F238E27FC236}">
                <a16:creationId xmlns:a16="http://schemas.microsoft.com/office/drawing/2014/main" id="{D1AF10A8-93C5-4D06-8C81-BA10D0BB56AE}"/>
              </a:ext>
            </a:extLst>
          </p:cNvPr>
          <p:cNvSpPr>
            <a:spLocks xmlns:a="http://schemas.openxmlformats.org/drawingml/2006/main" noGrp="1"/>
          </p:cNvSpPr>
          <p:nvPr/>
        </p:nvSpPr>
        <p:spPr>
          <a:xfrm xmlns:a="http://schemas.openxmlformats.org/drawingml/2006/main">
            <a:off x="628650" y="481965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6A75"/>
                </a:solidFill>
                <a:latin typeface="Aptos"/>
                <a:ea typeface="Aptos"/>
                <a:cs typeface="Aptos"/>
              </a:defRPr>
            </a:defPPr>
          </a:lstStyle>
          <a:p xmlns:a="http://schemas.openxmlformats.org/drawingml/2006/main">
            <a:pPr>
              <a:defRPr sz="1725" b="1">
                <a:solidFill>
                  <a:srgbClr val="006A75"/>
                </a:solidFill>
                <a:latin typeface="Aptos"/>
                <a:ea typeface="Aptos"/>
                <a:cs typeface="Aptos"/>
              </a:defRPr>
            </a:pPr>
            <a:r>
              <a:rPr sz="1725" b="1">
                <a:solidFill>
                  <a:srgbClr val="006A75"/>
                </a:solidFill>
                <a:latin typeface="Aptos"/>
                <a:ea typeface="Aptos"/>
                <a:cs typeface="Aptos"/>
              </a:rPr>
              <a:t>04</a:t>
            </a:r>
          </a:p>
        </p:txBody>
      </p:sp>
      <p:sp>
        <p:nvSpPr>
          <p:cNvPr id="11" name="">
            <a:extLst xmlns:a="http://schemas.openxmlformats.org/drawingml/2006/main">
              <a:ext uri="{FF2B5EF4-FFF2-40B4-BE49-F238E27FC236}">
                <a16:creationId xmlns:a16="http://schemas.microsoft.com/office/drawing/2014/main" id="{166236CF-FB52-4582-9C20-7976F3F8D73E}"/>
              </a:ext>
            </a:extLst>
          </p:cNvPr>
          <p:cNvSpPr>
            <a:spLocks xmlns:a="http://schemas.openxmlformats.org/drawingml/2006/main" noGrp="1"/>
          </p:cNvSpPr>
          <p:nvPr/>
        </p:nvSpPr>
        <p:spPr>
          <a:xfrm xmlns:a="http://schemas.openxmlformats.org/drawingml/2006/main">
            <a:off x="1200150" y="480060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83D"/>
                </a:solidFill>
                <a:latin typeface="Aptos"/>
                <a:ea typeface="Aptos"/>
                <a:cs typeface="Aptos"/>
              </a:defRPr>
            </a:defPPr>
          </a:lstStyle>
          <a:p xmlns:a="http://schemas.openxmlformats.org/drawingml/2006/main">
            <a:pPr>
              <a:defRPr sz="2100" b="0">
                <a:solidFill>
                  <a:srgbClr val="16283D"/>
                </a:solidFill>
                <a:latin typeface="Aptos"/>
                <a:ea typeface="Aptos"/>
                <a:cs typeface="Aptos"/>
              </a:defRPr>
            </a:pPr>
            <a:r>
              <a:rPr sz="2100" b="0">
                <a:solidFill>
                  <a:srgbClr val="16283D"/>
                </a:solidFill>
                <a:latin typeface="Aptos"/>
                <a:ea typeface="Aptos"/>
                <a:cs typeface="Aptos"/>
              </a:rPr>
              <a:t>We audited PACT data and policy differences, retained real-trace controls, and designed variable-MLP streams that demonstrate more than 20% modeled improvement.</a:t>
            </a:r>
          </a:p>
        </p:txBody>
      </p:sp>
    </p:spTree>
    <p:extLst>
      <p:ext uri="{BB962C8B-B14F-4D97-AF65-F5344CB8AC3E}">
        <p14:creationId xmlns:p14="http://schemas.microsoft.com/office/powerpoint/2010/main" val="523322789"/>
      </p:ext>
    </p:extLst>
  </p:cSld>
</p:sld>
</file>

<file path=ppt/slides/slide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C10DCAA-0C37-48DB-93B6-C0BEB6111BFC}"/>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6283D"/>
                </a:solidFill>
                <a:latin typeface="Aptos"/>
                <a:ea typeface="Aptos"/>
                <a:cs typeface="Aptos"/>
              </a:defRPr>
            </a:defPPr>
          </a:lstStyle>
          <a:p xmlns:a="http://schemas.openxmlformats.org/drawingml/2006/main">
            <a:pPr>
              <a:defRPr sz="3225" b="1">
                <a:solidFill>
                  <a:srgbClr val="16283D"/>
                </a:solidFill>
                <a:latin typeface="Aptos"/>
                <a:ea typeface="Aptos"/>
                <a:cs typeface="Aptos"/>
              </a:defRPr>
            </a:pPr>
            <a:r>
              <a:rPr sz="3225" b="1">
                <a:solidFill>
                  <a:srgbClr val="16283D"/>
                </a:solidFill>
                <a:latin typeface="Aptos"/>
                <a:ea typeface="Aptos"/>
                <a:cs typeface="Aptos"/>
              </a:rPr>
              <a:t>Profilers and execution models evaluated</a:t>
            </a:r>
          </a:p>
        </p:txBody>
      </p:sp>
      <p:sp>
        <p:nvSpPr>
          <p:cNvPr id="2" name="">
            <a:extLst xmlns:a="http://schemas.openxmlformats.org/drawingml/2006/main">
              <a:ext uri="{FF2B5EF4-FFF2-40B4-BE49-F238E27FC236}">
                <a16:creationId xmlns:a16="http://schemas.microsoft.com/office/drawing/2014/main" id="{88FBEDD5-9764-4FB8-8796-C80AF7D77239}"/>
              </a:ext>
            </a:extLst>
          </p:cNvPr>
          <p:cNvSpPr>
            <a:spLocks xmlns:a="http://schemas.openxmlformats.org/drawingml/2006/main" noGrp="1"/>
          </p:cNvSpPr>
          <p:nvPr/>
        </p:nvSpPr>
        <p:spPr>
          <a:xfrm xmlns:a="http://schemas.openxmlformats.org/drawingml/2006/main">
            <a:off x="11144250" y="63341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276"/>
                </a:solidFill>
                <a:latin typeface="Aptos"/>
                <a:ea typeface="Aptos"/>
                <a:cs typeface="Aptos"/>
              </a:defRPr>
            </a:defPPr>
          </a:lstStyle>
          <a:p xmlns:a="http://schemas.openxmlformats.org/drawingml/2006/main">
            <a:pPr>
              <a:defRPr sz="1200" b="0">
                <a:solidFill>
                  <a:srgbClr val="526276"/>
                </a:solidFill>
                <a:latin typeface="Aptos"/>
                <a:ea typeface="Aptos"/>
                <a:cs typeface="Aptos"/>
              </a:defRPr>
            </a:pPr>
            <a:r>
              <a:rPr sz="1200" b="0">
                <a:solidFill>
                  <a:srgbClr val="526276"/>
                </a:solidFill>
                <a:latin typeface="Aptos"/>
                <a:ea typeface="Aptos"/>
                <a:cs typeface="Aptos"/>
              </a:rPr>
              <a:t>04</a:t>
            </a:r>
          </a:p>
        </p:txBody>
      </p:sp>
      <p:sp>
        <p:nvSpPr>
          <p:cNvPr id="3" name="">
            <a:extLst xmlns:a="http://schemas.openxmlformats.org/drawingml/2006/main">
              <a:ext uri="{FF2B5EF4-FFF2-40B4-BE49-F238E27FC236}">
                <a16:creationId xmlns:a16="http://schemas.microsoft.com/office/drawing/2014/main" id="{0D50E8B8-C369-4761-9447-57FFA348951A}"/>
              </a:ext>
            </a:extLst>
          </p:cNvPr>
          <p:cNvSpPr>
            <a:spLocks xmlns:a="http://schemas.openxmlformats.org/drawingml/2006/main" noGrp="1"/>
          </p:cNvSpPr>
          <p:nvPr/>
        </p:nvSpPr>
        <p:spPr>
          <a:xfrm xmlns:a="http://schemas.openxmlformats.org/drawingml/2006/main">
            <a:off x="609600" y="6315075"/>
            <a:ext cx="10287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276"/>
                </a:solidFill>
                <a:latin typeface="Aptos"/>
                <a:ea typeface="Aptos"/>
                <a:cs typeface="Aptos"/>
              </a:defRPr>
            </a:defPPr>
          </a:lstStyle>
          <a:p xmlns:a="http://schemas.openxmlformats.org/drawingml/2006/main">
            <a:pPr>
              <a:defRPr sz="1125" b="0">
                <a:solidFill>
                  <a:srgbClr val="526276"/>
                </a:solidFill>
                <a:latin typeface="Aptos"/>
                <a:ea typeface="Aptos"/>
                <a:cs typeface="Aptos"/>
              </a:defRPr>
            </a:pPr>
            <a:r>
              <a:rPr sz="1125" b="0">
                <a:solidFill>
                  <a:srgbClr val="526276"/>
                </a:solidFill>
                <a:latin typeface="Aptos"/>
                <a:ea typeface="Aptos"/>
                <a:cs typeface="Aptos"/>
              </a:rPr>
              <a:t>Source: README.md</a:t>
            </a:r>
          </a:p>
        </p:txBody>
      </p:sp>
      <p:graphicFrame>
        <p:nvGraphicFramePr>
          <p:cNvPr id="4" name="">
            <a:extLst xmlns:a="http://schemas.openxmlformats.org/drawingml/2006/main">
              <a:ext uri="{FF2B5EF4-FFF2-40B4-BE49-F238E27FC236}">
                <a16:creationId xmlns:a16="http://schemas.microsoft.com/office/drawing/2014/main" id="{373788D5-A1A4-4A9E-A027-1EFB40C0241F}"/>
              </a:ext>
            </a:extLst>
          </p:cNvPr>
          <p:cNvGraphicFramePr/>
          <p:nvPr/>
        </p:nvGraphicFramePr>
        <p:xfrm>
          <a:off xmlns:a="http://schemas.openxmlformats.org/drawingml/2006/main" x="609600" y="1504950"/>
          <a:ext xmlns:a="http://schemas.openxmlformats.org/drawingml/2006/main" cx="10972800" cy="4000500"/>
        </p:xfrm>
        <a:graphic xmlns:a="http://schemas.openxmlformats.org/drawingml/2006/main">
          <a:graphicData uri="http://schemas.openxmlformats.org/drawingml/2006/table">
            <a:tbl>
              <a:tblPr/>
              <a:tblGrid>
                <a:gridCol w="2952750"/>
                <a:gridCol w="4572000"/>
                <a:gridCol w="3448050"/>
              </a:tblGrid>
              <a:tr h="666750">
                <a:tc>
                  <a:txBody>
                    <a:bodyPr/>
                    <a:lstStyle/>
                    <a:p>
                      <a:r>
                        <a:rPr sz="1725" b="1">
                          <a:solidFill>
                            <a:srgbClr val="FFFFFF"/>
                          </a:solidFill>
                          <a:latin typeface="Aptos"/>
                          <a:ea typeface="Aptos"/>
                          <a:cs typeface="Aptos"/>
                        </a:rPr>
                        <a:t>Approach</a:t>
                      </a:r>
                    </a:p>
                  </a:txBody>
                  <a:tcPr marL="114300" marR="114300" marT="47625" marB="47625">
                    <a:lnL w="9525">
                      <a:solidFill>
                        <a:srgbClr val="D4DDE4"/>
                      </a:solidFill>
                      <a:prstDash val="solid"/>
                    </a:lnL>
                    <a:lnR w="9525">
                      <a:solidFill>
                        <a:srgbClr val="D4DDE4"/>
                      </a:solidFill>
                      <a:prstDash val="solid"/>
                    </a:lnR>
                    <a:lnT w="9525">
                      <a:solidFill>
                        <a:srgbClr val="D4DDE4"/>
                      </a:solidFill>
                      <a:prstDash val="solid"/>
                    </a:lnT>
                    <a:lnB w="9525">
                      <a:solidFill>
                        <a:srgbClr val="D4DDE4"/>
                      </a:solidFill>
                      <a:prstDash val="solid"/>
                    </a:lnB>
                    <a:solidFill>
                      <a:srgbClr val="006A75"/>
                    </a:solidFill>
                  </a:tcPr>
                </a:tc>
                <a:tc>
                  <a:txBody>
                    <a:bodyPr/>
                    <a:lstStyle/>
                    <a:p>
                      <a:r>
                        <a:rPr sz="1725" b="1">
                          <a:solidFill>
                            <a:srgbClr val="FFFFFF"/>
                          </a:solidFill>
                          <a:latin typeface="Aptos"/>
                          <a:ea typeface="Aptos"/>
                          <a:cs typeface="Aptos"/>
                        </a:rPr>
                        <a:t>Signal and purpose</a:t>
                      </a:r>
                    </a:p>
                  </a:txBody>
                  <a:tcPr marL="114300" marR="114300" marT="47625" marB="47625">
                    <a:lnR w="9525">
                      <a:solidFill>
                        <a:srgbClr val="D4DDE4"/>
                      </a:solidFill>
                      <a:prstDash val="solid"/>
                    </a:lnR>
                    <a:lnT w="9525">
                      <a:solidFill>
                        <a:srgbClr val="D4DDE4"/>
                      </a:solidFill>
                      <a:prstDash val="solid"/>
                    </a:lnT>
                    <a:lnB w="9525">
                      <a:solidFill>
                        <a:srgbClr val="D4DDE4"/>
                      </a:solidFill>
                      <a:prstDash val="solid"/>
                    </a:lnB>
                    <a:solidFill>
                      <a:srgbClr val="006A75"/>
                    </a:solidFill>
                  </a:tcPr>
                </a:tc>
                <a:tc>
                  <a:txBody>
                    <a:bodyPr/>
                    <a:lstStyle/>
                    <a:p>
                      <a:r>
                        <a:rPr sz="1725" b="1">
                          <a:solidFill>
                            <a:srgbClr val="FFFFFF"/>
                          </a:solidFill>
                          <a:latin typeface="Aptos"/>
                          <a:ea typeface="Aptos"/>
                          <a:cs typeface="Aptos"/>
                        </a:rPr>
                        <a:t>Main boundary</a:t>
                      </a:r>
                    </a:p>
                  </a:txBody>
                  <a:tcPr marL="114300" marR="114300" marT="47625" marB="47625">
                    <a:lnR w="9525">
                      <a:solidFill>
                        <a:srgbClr val="D4DDE4"/>
                      </a:solidFill>
                      <a:prstDash val="solid"/>
                    </a:lnR>
                    <a:lnT w="9525">
                      <a:solidFill>
                        <a:srgbClr val="D4DDE4"/>
                      </a:solidFill>
                      <a:prstDash val="solid"/>
                    </a:lnT>
                    <a:lnB w="9525">
                      <a:solidFill>
                        <a:srgbClr val="D4DDE4"/>
                      </a:solidFill>
                      <a:prstDash val="solid"/>
                    </a:lnB>
                    <a:solidFill>
                      <a:srgbClr val="006A75"/>
                    </a:solidFill>
                  </a:tcPr>
                </a:tc>
              </a:tr>
              <a:tr h="666750">
                <a:tc>
                  <a:txBody>
                    <a:bodyPr/>
                    <a:lstStyle/>
                    <a:p>
                      <a:r>
                        <a:rPr sz="1725">
                          <a:solidFill>
                            <a:srgbClr val="16283D"/>
                          </a:solidFill>
                          <a:latin typeface="Aptos"/>
                          <a:ea typeface="Aptos"/>
                          <a:cs typeface="Aptos"/>
                        </a:rPr>
                        <a:t>Linux perf stat</a:t>
                      </a:r>
                    </a:p>
                  </a:txBody>
                  <a:tcPr marL="114300" marR="114300" marT="47625" marB="47625">
                    <a:lnL w="9525">
                      <a:solidFill>
                        <a:srgbClr val="D4DDE4"/>
                      </a:solidFill>
                      <a:prstDash val="solid"/>
                    </a:lnL>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IPC, cache, memory and TLB counters</a:t>
                      </a:r>
                    </a:p>
                  </a:txBody>
                  <a:tcPr marL="114300" marR="114300" marT="47625" marB="47625">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Aggregate native behavior</a:t>
                      </a:r>
                    </a:p>
                  </a:txBody>
                  <a:tcPr marL="114300" marR="114300" marT="47625" marB="47625">
                    <a:lnR w="9525">
                      <a:solidFill>
                        <a:srgbClr val="D4DDE4"/>
                      </a:solidFill>
                      <a:prstDash val="solid"/>
                    </a:lnR>
                    <a:lnB w="9525">
                      <a:solidFill>
                        <a:srgbClr val="D4DDE4"/>
                      </a:solidFill>
                      <a:prstDash val="solid"/>
                    </a:lnB>
                  </a:tcPr>
                </a:tc>
              </a:tr>
              <a:tr h="666750">
                <a:tc>
                  <a:txBody>
                    <a:bodyPr/>
                    <a:lstStyle/>
                    <a:p>
                      <a:r>
                        <a:rPr sz="1725">
                          <a:solidFill>
                            <a:srgbClr val="16283D"/>
                          </a:solidFill>
                          <a:latin typeface="Aptos"/>
                          <a:ea typeface="Aptos"/>
                          <a:cs typeface="Aptos"/>
                        </a:rPr>
                        <a:t>Phase/lane profiler</a:t>
                      </a:r>
                    </a:p>
                  </a:txBody>
                  <a:tcPr marL="114300" marR="114300" marT="47625" marB="47625">
                    <a:lnL w="9525">
                      <a:solidFill>
                        <a:srgbClr val="D4DDE4"/>
                      </a:solidFill>
                      <a:prstDash val="solid"/>
                    </a:lnL>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Counterfactual page benefit</a:t>
                      </a:r>
                    </a:p>
                  </a:txBody>
                  <a:tcPr marL="114300" marR="114300" marT="47625" marB="47625">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Idealized overlap, static placement</a:t>
                      </a:r>
                    </a:p>
                  </a:txBody>
                  <a:tcPr marL="114300" marR="114300" marT="47625" marB="47625">
                    <a:lnR w="9525">
                      <a:solidFill>
                        <a:srgbClr val="D4DDE4"/>
                      </a:solidFill>
                      <a:prstDash val="solid"/>
                    </a:lnR>
                    <a:lnB w="9525">
                      <a:solidFill>
                        <a:srgbClr val="D4DDE4"/>
                      </a:solidFill>
                      <a:prstDash val="solid"/>
                    </a:lnB>
                  </a:tcPr>
                </a:tc>
              </a:tr>
              <a:tr h="666750">
                <a:tc>
                  <a:txBody>
                    <a:bodyPr/>
                    <a:lstStyle/>
                    <a:p>
                      <a:r>
                        <a:rPr sz="1725">
                          <a:solidFill>
                            <a:srgbClr val="16283D"/>
                          </a:solidFill>
                          <a:latin typeface="Aptos"/>
                          <a:ea typeface="Aptos"/>
                          <a:cs typeface="Aptos"/>
                        </a:rPr>
                        <a:t>Instruction trace profiler</a:t>
                      </a:r>
                    </a:p>
                  </a:txBody>
                  <a:tcPr marL="114300" marR="114300" marT="47625" marB="47625">
                    <a:lnL w="9525">
                      <a:solidFill>
                        <a:srgbClr val="D4DDE4"/>
                      </a:solidFill>
                      <a:prstDash val="solid"/>
                    </a:lnL>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Dependencies and slack, then PAC</a:t>
                      </a:r>
                    </a:p>
                  </a:txBody>
                  <a:tcPr marL="114300" marR="114300" marT="47625" marB="47625">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Simplified cache and CPU timing</a:t>
                      </a:r>
                    </a:p>
                  </a:txBody>
                  <a:tcPr marL="114300" marR="114300" marT="47625" marB="47625">
                    <a:lnR w="9525">
                      <a:solidFill>
                        <a:srgbClr val="D4DDE4"/>
                      </a:solidFill>
                      <a:prstDash val="solid"/>
                    </a:lnR>
                    <a:lnB w="9525">
                      <a:solidFill>
                        <a:srgbClr val="D4DDE4"/>
                      </a:solidFill>
                      <a:prstDash val="solid"/>
                    </a:lnB>
                  </a:tcPr>
                </a:tc>
              </a:tr>
              <a:tr h="666750">
                <a:tc>
                  <a:txBody>
                    <a:bodyPr/>
                    <a:lstStyle/>
                    <a:p>
                      <a:r>
                        <a:rPr sz="1725">
                          <a:solidFill>
                            <a:srgbClr val="16283D"/>
                          </a:solidFill>
                          <a:latin typeface="Aptos"/>
                          <a:ea typeface="Aptos"/>
                          <a:cs typeface="Aptos"/>
                        </a:rPr>
                        <a:t>Dynamic + streaming profiler</a:t>
                      </a:r>
                    </a:p>
                  </a:txBody>
                  <a:tcPr marL="114300" marR="114300" marT="47625" marB="47625">
                    <a:lnL w="9525">
                      <a:solidFill>
                        <a:srgbClr val="D4DDE4"/>
                      </a:solidFill>
                      <a:prstDash val="solid"/>
                    </a:lnL>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Causal PAC updates and migration</a:t>
                      </a:r>
                    </a:p>
                  </a:txBody>
                  <a:tcPr marL="114300" marR="114300" marT="47625" marB="47625">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Synchronous analytical copies</a:t>
                      </a:r>
                    </a:p>
                  </a:txBody>
                  <a:tcPr marL="114300" marR="114300" marT="47625" marB="47625">
                    <a:lnR w="9525">
                      <a:solidFill>
                        <a:srgbClr val="D4DDE4"/>
                      </a:solidFill>
                      <a:prstDash val="solid"/>
                    </a:lnR>
                    <a:lnB w="9525">
                      <a:solidFill>
                        <a:srgbClr val="D4DDE4"/>
                      </a:solidFill>
                      <a:prstDash val="solid"/>
                    </a:lnB>
                  </a:tcPr>
                </a:tc>
              </a:tr>
              <a:tr h="666750">
                <a:tc>
                  <a:txBody>
                    <a:bodyPr/>
                    <a:lstStyle/>
                    <a:p>
                      <a:r>
                        <a:rPr sz="1725">
                          <a:solidFill>
                            <a:srgbClr val="16283D"/>
                          </a:solidFill>
                          <a:latin typeface="Aptos"/>
                          <a:ea typeface="Aptos"/>
                          <a:cs typeface="Aptos"/>
                        </a:rPr>
                        <a:t>Compact + synthetic engines</a:t>
                      </a:r>
                    </a:p>
                  </a:txBody>
                  <a:tcPr marL="114300" marR="114300" marT="47625" marB="47625">
                    <a:lnL w="9525">
                      <a:solidFill>
                        <a:srgbClr val="D4DDE4"/>
                      </a:solidFill>
                      <a:prstDash val="solid"/>
                    </a:lnL>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Reusable events and variable MLP</a:t>
                      </a:r>
                    </a:p>
                  </a:txBody>
                  <a:tcPr marL="114300" marR="114300" marT="47625" marB="47625">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Coarse epochs or designed misses</a:t>
                      </a:r>
                    </a:p>
                  </a:txBody>
                  <a:tcPr marL="114300" marR="114300" marT="47625" marB="47625">
                    <a:lnR w="9525">
                      <a:solidFill>
                        <a:srgbClr val="D4DDE4"/>
                      </a:solidFill>
                      <a:prstDash val="solid"/>
                    </a:lnR>
                    <a:lnB w="9525">
                      <a:solidFill>
                        <a:srgbClr val="D4DDE4"/>
                      </a:solidFill>
                      <a:prstDash val="solid"/>
                    </a:lnB>
                  </a:tcPr>
                </a:tc>
              </a:tr>
            </a:tbl>
          </a:graphicData>
        </a:graphic>
      </p:graphicFrame>
      <p:sp>
        <p:nvSpPr>
          <p:cNvPr id="5" name="">
            <a:extLst xmlns:a="http://schemas.openxmlformats.org/drawingml/2006/main">
              <a:ext uri="{FF2B5EF4-FFF2-40B4-BE49-F238E27FC236}">
                <a16:creationId xmlns:a16="http://schemas.microsoft.com/office/drawing/2014/main" id="{D5085CF4-B5EA-4F71-BD05-79CAF0A4F2CA}"/>
              </a:ext>
            </a:extLst>
          </p:cNvPr>
          <p:cNvSpPr>
            <a:spLocks xmlns:a="http://schemas.openxmlformats.org/drawingml/2006/main" noGrp="1"/>
          </p:cNvSpPr>
          <p:nvPr/>
        </p:nvSpPr>
        <p:spPr>
          <a:xfrm xmlns:a="http://schemas.openxmlformats.org/drawingml/2006/main">
            <a:off x="609600" y="59055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6283D"/>
                </a:solidFill>
                <a:latin typeface="Aptos"/>
                <a:ea typeface="Aptos"/>
                <a:cs typeface="Aptos"/>
              </a:defRPr>
            </a:defPPr>
          </a:lstStyle>
          <a:p xmlns:a="http://schemas.openxmlformats.org/drawingml/2006/main">
            <a:pPr>
              <a:defRPr sz="1875" b="0">
                <a:solidFill>
                  <a:srgbClr val="16283D"/>
                </a:solidFill>
                <a:latin typeface="Aptos"/>
                <a:ea typeface="Aptos"/>
                <a:cs typeface="Aptos"/>
              </a:defRPr>
            </a:pPr>
            <a:r>
              <a:rPr sz="1875" b="0">
                <a:solidFill>
                  <a:srgbClr val="16283D"/>
                </a:solidFill>
                <a:latin typeface="Aptos"/>
                <a:ea typeface="Aptos"/>
                <a:cs typeface="Aptos"/>
              </a:rPr>
              <a:t>We expanded the scoring methods and execution models as experiments grew.</a:t>
            </a:r>
          </a:p>
        </p:txBody>
      </p:sp>
    </p:spTree>
    <p:extLst>
      <p:ext uri="{BB962C8B-B14F-4D97-AF65-F5344CB8AC3E}">
        <p14:creationId xmlns:p14="http://schemas.microsoft.com/office/powerpoint/2010/main" val="1326053316"/>
      </p:ext>
    </p:extLst>
  </p:cSld>
</p:sld>
</file>

<file path=ppt/slides/slide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45EB535-3243-4601-949A-693D3EC1E9B6}"/>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6283D"/>
                </a:solidFill>
                <a:latin typeface="Aptos"/>
                <a:ea typeface="Aptos"/>
                <a:cs typeface="Aptos"/>
              </a:defRPr>
            </a:defPPr>
          </a:lstStyle>
          <a:p xmlns:a="http://schemas.openxmlformats.org/drawingml/2006/main">
            <a:pPr>
              <a:defRPr sz="3225" b="1">
                <a:solidFill>
                  <a:srgbClr val="16283D"/>
                </a:solidFill>
                <a:latin typeface="Aptos"/>
                <a:ea typeface="Aptos"/>
                <a:cs typeface="Aptos"/>
              </a:defRPr>
            </a:pPr>
            <a:r>
              <a:rPr sz="3225" b="1">
                <a:solidFill>
                  <a:srgbClr val="16283D"/>
                </a:solidFill>
                <a:latin typeface="Aptos"/>
                <a:ea typeface="Aptos"/>
                <a:cs typeface="Aptos"/>
              </a:rPr>
              <a:t>Native profiling setup and collection</a:t>
            </a:r>
          </a:p>
        </p:txBody>
      </p:sp>
      <p:sp>
        <p:nvSpPr>
          <p:cNvPr id="2" name="">
            <a:extLst xmlns:a="http://schemas.openxmlformats.org/drawingml/2006/main">
              <a:ext uri="{FF2B5EF4-FFF2-40B4-BE49-F238E27FC236}">
                <a16:creationId xmlns:a16="http://schemas.microsoft.com/office/drawing/2014/main" id="{80CCA5F7-09C4-4586-81C8-6BD781828B90}"/>
              </a:ext>
            </a:extLst>
          </p:cNvPr>
          <p:cNvSpPr>
            <a:spLocks xmlns:a="http://schemas.openxmlformats.org/drawingml/2006/main" noGrp="1"/>
          </p:cNvSpPr>
          <p:nvPr/>
        </p:nvSpPr>
        <p:spPr>
          <a:xfrm xmlns:a="http://schemas.openxmlformats.org/drawingml/2006/main">
            <a:off x="11144250" y="63341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276"/>
                </a:solidFill>
                <a:latin typeface="Aptos"/>
                <a:ea typeface="Aptos"/>
                <a:cs typeface="Aptos"/>
              </a:defRPr>
            </a:defPPr>
          </a:lstStyle>
          <a:p xmlns:a="http://schemas.openxmlformats.org/drawingml/2006/main">
            <a:pPr>
              <a:defRPr sz="1200" b="0">
                <a:solidFill>
                  <a:srgbClr val="526276"/>
                </a:solidFill>
                <a:latin typeface="Aptos"/>
                <a:ea typeface="Aptos"/>
                <a:cs typeface="Aptos"/>
              </a:defRPr>
            </a:pPr>
            <a:r>
              <a:rPr sz="1200" b="0">
                <a:solidFill>
                  <a:srgbClr val="526276"/>
                </a:solidFill>
                <a:latin typeface="Aptos"/>
                <a:ea typeface="Aptos"/>
                <a:cs typeface="Aptos"/>
              </a:rPr>
              <a:t>05</a:t>
            </a:r>
          </a:p>
        </p:txBody>
      </p:sp>
      <p:sp>
        <p:nvSpPr>
          <p:cNvPr id="3" name="">
            <a:extLst xmlns:a="http://schemas.openxmlformats.org/drawingml/2006/main">
              <a:ext uri="{FF2B5EF4-FFF2-40B4-BE49-F238E27FC236}">
                <a16:creationId xmlns:a16="http://schemas.microsoft.com/office/drawing/2014/main" id="{2FBA6F1D-6966-42B5-9BC2-69F27A17CF5A}"/>
              </a:ext>
            </a:extLst>
          </p:cNvPr>
          <p:cNvSpPr>
            <a:spLocks xmlns:a="http://schemas.openxmlformats.org/drawingml/2006/main" noGrp="1"/>
          </p:cNvSpPr>
          <p:nvPr/>
        </p:nvSpPr>
        <p:spPr>
          <a:xfrm xmlns:a="http://schemas.openxmlformats.org/drawingml/2006/main">
            <a:off x="609600" y="6315075"/>
            <a:ext cx="10287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276"/>
                </a:solidFill>
                <a:latin typeface="Aptos"/>
                <a:ea typeface="Aptos"/>
                <a:cs typeface="Aptos"/>
              </a:defRPr>
            </a:defPPr>
          </a:lstStyle>
          <a:p xmlns:a="http://schemas.openxmlformats.org/drawingml/2006/main">
            <a:pPr>
              <a:defRPr sz="1125" b="0">
                <a:solidFill>
                  <a:srgbClr val="526276"/>
                </a:solidFill>
                <a:latin typeface="Aptos"/>
                <a:ea typeface="Aptos"/>
                <a:cs typeface="Aptos"/>
              </a:defRPr>
            </a:pPr>
            <a:r>
              <a:rPr sz="1125" b="0">
                <a:solidFill>
                  <a:srgbClr val="526276"/>
                </a:solidFill>
                <a:latin typeface="Aptos"/>
                <a:ea typeface="Aptos"/>
                <a:cs typeface="Aptos"/>
              </a:rPr>
              <a:t>Source: NativePC/scripts/run_native_profile.sh</a:t>
            </a:r>
          </a:p>
        </p:txBody>
      </p:sp>
      <p:sp>
        <p:nvSpPr>
          <p:cNvPr id="4" name="">
            <a:extLst xmlns:a="http://schemas.openxmlformats.org/drawingml/2006/main">
              <a:ext uri="{FF2B5EF4-FFF2-40B4-BE49-F238E27FC236}">
                <a16:creationId xmlns:a16="http://schemas.microsoft.com/office/drawing/2014/main" id="{361E6191-19F0-4C3F-86A2-6C32A8EAAC5F}"/>
              </a:ext>
            </a:extLst>
          </p:cNvPr>
          <p:cNvSpPr>
            <a:spLocks xmlns:a="http://schemas.openxmlformats.org/drawingml/2006/main" noGrp="1"/>
          </p:cNvSpPr>
          <p:nvPr/>
        </p:nvSpPr>
        <p:spPr>
          <a:xfrm xmlns:a="http://schemas.openxmlformats.org/drawingml/2006/main">
            <a:off x="628650" y="150495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6A75"/>
                </a:solidFill>
                <a:latin typeface="Aptos"/>
                <a:ea typeface="Aptos"/>
                <a:cs typeface="Aptos"/>
              </a:defRPr>
            </a:defPPr>
          </a:lstStyle>
          <a:p xmlns:a="http://schemas.openxmlformats.org/drawingml/2006/main">
            <a:pPr>
              <a:defRPr sz="1725" b="1">
                <a:solidFill>
                  <a:srgbClr val="006A75"/>
                </a:solidFill>
                <a:latin typeface="Aptos"/>
                <a:ea typeface="Aptos"/>
                <a:cs typeface="Aptos"/>
              </a:defRPr>
            </a:pPr>
            <a:r>
              <a:rPr sz="1725" b="1">
                <a:solidFill>
                  <a:srgbClr val="006A75"/>
                </a:solidFill>
                <a:latin typeface="Aptos"/>
                <a:ea typeface="Aptos"/>
                <a:cs typeface="Aptos"/>
              </a:rPr>
              <a:t>01</a:t>
            </a:r>
          </a:p>
        </p:txBody>
      </p:sp>
      <p:sp>
        <p:nvSpPr>
          <p:cNvPr id="5" name="">
            <a:extLst xmlns:a="http://schemas.openxmlformats.org/drawingml/2006/main">
              <a:ext uri="{FF2B5EF4-FFF2-40B4-BE49-F238E27FC236}">
                <a16:creationId xmlns:a16="http://schemas.microsoft.com/office/drawing/2014/main" id="{E4C79E08-AD02-4953-9600-773FA65D4BE7}"/>
              </a:ext>
            </a:extLst>
          </p:cNvPr>
          <p:cNvSpPr>
            <a:spLocks xmlns:a="http://schemas.openxmlformats.org/drawingml/2006/main" noGrp="1"/>
          </p:cNvSpPr>
          <p:nvPr/>
        </p:nvSpPr>
        <p:spPr>
          <a:xfrm xmlns:a="http://schemas.openxmlformats.org/drawingml/2006/main">
            <a:off x="1200150" y="148590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83D"/>
                </a:solidFill>
                <a:latin typeface="Aptos"/>
                <a:ea typeface="Aptos"/>
                <a:cs typeface="Aptos"/>
              </a:defRPr>
            </a:defPPr>
          </a:lstStyle>
          <a:p xmlns:a="http://schemas.openxmlformats.org/drawingml/2006/main">
            <a:pPr>
              <a:defRPr sz="2100" b="0">
                <a:solidFill>
                  <a:srgbClr val="16283D"/>
                </a:solidFill>
                <a:latin typeface="Aptos"/>
                <a:ea typeface="Aptos"/>
                <a:cs typeface="Aptos"/>
              </a:defRPr>
            </a:pPr>
            <a:r>
              <a:rPr sz="2100" b="0">
                <a:solidFill>
                  <a:srgbClr val="16283D"/>
                </a:solidFill>
                <a:latin typeface="Aptos"/>
                <a:ea typeface="Aptos"/>
                <a:cs typeface="Aptos"/>
              </a:rPr>
              <a:t>The recorded machine uses an Intel Core i7-12700 with 20 logical CPUs. Each run records the command, CPU affinity, kernel, governor and counter permissions.</a:t>
            </a:r>
          </a:p>
        </p:txBody>
      </p:sp>
      <p:sp>
        <p:nvSpPr>
          <p:cNvPr id="6" name="">
            <a:extLst xmlns:a="http://schemas.openxmlformats.org/drawingml/2006/main">
              <a:ext uri="{FF2B5EF4-FFF2-40B4-BE49-F238E27FC236}">
                <a16:creationId xmlns:a16="http://schemas.microsoft.com/office/drawing/2014/main" id="{7B541A4D-0D71-4247-9537-997B31C71176}"/>
              </a:ext>
            </a:extLst>
          </p:cNvPr>
          <p:cNvSpPr>
            <a:spLocks xmlns:a="http://schemas.openxmlformats.org/drawingml/2006/main" noGrp="1"/>
          </p:cNvSpPr>
          <p:nvPr/>
        </p:nvSpPr>
        <p:spPr>
          <a:xfrm xmlns:a="http://schemas.openxmlformats.org/drawingml/2006/main">
            <a:off x="628650" y="260985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6A75"/>
                </a:solidFill>
                <a:latin typeface="Aptos"/>
                <a:ea typeface="Aptos"/>
                <a:cs typeface="Aptos"/>
              </a:defRPr>
            </a:defPPr>
          </a:lstStyle>
          <a:p xmlns:a="http://schemas.openxmlformats.org/drawingml/2006/main">
            <a:pPr>
              <a:defRPr sz="1725" b="1">
                <a:solidFill>
                  <a:srgbClr val="006A75"/>
                </a:solidFill>
                <a:latin typeface="Aptos"/>
                <a:ea typeface="Aptos"/>
                <a:cs typeface="Aptos"/>
              </a:defRPr>
            </a:pPr>
            <a:r>
              <a:rPr sz="1725" b="1">
                <a:solidFill>
                  <a:srgbClr val="006A75"/>
                </a:solidFill>
                <a:latin typeface="Aptos"/>
                <a:ea typeface="Aptos"/>
                <a:cs typeface="Aptos"/>
              </a:rPr>
              <a:t>02</a:t>
            </a:r>
          </a:p>
        </p:txBody>
      </p:sp>
      <p:sp>
        <p:nvSpPr>
          <p:cNvPr id="7" name="">
            <a:extLst xmlns:a="http://schemas.openxmlformats.org/drawingml/2006/main">
              <a:ext uri="{FF2B5EF4-FFF2-40B4-BE49-F238E27FC236}">
                <a16:creationId xmlns:a16="http://schemas.microsoft.com/office/drawing/2014/main" id="{3FC28091-389D-45BA-B88E-51A5A58C96C5}"/>
              </a:ext>
            </a:extLst>
          </p:cNvPr>
          <p:cNvSpPr>
            <a:spLocks xmlns:a="http://schemas.openxmlformats.org/drawingml/2006/main" noGrp="1"/>
          </p:cNvSpPr>
          <p:nvPr/>
        </p:nvSpPr>
        <p:spPr>
          <a:xfrm xmlns:a="http://schemas.openxmlformats.org/drawingml/2006/main">
            <a:off x="1200150" y="259080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83D"/>
                </a:solidFill>
                <a:latin typeface="Aptos"/>
                <a:ea typeface="Aptos"/>
                <a:cs typeface="Aptos"/>
              </a:defRPr>
            </a:defPPr>
          </a:lstStyle>
          <a:p xmlns:a="http://schemas.openxmlformats.org/drawingml/2006/main">
            <a:pPr>
              <a:defRPr sz="2100" b="0">
                <a:solidFill>
                  <a:srgbClr val="16283D"/>
                </a:solidFill>
                <a:latin typeface="Aptos"/>
                <a:ea typeface="Aptos"/>
                <a:cs typeface="Aptos"/>
              </a:defRPr>
            </a:pPr>
            <a:r>
              <a:rPr sz="2100" b="0">
                <a:solidFill>
                  <a:srgbClr val="16283D"/>
                </a:solidFill>
                <a:latin typeface="Aptos"/>
                <a:ea typeface="Aptos"/>
                <a:cs typeface="Aptos"/>
              </a:rPr>
              <a:t>The profiling script runs six counter groups: core/cache, memory traffic, top-down memory bound, top-down backend bound, retired memory and TLB walks.</a:t>
            </a:r>
          </a:p>
        </p:txBody>
      </p:sp>
      <p:sp>
        <p:nvSpPr>
          <p:cNvPr id="8" name="">
            <a:extLst xmlns:a="http://schemas.openxmlformats.org/drawingml/2006/main">
              <a:ext uri="{FF2B5EF4-FFF2-40B4-BE49-F238E27FC236}">
                <a16:creationId xmlns:a16="http://schemas.microsoft.com/office/drawing/2014/main" id="{F6B51020-B951-4270-B905-3C46460346E2}"/>
              </a:ext>
            </a:extLst>
          </p:cNvPr>
          <p:cNvSpPr>
            <a:spLocks xmlns:a="http://schemas.openxmlformats.org/drawingml/2006/main" noGrp="1"/>
          </p:cNvSpPr>
          <p:nvPr/>
        </p:nvSpPr>
        <p:spPr>
          <a:xfrm xmlns:a="http://schemas.openxmlformats.org/drawingml/2006/main">
            <a:off x="628650" y="371475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6A75"/>
                </a:solidFill>
                <a:latin typeface="Aptos"/>
                <a:ea typeface="Aptos"/>
                <a:cs typeface="Aptos"/>
              </a:defRPr>
            </a:defPPr>
          </a:lstStyle>
          <a:p xmlns:a="http://schemas.openxmlformats.org/drawingml/2006/main">
            <a:pPr>
              <a:defRPr sz="1725" b="1">
                <a:solidFill>
                  <a:srgbClr val="006A75"/>
                </a:solidFill>
                <a:latin typeface="Aptos"/>
                <a:ea typeface="Aptos"/>
                <a:cs typeface="Aptos"/>
              </a:defRPr>
            </a:pPr>
            <a:r>
              <a:rPr sz="1725" b="1">
                <a:solidFill>
                  <a:srgbClr val="006A75"/>
                </a:solidFill>
                <a:latin typeface="Aptos"/>
                <a:ea typeface="Aptos"/>
                <a:cs typeface="Aptos"/>
              </a:rPr>
              <a:t>03</a:t>
            </a:r>
          </a:p>
        </p:txBody>
      </p:sp>
      <p:sp>
        <p:nvSpPr>
          <p:cNvPr id="9" name="">
            <a:extLst xmlns:a="http://schemas.openxmlformats.org/drawingml/2006/main">
              <a:ext uri="{FF2B5EF4-FFF2-40B4-BE49-F238E27FC236}">
                <a16:creationId xmlns:a16="http://schemas.microsoft.com/office/drawing/2014/main" id="{A6EFEF87-8F91-42CB-8205-90679028DA6E}"/>
              </a:ext>
            </a:extLst>
          </p:cNvPr>
          <p:cNvSpPr>
            <a:spLocks xmlns:a="http://schemas.openxmlformats.org/drawingml/2006/main" noGrp="1"/>
          </p:cNvSpPr>
          <p:nvPr/>
        </p:nvSpPr>
        <p:spPr>
          <a:xfrm xmlns:a="http://schemas.openxmlformats.org/drawingml/2006/main">
            <a:off x="1200150" y="369570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83D"/>
                </a:solidFill>
                <a:latin typeface="Aptos"/>
                <a:ea typeface="Aptos"/>
                <a:cs typeface="Aptos"/>
              </a:defRPr>
            </a:defPPr>
          </a:lstStyle>
          <a:p xmlns:a="http://schemas.openxmlformats.org/drawingml/2006/main">
            <a:pPr>
              <a:defRPr sz="2100" b="0">
                <a:solidFill>
                  <a:srgbClr val="16283D"/>
                </a:solidFill>
                <a:latin typeface="Aptos"/>
                <a:ea typeface="Aptos"/>
                <a:cs typeface="Aptos"/>
              </a:defRPr>
            </a:pPr>
            <a:r>
              <a:rPr sz="2100" b="0">
                <a:solidFill>
                  <a:srgbClr val="16283D"/>
                </a:solidFill>
                <a:latin typeface="Aptos"/>
                <a:ea typeface="Aptos"/>
                <a:cs typeface="Aptos"/>
              </a:rPr>
              <a:t>We keep raw counter files, workload output and a return code for every group. The archive contains 54 run directories, including failed or partial attempts.</a:t>
            </a:r>
          </a:p>
        </p:txBody>
      </p:sp>
      <p:sp>
        <p:nvSpPr>
          <p:cNvPr id="10" name="">
            <a:extLst xmlns:a="http://schemas.openxmlformats.org/drawingml/2006/main">
              <a:ext uri="{FF2B5EF4-FFF2-40B4-BE49-F238E27FC236}">
                <a16:creationId xmlns:a16="http://schemas.microsoft.com/office/drawing/2014/main" id="{0756F7EB-49B8-4424-B490-0612DC227149}"/>
              </a:ext>
            </a:extLst>
          </p:cNvPr>
          <p:cNvSpPr>
            <a:spLocks xmlns:a="http://schemas.openxmlformats.org/drawingml/2006/main" noGrp="1"/>
          </p:cNvSpPr>
          <p:nvPr/>
        </p:nvSpPr>
        <p:spPr>
          <a:xfrm xmlns:a="http://schemas.openxmlformats.org/drawingml/2006/main">
            <a:off x="628650" y="481965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6A75"/>
                </a:solidFill>
                <a:latin typeface="Aptos"/>
                <a:ea typeface="Aptos"/>
                <a:cs typeface="Aptos"/>
              </a:defRPr>
            </a:defPPr>
          </a:lstStyle>
          <a:p xmlns:a="http://schemas.openxmlformats.org/drawingml/2006/main">
            <a:pPr>
              <a:defRPr sz="1725" b="1">
                <a:solidFill>
                  <a:srgbClr val="006A75"/>
                </a:solidFill>
                <a:latin typeface="Aptos"/>
                <a:ea typeface="Aptos"/>
                <a:cs typeface="Aptos"/>
              </a:defRPr>
            </a:pPr>
            <a:r>
              <a:rPr sz="1725" b="1">
                <a:solidFill>
                  <a:srgbClr val="006A75"/>
                </a:solidFill>
                <a:latin typeface="Aptos"/>
                <a:ea typeface="Aptos"/>
                <a:cs typeface="Aptos"/>
              </a:rPr>
              <a:t>04</a:t>
            </a:r>
          </a:p>
        </p:txBody>
      </p:sp>
      <p:sp>
        <p:nvSpPr>
          <p:cNvPr id="11" name="">
            <a:extLst xmlns:a="http://schemas.openxmlformats.org/drawingml/2006/main">
              <a:ext uri="{FF2B5EF4-FFF2-40B4-BE49-F238E27FC236}">
                <a16:creationId xmlns:a16="http://schemas.microsoft.com/office/drawing/2014/main" id="{1AD2828E-1761-413A-81B3-41FC35EDFC9E}"/>
              </a:ext>
            </a:extLst>
          </p:cNvPr>
          <p:cNvSpPr>
            <a:spLocks xmlns:a="http://schemas.openxmlformats.org/drawingml/2006/main" noGrp="1"/>
          </p:cNvSpPr>
          <p:nvPr/>
        </p:nvSpPr>
        <p:spPr>
          <a:xfrm xmlns:a="http://schemas.openxmlformats.org/drawingml/2006/main">
            <a:off x="1200150" y="480060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83D"/>
                </a:solidFill>
                <a:latin typeface="Aptos"/>
                <a:ea typeface="Aptos"/>
                <a:cs typeface="Aptos"/>
              </a:defRPr>
            </a:defPPr>
          </a:lstStyle>
          <a:p xmlns:a="http://schemas.openxmlformats.org/drawingml/2006/main">
            <a:pPr>
              <a:defRPr sz="2100" b="0">
                <a:solidFill>
                  <a:srgbClr val="16283D"/>
                </a:solidFill>
                <a:latin typeface="Aptos"/>
                <a:ea typeface="Aptos"/>
                <a:cs typeface="Aptos"/>
              </a:defRPr>
            </a:pPr>
            <a:r>
              <a:rPr sz="2100" b="0">
                <a:solidFill>
                  <a:srgbClr val="16283D"/>
                </a:solidFill>
                <a:latin typeface="Aptos"/>
                <a:ea typeface="Aptos"/>
                <a:cs typeface="Aptos"/>
              </a:rPr>
              <a:t>Derived metrics use cycles and instructions from the same counter group. Five repetitions per summarized workload let us inspect variation rather than rely on one run.</a:t>
            </a:r>
          </a:p>
        </p:txBody>
      </p:sp>
    </p:spTree>
    <p:extLst>
      <p:ext uri="{BB962C8B-B14F-4D97-AF65-F5344CB8AC3E}">
        <p14:creationId xmlns:p14="http://schemas.microsoft.com/office/powerpoint/2010/main" val="365785483"/>
      </p:ext>
    </p:extLst>
  </p:cSld>
</p:sld>
</file>

<file path=ppt/slides/slide6.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614DCB9-6041-4D20-851E-6D0413BB8DC8}"/>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6283D"/>
                </a:solidFill>
                <a:latin typeface="Aptos"/>
                <a:ea typeface="Aptos"/>
                <a:cs typeface="Aptos"/>
              </a:defRPr>
            </a:defPPr>
          </a:lstStyle>
          <a:p xmlns:a="http://schemas.openxmlformats.org/drawingml/2006/main">
            <a:pPr>
              <a:defRPr sz="3225" b="1">
                <a:solidFill>
                  <a:srgbClr val="16283D"/>
                </a:solidFill>
                <a:latin typeface="Aptos"/>
                <a:ea typeface="Aptos"/>
                <a:cs typeface="Aptos"/>
              </a:defRPr>
            </a:pPr>
            <a:r>
              <a:rPr sz="3225" b="1">
                <a:solidFill>
                  <a:srgbClr val="16283D"/>
                </a:solidFill>
                <a:latin typeface="Aptos"/>
                <a:ea typeface="Aptos"/>
                <a:cs typeface="Aptos"/>
              </a:rPr>
              <a:t>Native workload coverage</a:t>
            </a:r>
          </a:p>
        </p:txBody>
      </p:sp>
      <p:sp>
        <p:nvSpPr>
          <p:cNvPr id="2" name="">
            <a:extLst xmlns:a="http://schemas.openxmlformats.org/drawingml/2006/main">
              <a:ext uri="{FF2B5EF4-FFF2-40B4-BE49-F238E27FC236}">
                <a16:creationId xmlns:a16="http://schemas.microsoft.com/office/drawing/2014/main" id="{FFF5A6B3-212C-4281-8817-EAF45AF235EA}"/>
              </a:ext>
            </a:extLst>
          </p:cNvPr>
          <p:cNvSpPr>
            <a:spLocks xmlns:a="http://schemas.openxmlformats.org/drawingml/2006/main" noGrp="1"/>
          </p:cNvSpPr>
          <p:nvPr/>
        </p:nvSpPr>
        <p:spPr>
          <a:xfrm xmlns:a="http://schemas.openxmlformats.org/drawingml/2006/main">
            <a:off x="11144250" y="63341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276"/>
                </a:solidFill>
                <a:latin typeface="Aptos"/>
                <a:ea typeface="Aptos"/>
                <a:cs typeface="Aptos"/>
              </a:defRPr>
            </a:defPPr>
          </a:lstStyle>
          <a:p xmlns:a="http://schemas.openxmlformats.org/drawingml/2006/main">
            <a:pPr>
              <a:defRPr sz="1200" b="0">
                <a:solidFill>
                  <a:srgbClr val="526276"/>
                </a:solidFill>
                <a:latin typeface="Aptos"/>
                <a:ea typeface="Aptos"/>
                <a:cs typeface="Aptos"/>
              </a:defRPr>
            </a:pPr>
            <a:r>
              <a:rPr sz="1200" b="0">
                <a:solidFill>
                  <a:srgbClr val="526276"/>
                </a:solidFill>
                <a:latin typeface="Aptos"/>
                <a:ea typeface="Aptos"/>
                <a:cs typeface="Aptos"/>
              </a:rPr>
              <a:t>06</a:t>
            </a:r>
          </a:p>
        </p:txBody>
      </p:sp>
      <p:sp>
        <p:nvSpPr>
          <p:cNvPr id="3" name="">
            <a:extLst xmlns:a="http://schemas.openxmlformats.org/drawingml/2006/main">
              <a:ext uri="{FF2B5EF4-FFF2-40B4-BE49-F238E27FC236}">
                <a16:creationId xmlns:a16="http://schemas.microsoft.com/office/drawing/2014/main" id="{0A817277-2B3B-4BAE-A903-2851FB40D4BB}"/>
              </a:ext>
            </a:extLst>
          </p:cNvPr>
          <p:cNvSpPr>
            <a:spLocks xmlns:a="http://schemas.openxmlformats.org/drawingml/2006/main" noGrp="1"/>
          </p:cNvSpPr>
          <p:nvPr/>
        </p:nvSpPr>
        <p:spPr>
          <a:xfrm xmlns:a="http://schemas.openxmlformats.org/drawingml/2006/main">
            <a:off x="609600" y="6315075"/>
            <a:ext cx="10287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276"/>
                </a:solidFill>
                <a:latin typeface="Aptos"/>
                <a:ea typeface="Aptos"/>
                <a:cs typeface="Aptos"/>
              </a:defRPr>
            </a:defPPr>
          </a:lstStyle>
          <a:p xmlns:a="http://schemas.openxmlformats.org/drawingml/2006/main">
            <a:pPr>
              <a:defRPr sz="1125" b="0">
                <a:solidFill>
                  <a:srgbClr val="526276"/>
                </a:solidFill>
                <a:latin typeface="Aptos"/>
                <a:ea typeface="Aptos"/>
                <a:cs typeface="Aptos"/>
              </a:defRPr>
            </a:pPr>
            <a:r>
              <a:rPr sz="1125" b="0">
                <a:solidFill>
                  <a:srgbClr val="526276"/>
                </a:solidFill>
                <a:latin typeface="Aptos"/>
                <a:ea typeface="Aptos"/>
                <a:cs typeface="Aptos"/>
              </a:rPr>
              <a:t>Source: NativePC/processed_data/workload_summary.csv</a:t>
            </a:r>
          </a:p>
        </p:txBody>
      </p:sp>
      <p:graphicFrame>
        <p:nvGraphicFramePr>
          <p:cNvPr id="4" name="">
            <a:extLst xmlns:a="http://schemas.openxmlformats.org/drawingml/2006/main">
              <a:ext uri="{FF2B5EF4-FFF2-40B4-BE49-F238E27FC236}">
                <a16:creationId xmlns:a16="http://schemas.microsoft.com/office/drawing/2014/main" id="{9D61ED58-79F0-4DDD-B4A0-698F2784610C}"/>
              </a:ext>
            </a:extLst>
          </p:cNvPr>
          <p:cNvGraphicFramePr/>
          <p:nvPr/>
        </p:nvGraphicFramePr>
        <p:xfrm>
          <a:off xmlns:a="http://schemas.openxmlformats.org/drawingml/2006/main" x="609600" y="1466850"/>
          <a:ext xmlns:a="http://schemas.openxmlformats.org/drawingml/2006/main" cx="10972800" cy="4191000"/>
        </p:xfrm>
        <a:graphic xmlns:a="http://schemas.openxmlformats.org/drawingml/2006/main">
          <a:graphicData uri="http://schemas.openxmlformats.org/drawingml/2006/table">
            <a:tbl>
              <a:tblPr/>
              <a:tblGrid>
                <a:gridCol w="2333625"/>
                <a:gridCol w="4238625"/>
                <a:gridCol w="1381125"/>
                <a:gridCol w="3019425"/>
              </a:tblGrid>
              <a:tr h="523875">
                <a:tc>
                  <a:txBody>
                    <a:bodyPr/>
                    <a:lstStyle/>
                    <a:p>
                      <a:r>
                        <a:rPr sz="1725" b="1">
                          <a:solidFill>
                            <a:srgbClr val="FFFFFF"/>
                          </a:solidFill>
                          <a:latin typeface="Aptos"/>
                          <a:ea typeface="Aptos"/>
                          <a:cs typeface="Aptos"/>
                        </a:rPr>
                        <a:t>Workload</a:t>
                      </a:r>
                    </a:p>
                  </a:txBody>
                  <a:tcPr marL="114300" marR="114300" marT="47625" marB="47625">
                    <a:lnL w="9525">
                      <a:solidFill>
                        <a:srgbClr val="D4DDE4"/>
                      </a:solidFill>
                      <a:prstDash val="solid"/>
                    </a:lnL>
                    <a:lnR w="9525">
                      <a:solidFill>
                        <a:srgbClr val="D4DDE4"/>
                      </a:solidFill>
                      <a:prstDash val="solid"/>
                    </a:lnR>
                    <a:lnT w="9525">
                      <a:solidFill>
                        <a:srgbClr val="D4DDE4"/>
                      </a:solidFill>
                      <a:prstDash val="solid"/>
                    </a:lnT>
                    <a:lnB w="9525">
                      <a:solidFill>
                        <a:srgbClr val="D4DDE4"/>
                      </a:solidFill>
                      <a:prstDash val="solid"/>
                    </a:lnB>
                    <a:solidFill>
                      <a:srgbClr val="006A75"/>
                    </a:solidFill>
                  </a:tcPr>
                </a:tc>
                <a:tc>
                  <a:txBody>
                    <a:bodyPr/>
                    <a:lstStyle/>
                    <a:p>
                      <a:r>
                        <a:rPr sz="1725" b="1">
                          <a:solidFill>
                            <a:srgbClr val="FFFFFF"/>
                          </a:solidFill>
                          <a:latin typeface="Aptos"/>
                          <a:ea typeface="Aptos"/>
                          <a:cs typeface="Aptos"/>
                        </a:rPr>
                        <a:t>Behavior under study</a:t>
                      </a:r>
                    </a:p>
                  </a:txBody>
                  <a:tcPr marL="114300" marR="114300" marT="47625" marB="47625">
                    <a:lnR w="9525">
                      <a:solidFill>
                        <a:srgbClr val="D4DDE4"/>
                      </a:solidFill>
                      <a:prstDash val="solid"/>
                    </a:lnR>
                    <a:lnT w="9525">
                      <a:solidFill>
                        <a:srgbClr val="D4DDE4"/>
                      </a:solidFill>
                      <a:prstDash val="solid"/>
                    </a:lnT>
                    <a:lnB w="9525">
                      <a:solidFill>
                        <a:srgbClr val="D4DDE4"/>
                      </a:solidFill>
                      <a:prstDash val="solid"/>
                    </a:lnB>
                    <a:solidFill>
                      <a:srgbClr val="006A75"/>
                    </a:solidFill>
                  </a:tcPr>
                </a:tc>
                <a:tc>
                  <a:txBody>
                    <a:bodyPr/>
                    <a:lstStyle/>
                    <a:p>
                      <a:r>
                        <a:rPr sz="1725" b="1">
                          <a:solidFill>
                            <a:srgbClr val="FFFFFF"/>
                          </a:solidFill>
                          <a:latin typeface="Aptos"/>
                          <a:ea typeface="Aptos"/>
                          <a:cs typeface="Aptos"/>
                        </a:rPr>
                        <a:t>Mean IPC</a:t>
                      </a:r>
                    </a:p>
                  </a:txBody>
                  <a:tcPr marL="114300" marR="114300" marT="47625" marB="47625">
                    <a:lnR w="9525">
                      <a:solidFill>
                        <a:srgbClr val="D4DDE4"/>
                      </a:solidFill>
                      <a:prstDash val="solid"/>
                    </a:lnR>
                    <a:lnT w="9525">
                      <a:solidFill>
                        <a:srgbClr val="D4DDE4"/>
                      </a:solidFill>
                      <a:prstDash val="solid"/>
                    </a:lnT>
                    <a:lnB w="9525">
                      <a:solidFill>
                        <a:srgbClr val="D4DDE4"/>
                      </a:solidFill>
                      <a:prstDash val="solid"/>
                    </a:lnB>
                    <a:solidFill>
                      <a:srgbClr val="006A75"/>
                    </a:solidFill>
                  </a:tcPr>
                </a:tc>
                <a:tc>
                  <a:txBody>
                    <a:bodyPr/>
                    <a:lstStyle/>
                    <a:p>
                      <a:r>
                        <a:rPr sz="1725" b="1">
                          <a:solidFill>
                            <a:srgbClr val="FFFFFF"/>
                          </a:solidFill>
                          <a:latin typeface="Aptos"/>
                          <a:ea typeface="Aptos"/>
                          <a:cs typeface="Aptos"/>
                        </a:rPr>
                        <a:t>L3 misses / 1M inst.</a:t>
                      </a:r>
                    </a:p>
                  </a:txBody>
                  <a:tcPr marL="114300" marR="114300" marT="47625" marB="47625">
                    <a:lnR w="9525">
                      <a:solidFill>
                        <a:srgbClr val="D4DDE4"/>
                      </a:solidFill>
                      <a:prstDash val="solid"/>
                    </a:lnR>
                    <a:lnT w="9525">
                      <a:solidFill>
                        <a:srgbClr val="D4DDE4"/>
                      </a:solidFill>
                      <a:prstDash val="solid"/>
                    </a:lnT>
                    <a:lnB w="9525">
                      <a:solidFill>
                        <a:srgbClr val="D4DDE4"/>
                      </a:solidFill>
                      <a:prstDash val="solid"/>
                    </a:lnB>
                    <a:solidFill>
                      <a:srgbClr val="006A75"/>
                    </a:solidFill>
                  </a:tcPr>
                </a:tc>
              </a:tr>
              <a:tr h="523875">
                <a:tc>
                  <a:txBody>
                    <a:bodyPr/>
                    <a:lstStyle/>
                    <a:p>
                      <a:r>
                        <a:rPr sz="1725">
                          <a:solidFill>
                            <a:srgbClr val="16283D"/>
                          </a:solidFill>
                          <a:latin typeface="Aptos"/>
                          <a:ea typeface="Aptos"/>
                          <a:cs typeface="Aptos"/>
                        </a:rPr>
                        <a:t>Pointer chase</a:t>
                      </a:r>
                    </a:p>
                  </a:txBody>
                  <a:tcPr marL="114300" marR="114300" marT="47625" marB="47625">
                    <a:lnL w="9525">
                      <a:solidFill>
                        <a:srgbClr val="D4DDE4"/>
                      </a:solidFill>
                      <a:prstDash val="solid"/>
                    </a:lnL>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Dependent memory access</a:t>
                      </a:r>
                    </a:p>
                  </a:txBody>
                  <a:tcPr marL="114300" marR="114300" marT="47625" marB="47625">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0.077</a:t>
                      </a:r>
                    </a:p>
                  </a:txBody>
                  <a:tcPr marL="114300" marR="114300" marT="47625" marB="47625">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32,086.7</a:t>
                      </a:r>
                    </a:p>
                  </a:txBody>
                  <a:tcPr marL="114300" marR="114300" marT="47625" marB="47625">
                    <a:lnR w="9525">
                      <a:solidFill>
                        <a:srgbClr val="D4DDE4"/>
                      </a:solidFill>
                      <a:prstDash val="solid"/>
                    </a:lnR>
                    <a:lnB w="9525">
                      <a:solidFill>
                        <a:srgbClr val="D4DDE4"/>
                      </a:solidFill>
                      <a:prstDash val="solid"/>
                    </a:lnB>
                  </a:tcPr>
                </a:tc>
              </a:tr>
              <a:tr h="523875">
                <a:tc>
                  <a:txBody>
                    <a:bodyPr/>
                    <a:lstStyle/>
                    <a:p>
                      <a:r>
                        <a:rPr sz="1725">
                          <a:solidFill>
                            <a:srgbClr val="16283D"/>
                          </a:solidFill>
                          <a:latin typeface="Aptos"/>
                          <a:ea typeface="Aptos"/>
                          <a:cs typeface="Aptos"/>
                        </a:rPr>
                        <a:t>STREAM</a:t>
                      </a:r>
                    </a:p>
                  </a:txBody>
                  <a:tcPr marL="114300" marR="114300" marT="47625" marB="47625">
                    <a:lnL w="9525">
                      <a:solidFill>
                        <a:srgbClr val="D4DDE4"/>
                      </a:solidFill>
                      <a:prstDash val="solid"/>
                    </a:lnL>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Sequential bulk memory traffic</a:t>
                      </a:r>
                    </a:p>
                  </a:txBody>
                  <a:tcPr marL="114300" marR="114300" marT="47625" marB="47625">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0.065</a:t>
                      </a:r>
                    </a:p>
                  </a:txBody>
                  <a:tcPr marL="114300" marR="114300" marT="47625" marB="47625">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62,183.8</a:t>
                      </a:r>
                    </a:p>
                  </a:txBody>
                  <a:tcPr marL="114300" marR="114300" marT="47625" marB="47625">
                    <a:lnR w="9525">
                      <a:solidFill>
                        <a:srgbClr val="D4DDE4"/>
                      </a:solidFill>
                      <a:prstDash val="solid"/>
                    </a:lnR>
                    <a:lnB w="9525">
                      <a:solidFill>
                        <a:srgbClr val="D4DDE4"/>
                      </a:solidFill>
                      <a:prstDash val="solid"/>
                    </a:lnB>
                  </a:tcPr>
                </a:tc>
              </a:tr>
              <a:tr h="523875">
                <a:tc>
                  <a:txBody>
                    <a:bodyPr/>
                    <a:lstStyle/>
                    <a:p>
                      <a:r>
                        <a:rPr sz="1725">
                          <a:solidFill>
                            <a:srgbClr val="16283D"/>
                          </a:solidFill>
                          <a:latin typeface="Aptos"/>
                          <a:ea typeface="Aptos"/>
                          <a:cs typeface="Aptos"/>
                        </a:rPr>
                        <a:t>llama.cpp</a:t>
                      </a:r>
                    </a:p>
                  </a:txBody>
                  <a:tcPr marL="114300" marR="114300" marT="47625" marB="47625">
                    <a:lnL w="9525">
                      <a:solidFill>
                        <a:srgbClr val="D4DDE4"/>
                      </a:solidFill>
                      <a:prstDash val="solid"/>
                    </a:lnL>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LLM inference memory traffic</a:t>
                      </a:r>
                    </a:p>
                  </a:txBody>
                  <a:tcPr marL="114300" marR="114300" marT="47625" marB="47625">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0.716</a:t>
                      </a:r>
                    </a:p>
                  </a:txBody>
                  <a:tcPr marL="114300" marR="114300" marT="47625" marB="47625">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1,733.0</a:t>
                      </a:r>
                    </a:p>
                  </a:txBody>
                  <a:tcPr marL="114300" marR="114300" marT="47625" marB="47625">
                    <a:lnR w="9525">
                      <a:solidFill>
                        <a:srgbClr val="D4DDE4"/>
                      </a:solidFill>
                      <a:prstDash val="solid"/>
                    </a:lnR>
                    <a:lnB w="9525">
                      <a:solidFill>
                        <a:srgbClr val="D4DDE4"/>
                      </a:solidFill>
                      <a:prstDash val="solid"/>
                    </a:lnB>
                  </a:tcPr>
                </a:tc>
              </a:tr>
              <a:tr h="523875">
                <a:tc>
                  <a:txBody>
                    <a:bodyPr/>
                    <a:lstStyle/>
                    <a:p>
                      <a:r>
                        <a:rPr sz="1725">
                          <a:solidFill>
                            <a:srgbClr val="16283D"/>
                          </a:solidFill>
                          <a:latin typeface="Aptos"/>
                          <a:ea typeface="Aptos"/>
                          <a:cs typeface="Aptos"/>
                        </a:rPr>
                        <a:t>DLRM</a:t>
                      </a:r>
                    </a:p>
                  </a:txBody>
                  <a:tcPr marL="114300" marR="114300" marT="47625" marB="47625">
                    <a:lnL w="9525">
                      <a:solidFill>
                        <a:srgbClr val="D4DDE4"/>
                      </a:solidFill>
                      <a:prstDash val="solid"/>
                    </a:lnL>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Embeddings / recommendation</a:t>
                      </a:r>
                    </a:p>
                  </a:txBody>
                  <a:tcPr marL="114300" marR="114300" marT="47625" marB="47625">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1.645</a:t>
                      </a:r>
                    </a:p>
                  </a:txBody>
                  <a:tcPr marL="114300" marR="114300" marT="47625" marB="47625">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368.8</a:t>
                      </a:r>
                    </a:p>
                  </a:txBody>
                  <a:tcPr marL="114300" marR="114300" marT="47625" marB="47625">
                    <a:lnR w="9525">
                      <a:solidFill>
                        <a:srgbClr val="D4DDE4"/>
                      </a:solidFill>
                      <a:prstDash val="solid"/>
                    </a:lnR>
                    <a:lnB w="9525">
                      <a:solidFill>
                        <a:srgbClr val="D4DDE4"/>
                      </a:solidFill>
                      <a:prstDash val="solid"/>
                    </a:lnB>
                  </a:tcPr>
                </a:tc>
              </a:tr>
              <a:tr h="523875">
                <a:tc>
                  <a:txBody>
                    <a:bodyPr/>
                    <a:lstStyle/>
                    <a:p>
                      <a:r>
                        <a:rPr sz="1725">
                          <a:solidFill>
                            <a:srgbClr val="16283D"/>
                          </a:solidFill>
                          <a:latin typeface="Aptos"/>
                          <a:ea typeface="Aptos"/>
                          <a:cs typeface="Aptos"/>
                        </a:rPr>
                        <a:t>K-means</a:t>
                      </a:r>
                    </a:p>
                  </a:txBody>
                  <a:tcPr marL="114300" marR="114300" marT="47625" marB="47625">
                    <a:lnL w="9525">
                      <a:solidFill>
                        <a:srgbClr val="D4DDE4"/>
                      </a:solidFill>
                      <a:prstDash val="solid"/>
                    </a:lnL>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Clustering workload</a:t>
                      </a:r>
                    </a:p>
                  </a:txBody>
                  <a:tcPr marL="114300" marR="114300" marT="47625" marB="47625">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1.179</a:t>
                      </a:r>
                    </a:p>
                  </a:txBody>
                  <a:tcPr marL="114300" marR="114300" marT="47625" marB="47625">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156.6</a:t>
                      </a:r>
                    </a:p>
                  </a:txBody>
                  <a:tcPr marL="114300" marR="114300" marT="47625" marB="47625">
                    <a:lnR w="9525">
                      <a:solidFill>
                        <a:srgbClr val="D4DDE4"/>
                      </a:solidFill>
                      <a:prstDash val="solid"/>
                    </a:lnR>
                    <a:lnB w="9525">
                      <a:solidFill>
                        <a:srgbClr val="D4DDE4"/>
                      </a:solidFill>
                      <a:prstDash val="solid"/>
                    </a:lnB>
                  </a:tcPr>
                </a:tc>
              </a:tr>
              <a:tr h="523875">
                <a:tc>
                  <a:txBody>
                    <a:bodyPr/>
                    <a:lstStyle/>
                    <a:p>
                      <a:r>
                        <a:rPr sz="1725">
                          <a:solidFill>
                            <a:srgbClr val="16283D"/>
                          </a:solidFill>
                          <a:latin typeface="Aptos"/>
                          <a:ea typeface="Aptos"/>
                          <a:cs typeface="Aptos"/>
                        </a:rPr>
                        <a:t>BERT</a:t>
                      </a:r>
                    </a:p>
                  </a:txBody>
                  <a:tcPr marL="114300" marR="114300" marT="47625" marB="47625">
                    <a:lnL w="9525">
                      <a:solidFill>
                        <a:srgbClr val="D4DDE4"/>
                      </a:solidFill>
                      <a:prstDash val="solid"/>
                    </a:lnL>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Transformer inference</a:t>
                      </a:r>
                    </a:p>
                  </a:txBody>
                  <a:tcPr marL="114300" marR="114300" marT="47625" marB="47625">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2.633</a:t>
                      </a:r>
                    </a:p>
                  </a:txBody>
                  <a:tcPr marL="114300" marR="114300" marT="47625" marB="47625">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44.3</a:t>
                      </a:r>
                    </a:p>
                  </a:txBody>
                  <a:tcPr marL="114300" marR="114300" marT="47625" marB="47625">
                    <a:lnR w="9525">
                      <a:solidFill>
                        <a:srgbClr val="D4DDE4"/>
                      </a:solidFill>
                      <a:prstDash val="solid"/>
                    </a:lnR>
                    <a:lnB w="9525">
                      <a:solidFill>
                        <a:srgbClr val="D4DDE4"/>
                      </a:solidFill>
                      <a:prstDash val="solid"/>
                    </a:lnB>
                  </a:tcPr>
                </a:tc>
              </a:tr>
              <a:tr h="523875">
                <a:tc>
                  <a:txBody>
                    <a:bodyPr/>
                    <a:lstStyle/>
                    <a:p>
                      <a:r>
                        <a:rPr sz="1725">
                          <a:solidFill>
                            <a:srgbClr val="16283D"/>
                          </a:solidFill>
                          <a:latin typeface="Aptos"/>
                          <a:ea typeface="Aptos"/>
                          <a:cs typeface="Aptos"/>
                        </a:rPr>
                        <a:t>ANN</a:t>
                      </a:r>
                    </a:p>
                  </a:txBody>
                  <a:tcPr marL="114300" marR="114300" marT="47625" marB="47625">
                    <a:lnL w="9525">
                      <a:solidFill>
                        <a:srgbClr val="D4DDE4"/>
                      </a:solidFill>
                      <a:prstDash val="solid"/>
                    </a:lnL>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Nearest-neighbor search</a:t>
                      </a:r>
                    </a:p>
                  </a:txBody>
                  <a:tcPr marL="114300" marR="114300" marT="47625" marB="47625">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1.992</a:t>
                      </a:r>
                    </a:p>
                  </a:txBody>
                  <a:tcPr marL="114300" marR="114300" marT="47625" marB="47625">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24.6</a:t>
                      </a:r>
                    </a:p>
                  </a:txBody>
                  <a:tcPr marL="114300" marR="114300" marT="47625" marB="47625">
                    <a:lnR w="9525">
                      <a:solidFill>
                        <a:srgbClr val="D4DDE4"/>
                      </a:solidFill>
                      <a:prstDash val="solid"/>
                    </a:lnR>
                    <a:lnB w="9525">
                      <a:solidFill>
                        <a:srgbClr val="D4DDE4"/>
                      </a:solidFill>
                      <a:prstDash val="solid"/>
                    </a:lnB>
                  </a:tcPr>
                </a:tc>
              </a:tr>
            </a:tbl>
          </a:graphicData>
        </a:graphic>
      </p:graphicFrame>
      <p:sp>
        <p:nvSpPr>
          <p:cNvPr id="5" name="">
            <a:extLst xmlns:a="http://schemas.openxmlformats.org/drawingml/2006/main">
              <a:ext uri="{FF2B5EF4-FFF2-40B4-BE49-F238E27FC236}">
                <a16:creationId xmlns:a16="http://schemas.microsoft.com/office/drawing/2014/main" id="{4539A030-5F99-4D54-A493-CE348BDCBAE2}"/>
              </a:ext>
            </a:extLst>
          </p:cNvPr>
          <p:cNvSpPr>
            <a:spLocks xmlns:a="http://schemas.openxmlformats.org/drawingml/2006/main" noGrp="1"/>
          </p:cNvSpPr>
          <p:nvPr/>
        </p:nvSpPr>
        <p:spPr>
          <a:xfrm xmlns:a="http://schemas.openxmlformats.org/drawingml/2006/main">
            <a:off x="609600" y="5962650"/>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6283D"/>
                </a:solidFill>
                <a:latin typeface="Aptos"/>
                <a:ea typeface="Aptos"/>
                <a:cs typeface="Aptos"/>
              </a:defRPr>
            </a:defPPr>
          </a:lstStyle>
          <a:p xmlns:a="http://schemas.openxmlformats.org/drawingml/2006/main">
            <a:pPr>
              <a:defRPr sz="1725" b="0">
                <a:solidFill>
                  <a:srgbClr val="16283D"/>
                </a:solidFill>
                <a:latin typeface="Aptos"/>
                <a:ea typeface="Aptos"/>
                <a:cs typeface="Aptos"/>
              </a:defRPr>
            </a:pPr>
            <a:r>
              <a:rPr sz="1725" b="0">
                <a:solidFill>
                  <a:srgbClr val="16283D"/>
                </a:solidFill>
                <a:latin typeface="Aptos"/>
                <a:ea typeface="Aptos"/>
                <a:cs typeface="Aptos"/>
              </a:rPr>
              <a:t>Five runs per row. Native behavior measurements do not establish a CXL placement speedup.</a:t>
            </a:r>
          </a:p>
        </p:txBody>
      </p:sp>
    </p:spTree>
    <p:extLst>
      <p:ext uri="{BB962C8B-B14F-4D97-AF65-F5344CB8AC3E}">
        <p14:creationId xmlns:p14="http://schemas.microsoft.com/office/powerpoint/2010/main" val="1748084325"/>
      </p:ext>
    </p:extLst>
  </p:cSld>
</p:sld>
</file>

<file path=ppt/slides/slide7.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04CD610-7E9D-4AEB-9DEC-37D45AAF4285}"/>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6283D"/>
                </a:solidFill>
                <a:latin typeface="Aptos"/>
                <a:ea typeface="Aptos"/>
                <a:cs typeface="Aptos"/>
              </a:defRPr>
            </a:defPPr>
          </a:lstStyle>
          <a:p xmlns:a="http://schemas.openxmlformats.org/drawingml/2006/main">
            <a:pPr>
              <a:defRPr sz="3225" b="1">
                <a:solidFill>
                  <a:srgbClr val="16283D"/>
                </a:solidFill>
                <a:latin typeface="Aptos"/>
                <a:ea typeface="Aptos"/>
                <a:cs typeface="Aptos"/>
              </a:defRPr>
            </a:pPr>
            <a:r>
              <a:rPr sz="3225" b="1">
                <a:solidFill>
                  <a:srgbClr val="16283D"/>
                </a:solidFill>
                <a:latin typeface="Aptos"/>
                <a:ea typeface="Aptos"/>
                <a:cs typeface="Aptos"/>
              </a:rPr>
              <a:t>What the native counters tell us</a:t>
            </a:r>
          </a:p>
        </p:txBody>
      </p:sp>
      <p:sp>
        <p:nvSpPr>
          <p:cNvPr id="2" name="">
            <a:extLst xmlns:a="http://schemas.openxmlformats.org/drawingml/2006/main">
              <a:ext uri="{FF2B5EF4-FFF2-40B4-BE49-F238E27FC236}">
                <a16:creationId xmlns:a16="http://schemas.microsoft.com/office/drawing/2014/main" id="{7E7631A9-044F-44D8-8321-5C96E2682BD5}"/>
              </a:ext>
            </a:extLst>
          </p:cNvPr>
          <p:cNvSpPr>
            <a:spLocks xmlns:a="http://schemas.openxmlformats.org/drawingml/2006/main" noGrp="1"/>
          </p:cNvSpPr>
          <p:nvPr/>
        </p:nvSpPr>
        <p:spPr>
          <a:xfrm xmlns:a="http://schemas.openxmlformats.org/drawingml/2006/main">
            <a:off x="11144250" y="63341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276"/>
                </a:solidFill>
                <a:latin typeface="Aptos"/>
                <a:ea typeface="Aptos"/>
                <a:cs typeface="Aptos"/>
              </a:defRPr>
            </a:defPPr>
          </a:lstStyle>
          <a:p xmlns:a="http://schemas.openxmlformats.org/drawingml/2006/main">
            <a:pPr>
              <a:defRPr sz="1200" b="0">
                <a:solidFill>
                  <a:srgbClr val="526276"/>
                </a:solidFill>
                <a:latin typeface="Aptos"/>
                <a:ea typeface="Aptos"/>
                <a:cs typeface="Aptos"/>
              </a:defRPr>
            </a:pPr>
            <a:r>
              <a:rPr sz="1200" b="0">
                <a:solidFill>
                  <a:srgbClr val="526276"/>
                </a:solidFill>
                <a:latin typeface="Aptos"/>
                <a:ea typeface="Aptos"/>
                <a:cs typeface="Aptos"/>
              </a:rPr>
              <a:t>07</a:t>
            </a:r>
          </a:p>
        </p:txBody>
      </p:sp>
      <p:sp>
        <p:nvSpPr>
          <p:cNvPr id="3" name="">
            <a:extLst xmlns:a="http://schemas.openxmlformats.org/drawingml/2006/main">
              <a:ext uri="{FF2B5EF4-FFF2-40B4-BE49-F238E27FC236}">
                <a16:creationId xmlns:a16="http://schemas.microsoft.com/office/drawing/2014/main" id="{DB93BB2F-62A9-4AAA-BD2B-4BC65EC84F6E}"/>
              </a:ext>
            </a:extLst>
          </p:cNvPr>
          <p:cNvSpPr>
            <a:spLocks xmlns:a="http://schemas.openxmlformats.org/drawingml/2006/main" noGrp="1"/>
          </p:cNvSpPr>
          <p:nvPr/>
        </p:nvSpPr>
        <p:spPr>
          <a:xfrm xmlns:a="http://schemas.openxmlformats.org/drawingml/2006/main">
            <a:off x="609600" y="6315075"/>
            <a:ext cx="10287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276"/>
                </a:solidFill>
                <a:latin typeface="Aptos"/>
                <a:ea typeface="Aptos"/>
                <a:cs typeface="Aptos"/>
              </a:defRPr>
            </a:defPPr>
          </a:lstStyle>
          <a:p xmlns:a="http://schemas.openxmlformats.org/drawingml/2006/main">
            <a:pPr>
              <a:defRPr sz="1125" b="0">
                <a:solidFill>
                  <a:srgbClr val="526276"/>
                </a:solidFill>
                <a:latin typeface="Aptos"/>
                <a:ea typeface="Aptos"/>
                <a:cs typeface="Aptos"/>
              </a:defRPr>
            </a:pPr>
            <a:r>
              <a:rPr sz="1125" b="0">
                <a:solidFill>
                  <a:srgbClr val="526276"/>
                </a:solidFill>
                <a:latin typeface="Aptos"/>
                <a:ea typeface="Aptos"/>
                <a:cs typeface="Aptos"/>
              </a:rPr>
              <a:t>Source: NativePC/processed_data/workload_summary.csv</a:t>
            </a:r>
          </a:p>
        </p:txBody>
      </p:sp>
      <p:sp>
        <p:nvSpPr>
          <p:cNvPr id="4" name="">
            <a:extLst xmlns:a="http://schemas.openxmlformats.org/drawingml/2006/main">
              <a:ext uri="{FF2B5EF4-FFF2-40B4-BE49-F238E27FC236}">
                <a16:creationId xmlns:a16="http://schemas.microsoft.com/office/drawing/2014/main" id="{AB3CCB09-0DCA-4A93-B73A-863D6D9C1335}"/>
              </a:ext>
            </a:extLst>
          </p:cNvPr>
          <p:cNvSpPr>
            <a:spLocks xmlns:a="http://schemas.openxmlformats.org/drawingml/2006/main" noGrp="1"/>
          </p:cNvSpPr>
          <p:nvPr/>
        </p:nvSpPr>
        <p:spPr>
          <a:xfrm xmlns:a="http://schemas.openxmlformats.org/drawingml/2006/main">
            <a:off x="628650" y="150495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6A75"/>
                </a:solidFill>
                <a:latin typeface="Aptos"/>
                <a:ea typeface="Aptos"/>
                <a:cs typeface="Aptos"/>
              </a:defRPr>
            </a:defPPr>
          </a:lstStyle>
          <a:p xmlns:a="http://schemas.openxmlformats.org/drawingml/2006/main">
            <a:pPr>
              <a:defRPr sz="1725" b="1">
                <a:solidFill>
                  <a:srgbClr val="006A75"/>
                </a:solidFill>
                <a:latin typeface="Aptos"/>
                <a:ea typeface="Aptos"/>
                <a:cs typeface="Aptos"/>
              </a:defRPr>
            </a:pPr>
            <a:r>
              <a:rPr sz="1725" b="1">
                <a:solidFill>
                  <a:srgbClr val="006A75"/>
                </a:solidFill>
                <a:latin typeface="Aptos"/>
                <a:ea typeface="Aptos"/>
                <a:cs typeface="Aptos"/>
              </a:rPr>
              <a:t>01</a:t>
            </a:r>
          </a:p>
        </p:txBody>
      </p:sp>
      <p:sp>
        <p:nvSpPr>
          <p:cNvPr id="5" name="">
            <a:extLst xmlns:a="http://schemas.openxmlformats.org/drawingml/2006/main">
              <a:ext uri="{FF2B5EF4-FFF2-40B4-BE49-F238E27FC236}">
                <a16:creationId xmlns:a16="http://schemas.microsoft.com/office/drawing/2014/main" id="{65BBAD7E-386E-4ECB-B6E5-59A4569C34DB}"/>
              </a:ext>
            </a:extLst>
          </p:cNvPr>
          <p:cNvSpPr>
            <a:spLocks xmlns:a="http://schemas.openxmlformats.org/drawingml/2006/main" noGrp="1"/>
          </p:cNvSpPr>
          <p:nvPr/>
        </p:nvSpPr>
        <p:spPr>
          <a:xfrm xmlns:a="http://schemas.openxmlformats.org/drawingml/2006/main">
            <a:off x="1200150" y="148590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83D"/>
                </a:solidFill>
                <a:latin typeface="Aptos"/>
                <a:ea typeface="Aptos"/>
                <a:cs typeface="Aptos"/>
              </a:defRPr>
            </a:defPPr>
          </a:lstStyle>
          <a:p xmlns:a="http://schemas.openxmlformats.org/drawingml/2006/main">
            <a:pPr>
              <a:defRPr sz="2100" b="0">
                <a:solidFill>
                  <a:srgbClr val="16283D"/>
                </a:solidFill>
                <a:latin typeface="Aptos"/>
                <a:ea typeface="Aptos"/>
                <a:cs typeface="Aptos"/>
              </a:defRPr>
            </a:pPr>
            <a:r>
              <a:rPr sz="2100" b="0">
                <a:solidFill>
                  <a:srgbClr val="16283D"/>
                </a:solidFill>
                <a:latin typeface="Aptos"/>
                <a:ea typeface="Aptos"/>
                <a:cs typeface="Aptos"/>
              </a:rPr>
              <a:t>Pointer chase and STREAM show very low IPC and many retired L3 load misses. They give us useful examples of strongly memory-sensitive behavior.</a:t>
            </a:r>
          </a:p>
        </p:txBody>
      </p:sp>
      <p:sp>
        <p:nvSpPr>
          <p:cNvPr id="6" name="">
            <a:extLst xmlns:a="http://schemas.openxmlformats.org/drawingml/2006/main">
              <a:ext uri="{FF2B5EF4-FFF2-40B4-BE49-F238E27FC236}">
                <a16:creationId xmlns:a16="http://schemas.microsoft.com/office/drawing/2014/main" id="{EC1F723D-E588-4D0B-8FA0-0E30FA37C505}"/>
              </a:ext>
            </a:extLst>
          </p:cNvPr>
          <p:cNvSpPr>
            <a:spLocks xmlns:a="http://schemas.openxmlformats.org/drawingml/2006/main" noGrp="1"/>
          </p:cNvSpPr>
          <p:nvPr/>
        </p:nvSpPr>
        <p:spPr>
          <a:xfrm xmlns:a="http://schemas.openxmlformats.org/drawingml/2006/main">
            <a:off x="628650" y="260985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6A75"/>
                </a:solidFill>
                <a:latin typeface="Aptos"/>
                <a:ea typeface="Aptos"/>
                <a:cs typeface="Aptos"/>
              </a:defRPr>
            </a:defPPr>
          </a:lstStyle>
          <a:p xmlns:a="http://schemas.openxmlformats.org/drawingml/2006/main">
            <a:pPr>
              <a:defRPr sz="1725" b="1">
                <a:solidFill>
                  <a:srgbClr val="006A75"/>
                </a:solidFill>
                <a:latin typeface="Aptos"/>
                <a:ea typeface="Aptos"/>
                <a:cs typeface="Aptos"/>
              </a:defRPr>
            </a:pPr>
            <a:r>
              <a:rPr sz="1725" b="1">
                <a:solidFill>
                  <a:srgbClr val="006A75"/>
                </a:solidFill>
                <a:latin typeface="Aptos"/>
                <a:ea typeface="Aptos"/>
                <a:cs typeface="Aptos"/>
              </a:rPr>
              <a:t>02</a:t>
            </a:r>
          </a:p>
        </p:txBody>
      </p:sp>
      <p:sp>
        <p:nvSpPr>
          <p:cNvPr id="7" name="">
            <a:extLst xmlns:a="http://schemas.openxmlformats.org/drawingml/2006/main">
              <a:ext uri="{FF2B5EF4-FFF2-40B4-BE49-F238E27FC236}">
                <a16:creationId xmlns:a16="http://schemas.microsoft.com/office/drawing/2014/main" id="{198031CD-2CD9-4971-BEBD-A898CCDE401F}"/>
              </a:ext>
            </a:extLst>
          </p:cNvPr>
          <p:cNvSpPr>
            <a:spLocks xmlns:a="http://schemas.openxmlformats.org/drawingml/2006/main" noGrp="1"/>
          </p:cNvSpPr>
          <p:nvPr/>
        </p:nvSpPr>
        <p:spPr>
          <a:xfrm xmlns:a="http://schemas.openxmlformats.org/drawingml/2006/main">
            <a:off x="1200150" y="259080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83D"/>
                </a:solidFill>
                <a:latin typeface="Aptos"/>
                <a:ea typeface="Aptos"/>
                <a:cs typeface="Aptos"/>
              </a:defRPr>
            </a:defPPr>
          </a:lstStyle>
          <a:p xmlns:a="http://schemas.openxmlformats.org/drawingml/2006/main">
            <a:pPr>
              <a:defRPr sz="2100" b="0">
                <a:solidFill>
                  <a:srgbClr val="16283D"/>
                </a:solidFill>
                <a:latin typeface="Aptos"/>
                <a:ea typeface="Aptos"/>
                <a:cs typeface="Aptos"/>
              </a:defRPr>
            </a:pPr>
            <a:r>
              <a:rPr sz="2100" b="0">
                <a:solidFill>
                  <a:srgbClr val="16283D"/>
                </a:solidFill>
                <a:latin typeface="Aptos"/>
                <a:ea typeface="Aptos"/>
                <a:cs typeface="Aptos"/>
              </a:rPr>
              <a:t>llama.cpp has more L3 misses than the other summarized ML workloads. DLRM also shows memory activity and motivated separate phase-level instrumentation.</a:t>
            </a:r>
          </a:p>
        </p:txBody>
      </p:sp>
      <p:sp>
        <p:nvSpPr>
          <p:cNvPr id="8" name="">
            <a:extLst xmlns:a="http://schemas.openxmlformats.org/drawingml/2006/main">
              <a:ext uri="{FF2B5EF4-FFF2-40B4-BE49-F238E27FC236}">
                <a16:creationId xmlns:a16="http://schemas.microsoft.com/office/drawing/2014/main" id="{3D49C924-916E-4062-AF71-2C7459816E30}"/>
              </a:ext>
            </a:extLst>
          </p:cNvPr>
          <p:cNvSpPr>
            <a:spLocks xmlns:a="http://schemas.openxmlformats.org/drawingml/2006/main" noGrp="1"/>
          </p:cNvSpPr>
          <p:nvPr/>
        </p:nvSpPr>
        <p:spPr>
          <a:xfrm xmlns:a="http://schemas.openxmlformats.org/drawingml/2006/main">
            <a:off x="628650" y="371475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6A75"/>
                </a:solidFill>
                <a:latin typeface="Aptos"/>
                <a:ea typeface="Aptos"/>
                <a:cs typeface="Aptos"/>
              </a:defRPr>
            </a:defPPr>
          </a:lstStyle>
          <a:p xmlns:a="http://schemas.openxmlformats.org/drawingml/2006/main">
            <a:pPr>
              <a:defRPr sz="1725" b="1">
                <a:solidFill>
                  <a:srgbClr val="006A75"/>
                </a:solidFill>
                <a:latin typeface="Aptos"/>
                <a:ea typeface="Aptos"/>
                <a:cs typeface="Aptos"/>
              </a:defRPr>
            </a:pPr>
            <a:r>
              <a:rPr sz="1725" b="1">
                <a:solidFill>
                  <a:srgbClr val="006A75"/>
                </a:solidFill>
                <a:latin typeface="Aptos"/>
                <a:ea typeface="Aptos"/>
                <a:cs typeface="Aptos"/>
              </a:rPr>
              <a:t>03</a:t>
            </a:r>
          </a:p>
        </p:txBody>
      </p:sp>
      <p:sp>
        <p:nvSpPr>
          <p:cNvPr id="9" name="">
            <a:extLst xmlns:a="http://schemas.openxmlformats.org/drawingml/2006/main">
              <a:ext uri="{FF2B5EF4-FFF2-40B4-BE49-F238E27FC236}">
                <a16:creationId xmlns:a16="http://schemas.microsoft.com/office/drawing/2014/main" id="{16E579BE-B001-45D5-A981-A50B8868AEC2}"/>
              </a:ext>
            </a:extLst>
          </p:cNvPr>
          <p:cNvSpPr>
            <a:spLocks xmlns:a="http://schemas.openxmlformats.org/drawingml/2006/main" noGrp="1"/>
          </p:cNvSpPr>
          <p:nvPr/>
        </p:nvSpPr>
        <p:spPr>
          <a:xfrm xmlns:a="http://schemas.openxmlformats.org/drawingml/2006/main">
            <a:off x="1200150" y="369570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83D"/>
                </a:solidFill>
                <a:latin typeface="Aptos"/>
                <a:ea typeface="Aptos"/>
                <a:cs typeface="Aptos"/>
              </a:defRPr>
            </a:defPPr>
          </a:lstStyle>
          <a:p xmlns:a="http://schemas.openxmlformats.org/drawingml/2006/main">
            <a:pPr>
              <a:defRPr sz="2100" b="0">
                <a:solidFill>
                  <a:srgbClr val="16283D"/>
                </a:solidFill>
                <a:latin typeface="Aptos"/>
                <a:ea typeface="Aptos"/>
                <a:cs typeface="Aptos"/>
              </a:defRPr>
            </a:pPr>
            <a:r>
              <a:rPr sz="2100" b="0">
                <a:solidFill>
                  <a:srgbClr val="16283D"/>
                </a:solidFill>
                <a:latin typeface="Aptos"/>
                <a:ea typeface="Aptos"/>
                <a:cs typeface="Aptos"/>
              </a:rPr>
              <a:t>Outstanding-read cycle fractions reach about 0.951 for pointer chase and 0.981 for STREAM. These indicate time with requests outstanding, not the average number of concurrent requests.</a:t>
            </a:r>
          </a:p>
        </p:txBody>
      </p:sp>
      <p:sp>
        <p:nvSpPr>
          <p:cNvPr id="10" name="">
            <a:extLst xmlns:a="http://schemas.openxmlformats.org/drawingml/2006/main">
              <a:ext uri="{FF2B5EF4-FFF2-40B4-BE49-F238E27FC236}">
                <a16:creationId xmlns:a16="http://schemas.microsoft.com/office/drawing/2014/main" id="{128CC7DB-3612-4A57-A391-E60EEA191795}"/>
              </a:ext>
            </a:extLst>
          </p:cNvPr>
          <p:cNvSpPr>
            <a:spLocks xmlns:a="http://schemas.openxmlformats.org/drawingml/2006/main" noGrp="1"/>
          </p:cNvSpPr>
          <p:nvPr/>
        </p:nvSpPr>
        <p:spPr>
          <a:xfrm xmlns:a="http://schemas.openxmlformats.org/drawingml/2006/main">
            <a:off x="628650" y="481965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6A75"/>
                </a:solidFill>
                <a:latin typeface="Aptos"/>
                <a:ea typeface="Aptos"/>
                <a:cs typeface="Aptos"/>
              </a:defRPr>
            </a:defPPr>
          </a:lstStyle>
          <a:p xmlns:a="http://schemas.openxmlformats.org/drawingml/2006/main">
            <a:pPr>
              <a:defRPr sz="1725" b="1">
                <a:solidFill>
                  <a:srgbClr val="006A75"/>
                </a:solidFill>
                <a:latin typeface="Aptos"/>
                <a:ea typeface="Aptos"/>
                <a:cs typeface="Aptos"/>
              </a:defRPr>
            </a:pPr>
            <a:r>
              <a:rPr sz="1725" b="1">
                <a:solidFill>
                  <a:srgbClr val="006A75"/>
                </a:solidFill>
                <a:latin typeface="Aptos"/>
                <a:ea typeface="Aptos"/>
                <a:cs typeface="Aptos"/>
              </a:rPr>
              <a:t>04</a:t>
            </a:r>
          </a:p>
        </p:txBody>
      </p:sp>
      <p:sp>
        <p:nvSpPr>
          <p:cNvPr id="11" name="">
            <a:extLst xmlns:a="http://schemas.openxmlformats.org/drawingml/2006/main">
              <a:ext uri="{FF2B5EF4-FFF2-40B4-BE49-F238E27FC236}">
                <a16:creationId xmlns:a16="http://schemas.microsoft.com/office/drawing/2014/main" id="{97A4B017-8607-49B5-B620-D60903B30EB3}"/>
              </a:ext>
            </a:extLst>
          </p:cNvPr>
          <p:cNvSpPr>
            <a:spLocks xmlns:a="http://schemas.openxmlformats.org/drawingml/2006/main" noGrp="1"/>
          </p:cNvSpPr>
          <p:nvPr/>
        </p:nvSpPr>
        <p:spPr>
          <a:xfrm xmlns:a="http://schemas.openxmlformats.org/drawingml/2006/main">
            <a:off x="1200150" y="480060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83D"/>
                </a:solidFill>
                <a:latin typeface="Aptos"/>
                <a:ea typeface="Aptos"/>
                <a:cs typeface="Aptos"/>
              </a:defRPr>
            </a:defPPr>
          </a:lstStyle>
          <a:p xmlns:a="http://schemas.openxmlformats.org/drawingml/2006/main">
            <a:pPr>
              <a:defRPr sz="2100" b="0">
                <a:solidFill>
                  <a:srgbClr val="16283D"/>
                </a:solidFill>
                <a:latin typeface="Aptos"/>
                <a:ea typeface="Aptos"/>
                <a:cs typeface="Aptos"/>
              </a:defRPr>
            </a:pPr>
            <a:r>
              <a:rPr sz="2100" b="0">
                <a:solidFill>
                  <a:srgbClr val="16283D"/>
                </a:solidFill>
                <a:latin typeface="Aptos"/>
                <a:ea typeface="Aptos"/>
                <a:cs typeface="Aptos"/>
              </a:rPr>
              <a:t>We therefore cannot call a native workload “high MLP” from this fraction alone. PAC requires occupancy divided by active time, which our analytical engines measure explicitly.</a:t>
            </a:r>
          </a:p>
        </p:txBody>
      </p:sp>
    </p:spTree>
    <p:extLst>
      <p:ext uri="{BB962C8B-B14F-4D97-AF65-F5344CB8AC3E}">
        <p14:creationId xmlns:p14="http://schemas.microsoft.com/office/powerpoint/2010/main" val="97827312"/>
      </p:ext>
    </p:extLst>
  </p:cSld>
</p:sld>
</file>

<file path=ppt/slides/slide8.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2C9F9A5-F592-44FF-918D-EB3C9C4B38EE}"/>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6283D"/>
                </a:solidFill>
                <a:latin typeface="Aptos"/>
                <a:ea typeface="Aptos"/>
                <a:cs typeface="Aptos"/>
              </a:defRPr>
            </a:defPPr>
          </a:lstStyle>
          <a:p xmlns:a="http://schemas.openxmlformats.org/drawingml/2006/main">
            <a:pPr>
              <a:defRPr sz="3225" b="1">
                <a:solidFill>
                  <a:srgbClr val="16283D"/>
                </a:solidFill>
                <a:latin typeface="Aptos"/>
                <a:ea typeface="Aptos"/>
                <a:cs typeface="Aptos"/>
              </a:defRPr>
            </a:pPr>
            <a:r>
              <a:rPr sz="3225" b="1">
                <a:solidFill>
                  <a:srgbClr val="16283D"/>
                </a:solidFill>
                <a:latin typeface="Aptos"/>
                <a:ea typeface="Aptos"/>
                <a:cs typeface="Aptos"/>
              </a:rPr>
              <a:t>Counter interpretation and targeted checks</a:t>
            </a:r>
          </a:p>
        </p:txBody>
      </p:sp>
      <p:sp>
        <p:nvSpPr>
          <p:cNvPr id="2" name="">
            <a:extLst xmlns:a="http://schemas.openxmlformats.org/drawingml/2006/main">
              <a:ext uri="{FF2B5EF4-FFF2-40B4-BE49-F238E27FC236}">
                <a16:creationId xmlns:a16="http://schemas.microsoft.com/office/drawing/2014/main" id="{520C5405-A982-41B2-A907-64D551618926}"/>
              </a:ext>
            </a:extLst>
          </p:cNvPr>
          <p:cNvSpPr>
            <a:spLocks xmlns:a="http://schemas.openxmlformats.org/drawingml/2006/main" noGrp="1"/>
          </p:cNvSpPr>
          <p:nvPr/>
        </p:nvSpPr>
        <p:spPr>
          <a:xfrm xmlns:a="http://schemas.openxmlformats.org/drawingml/2006/main">
            <a:off x="11144250" y="63341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276"/>
                </a:solidFill>
                <a:latin typeface="Aptos"/>
                <a:ea typeface="Aptos"/>
                <a:cs typeface="Aptos"/>
              </a:defRPr>
            </a:defPPr>
          </a:lstStyle>
          <a:p xmlns:a="http://schemas.openxmlformats.org/drawingml/2006/main">
            <a:pPr>
              <a:defRPr sz="1200" b="0">
                <a:solidFill>
                  <a:srgbClr val="526276"/>
                </a:solidFill>
                <a:latin typeface="Aptos"/>
                <a:ea typeface="Aptos"/>
                <a:cs typeface="Aptos"/>
              </a:defRPr>
            </a:pPr>
            <a:r>
              <a:rPr sz="1200" b="0">
                <a:solidFill>
                  <a:srgbClr val="526276"/>
                </a:solidFill>
                <a:latin typeface="Aptos"/>
                <a:ea typeface="Aptos"/>
                <a:cs typeface="Aptos"/>
              </a:rPr>
              <a:t>08</a:t>
            </a:r>
          </a:p>
        </p:txBody>
      </p:sp>
      <p:sp>
        <p:nvSpPr>
          <p:cNvPr id="3" name="">
            <a:extLst xmlns:a="http://schemas.openxmlformats.org/drawingml/2006/main">
              <a:ext uri="{FF2B5EF4-FFF2-40B4-BE49-F238E27FC236}">
                <a16:creationId xmlns:a16="http://schemas.microsoft.com/office/drawing/2014/main" id="{D1E2AF2C-D5F1-4547-8DC8-94F5C9BF7C02}"/>
              </a:ext>
            </a:extLst>
          </p:cNvPr>
          <p:cNvSpPr>
            <a:spLocks xmlns:a="http://schemas.openxmlformats.org/drawingml/2006/main" noGrp="1"/>
          </p:cNvSpPr>
          <p:nvPr/>
        </p:nvSpPr>
        <p:spPr>
          <a:xfrm xmlns:a="http://schemas.openxmlformats.org/drawingml/2006/main">
            <a:off x="609600" y="6315075"/>
            <a:ext cx="10287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276"/>
                </a:solidFill>
                <a:latin typeface="Aptos"/>
                <a:ea typeface="Aptos"/>
                <a:cs typeface="Aptos"/>
              </a:defRPr>
            </a:defPPr>
          </a:lstStyle>
          <a:p xmlns:a="http://schemas.openxmlformats.org/drawingml/2006/main">
            <a:pPr>
              <a:defRPr sz="1125" b="0">
                <a:solidFill>
                  <a:srgbClr val="526276"/>
                </a:solidFill>
                <a:latin typeface="Aptos"/>
                <a:ea typeface="Aptos"/>
                <a:cs typeface="Aptos"/>
              </a:defRPr>
            </a:pPr>
            <a:r>
              <a:rPr sz="1125" b="0">
                <a:solidFill>
                  <a:srgbClr val="526276"/>
                </a:solidFill>
                <a:latin typeface="Aptos"/>
                <a:ea typeface="Aptos"/>
                <a:cs typeface="Aptos"/>
              </a:rPr>
              <a:t>Source: NativePC/raw_data/dlrm/native_pw/20260924_172101_dlrm_pw/summary.txt</a:t>
            </a:r>
          </a:p>
        </p:txBody>
      </p:sp>
      <p:sp>
        <p:nvSpPr>
          <p:cNvPr id="4" name="">
            <a:extLst xmlns:a="http://schemas.openxmlformats.org/drawingml/2006/main">
              <a:ext uri="{FF2B5EF4-FFF2-40B4-BE49-F238E27FC236}">
                <a16:creationId xmlns:a16="http://schemas.microsoft.com/office/drawing/2014/main" id="{DBA73B97-8EBF-4792-9A0B-AB3B78E6C595}"/>
              </a:ext>
            </a:extLst>
          </p:cNvPr>
          <p:cNvSpPr>
            <a:spLocks xmlns:a="http://schemas.openxmlformats.org/drawingml/2006/main" noGrp="1"/>
          </p:cNvSpPr>
          <p:nvPr/>
        </p:nvSpPr>
        <p:spPr>
          <a:xfrm xmlns:a="http://schemas.openxmlformats.org/drawingml/2006/main">
            <a:off x="628650" y="150495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6A75"/>
                </a:solidFill>
                <a:latin typeface="Aptos"/>
                <a:ea typeface="Aptos"/>
                <a:cs typeface="Aptos"/>
              </a:defRPr>
            </a:defPPr>
          </a:lstStyle>
          <a:p xmlns:a="http://schemas.openxmlformats.org/drawingml/2006/main">
            <a:pPr>
              <a:defRPr sz="1725" b="1">
                <a:solidFill>
                  <a:srgbClr val="006A75"/>
                </a:solidFill>
                <a:latin typeface="Aptos"/>
                <a:ea typeface="Aptos"/>
                <a:cs typeface="Aptos"/>
              </a:defRPr>
            </a:pPr>
            <a:r>
              <a:rPr sz="1725" b="1">
                <a:solidFill>
                  <a:srgbClr val="006A75"/>
                </a:solidFill>
                <a:latin typeface="Aptos"/>
                <a:ea typeface="Aptos"/>
                <a:cs typeface="Aptos"/>
              </a:rPr>
              <a:t>01</a:t>
            </a:r>
          </a:p>
        </p:txBody>
      </p:sp>
      <p:sp>
        <p:nvSpPr>
          <p:cNvPr id="5" name="">
            <a:extLst xmlns:a="http://schemas.openxmlformats.org/drawingml/2006/main">
              <a:ext uri="{FF2B5EF4-FFF2-40B4-BE49-F238E27FC236}">
                <a16:creationId xmlns:a16="http://schemas.microsoft.com/office/drawing/2014/main" id="{DC4BD1EB-0F02-41A0-AE2E-6F82302BAF50}"/>
              </a:ext>
            </a:extLst>
          </p:cNvPr>
          <p:cNvSpPr>
            <a:spLocks xmlns:a="http://schemas.openxmlformats.org/drawingml/2006/main" noGrp="1"/>
          </p:cNvSpPr>
          <p:nvPr/>
        </p:nvSpPr>
        <p:spPr>
          <a:xfrm xmlns:a="http://schemas.openxmlformats.org/drawingml/2006/main">
            <a:off x="1200150" y="148590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83D"/>
                </a:solidFill>
                <a:latin typeface="Aptos"/>
                <a:ea typeface="Aptos"/>
                <a:cs typeface="Aptos"/>
              </a:defRPr>
            </a:defPPr>
          </a:lstStyle>
          <a:p xmlns:a="http://schemas.openxmlformats.org/drawingml/2006/main">
            <a:pPr>
              <a:defRPr sz="2100" b="0">
                <a:solidFill>
                  <a:srgbClr val="16283D"/>
                </a:solidFill>
                <a:latin typeface="Aptos"/>
                <a:ea typeface="Aptos"/>
                <a:cs typeface="Aptos"/>
              </a:defRPr>
            </a:pPr>
            <a:r>
              <a:rPr sz="2100" b="0">
                <a:solidFill>
                  <a:srgbClr val="16283D"/>
                </a:solidFill>
                <a:latin typeface="Aptos"/>
                <a:ea typeface="Aptos"/>
                <a:cs typeface="Aptos"/>
              </a:rPr>
              <a:t>We distinguish counter scheduling coverage from the workload metric. A counter running for 99% of the measurement does not mean page walks occupy 99% of runtime.</a:t>
            </a:r>
          </a:p>
        </p:txBody>
      </p:sp>
      <p:sp>
        <p:nvSpPr>
          <p:cNvPr id="6" name="">
            <a:extLst xmlns:a="http://schemas.openxmlformats.org/drawingml/2006/main">
              <a:ext uri="{FF2B5EF4-FFF2-40B4-BE49-F238E27FC236}">
                <a16:creationId xmlns:a16="http://schemas.microsoft.com/office/drawing/2014/main" id="{1B4A23A9-3FA8-4217-8102-C40364516269}"/>
              </a:ext>
            </a:extLst>
          </p:cNvPr>
          <p:cNvSpPr>
            <a:spLocks xmlns:a="http://schemas.openxmlformats.org/drawingml/2006/main" noGrp="1"/>
          </p:cNvSpPr>
          <p:nvPr/>
        </p:nvSpPr>
        <p:spPr>
          <a:xfrm xmlns:a="http://schemas.openxmlformats.org/drawingml/2006/main">
            <a:off x="628650" y="260985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6A75"/>
                </a:solidFill>
                <a:latin typeface="Aptos"/>
                <a:ea typeface="Aptos"/>
                <a:cs typeface="Aptos"/>
              </a:defRPr>
            </a:defPPr>
          </a:lstStyle>
          <a:p xmlns:a="http://schemas.openxmlformats.org/drawingml/2006/main">
            <a:pPr>
              <a:defRPr sz="1725" b="1">
                <a:solidFill>
                  <a:srgbClr val="006A75"/>
                </a:solidFill>
                <a:latin typeface="Aptos"/>
                <a:ea typeface="Aptos"/>
                <a:cs typeface="Aptos"/>
              </a:defRPr>
            </a:pPr>
            <a:r>
              <a:rPr sz="1725" b="1">
                <a:solidFill>
                  <a:srgbClr val="006A75"/>
                </a:solidFill>
                <a:latin typeface="Aptos"/>
                <a:ea typeface="Aptos"/>
                <a:cs typeface="Aptos"/>
              </a:rPr>
              <a:t>02</a:t>
            </a:r>
          </a:p>
        </p:txBody>
      </p:sp>
      <p:sp>
        <p:nvSpPr>
          <p:cNvPr id="7" name="">
            <a:extLst xmlns:a="http://schemas.openxmlformats.org/drawingml/2006/main">
              <a:ext uri="{FF2B5EF4-FFF2-40B4-BE49-F238E27FC236}">
                <a16:creationId xmlns:a16="http://schemas.microsoft.com/office/drawing/2014/main" id="{EE22ABA0-AE48-4EE7-AEE3-AA477DE3C6D8}"/>
              </a:ext>
            </a:extLst>
          </p:cNvPr>
          <p:cNvSpPr>
            <a:spLocks xmlns:a="http://schemas.openxmlformats.org/drawingml/2006/main" noGrp="1"/>
          </p:cNvSpPr>
          <p:nvPr/>
        </p:nvSpPr>
        <p:spPr>
          <a:xfrm xmlns:a="http://schemas.openxmlformats.org/drawingml/2006/main">
            <a:off x="1200150" y="259080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83D"/>
                </a:solidFill>
                <a:latin typeface="Aptos"/>
                <a:ea typeface="Aptos"/>
                <a:cs typeface="Aptos"/>
              </a:defRPr>
            </a:defPPr>
          </a:lstStyle>
          <a:p xmlns:a="http://schemas.openxmlformats.org/drawingml/2006/main">
            <a:pPr>
              <a:defRPr sz="2100" b="0">
                <a:solidFill>
                  <a:srgbClr val="16283D"/>
                </a:solidFill>
                <a:latin typeface="Aptos"/>
                <a:ea typeface="Aptos"/>
                <a:cs typeface="Aptos"/>
              </a:defRPr>
            </a:pPr>
            <a:r>
              <a:rPr sz="2100" b="0">
                <a:solidFill>
                  <a:srgbClr val="16283D"/>
                </a:solidFill>
                <a:latin typeface="Aptos"/>
                <a:ea typeface="Aptos"/>
                <a:cs typeface="Aptos"/>
              </a:rPr>
              <a:t>The targeted DLRM run reports load page-walk activity of 1.302% and store page-walk activity of 2.042% of measured cycles.</a:t>
            </a:r>
          </a:p>
        </p:txBody>
      </p:sp>
      <p:sp>
        <p:nvSpPr>
          <p:cNvPr id="8" name="">
            <a:extLst xmlns:a="http://schemas.openxmlformats.org/drawingml/2006/main">
              <a:ext uri="{FF2B5EF4-FFF2-40B4-BE49-F238E27FC236}">
                <a16:creationId xmlns:a16="http://schemas.microsoft.com/office/drawing/2014/main" id="{6C2AD0AB-9932-4BCB-852A-3D0B0186B9E0}"/>
              </a:ext>
            </a:extLst>
          </p:cNvPr>
          <p:cNvSpPr>
            <a:spLocks xmlns:a="http://schemas.openxmlformats.org/drawingml/2006/main" noGrp="1"/>
          </p:cNvSpPr>
          <p:nvPr/>
        </p:nvSpPr>
        <p:spPr>
          <a:xfrm xmlns:a="http://schemas.openxmlformats.org/drawingml/2006/main">
            <a:off x="628650" y="371475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6A75"/>
                </a:solidFill>
                <a:latin typeface="Aptos"/>
                <a:ea typeface="Aptos"/>
                <a:cs typeface="Aptos"/>
              </a:defRPr>
            </a:defPPr>
          </a:lstStyle>
          <a:p xmlns:a="http://schemas.openxmlformats.org/drawingml/2006/main">
            <a:pPr>
              <a:defRPr sz="1725" b="1">
                <a:solidFill>
                  <a:srgbClr val="006A75"/>
                </a:solidFill>
                <a:latin typeface="Aptos"/>
                <a:ea typeface="Aptos"/>
                <a:cs typeface="Aptos"/>
              </a:defRPr>
            </a:pPr>
            <a:r>
              <a:rPr sz="1725" b="1">
                <a:solidFill>
                  <a:srgbClr val="006A75"/>
                </a:solidFill>
                <a:latin typeface="Aptos"/>
                <a:ea typeface="Aptos"/>
                <a:cs typeface="Aptos"/>
              </a:rPr>
              <a:t>03</a:t>
            </a:r>
          </a:p>
        </p:txBody>
      </p:sp>
      <p:sp>
        <p:nvSpPr>
          <p:cNvPr id="9" name="">
            <a:extLst xmlns:a="http://schemas.openxmlformats.org/drawingml/2006/main">
              <a:ext uri="{FF2B5EF4-FFF2-40B4-BE49-F238E27FC236}">
                <a16:creationId xmlns:a16="http://schemas.microsoft.com/office/drawing/2014/main" id="{444AB616-B049-45B3-9C50-82228BBAEAAD}"/>
              </a:ext>
            </a:extLst>
          </p:cNvPr>
          <p:cNvSpPr>
            <a:spLocks xmlns:a="http://schemas.openxmlformats.org/drawingml/2006/main" noGrp="1"/>
          </p:cNvSpPr>
          <p:nvPr/>
        </p:nvSpPr>
        <p:spPr>
          <a:xfrm xmlns:a="http://schemas.openxmlformats.org/drawingml/2006/main">
            <a:off x="1200150" y="369570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83D"/>
                </a:solidFill>
                <a:latin typeface="Aptos"/>
                <a:ea typeface="Aptos"/>
                <a:cs typeface="Aptos"/>
              </a:defRPr>
            </a:defPPr>
          </a:lstStyle>
          <a:p xmlns:a="http://schemas.openxmlformats.org/drawingml/2006/main">
            <a:pPr>
              <a:defRPr sz="2100" b="0">
                <a:solidFill>
                  <a:srgbClr val="16283D"/>
                </a:solidFill>
                <a:latin typeface="Aptos"/>
                <a:ea typeface="Aptos"/>
                <a:cs typeface="Aptos"/>
              </a:defRPr>
            </a:pPr>
            <a:r>
              <a:rPr sz="2100" b="0">
                <a:solidFill>
                  <a:srgbClr val="16283D"/>
                </a:solidFill>
                <a:latin typeface="Aptos"/>
                <a:ea typeface="Aptos"/>
                <a:cs typeface="Aptos"/>
              </a:rPr>
              <a:t>The exact combined load/store activity cannot be recovered from these aggregate counters. Its union lies between 2.042% and 3.344%, depending on overlap.</a:t>
            </a:r>
          </a:p>
        </p:txBody>
      </p:sp>
      <p:sp>
        <p:nvSpPr>
          <p:cNvPr id="10" name="">
            <a:extLst xmlns:a="http://schemas.openxmlformats.org/drawingml/2006/main">
              <a:ext uri="{FF2B5EF4-FFF2-40B4-BE49-F238E27FC236}">
                <a16:creationId xmlns:a16="http://schemas.microsoft.com/office/drawing/2014/main" id="{59211EC4-CE9A-46C2-A9FA-CFA27C7DE52E}"/>
              </a:ext>
            </a:extLst>
          </p:cNvPr>
          <p:cNvSpPr>
            <a:spLocks xmlns:a="http://schemas.openxmlformats.org/drawingml/2006/main" noGrp="1"/>
          </p:cNvSpPr>
          <p:nvPr/>
        </p:nvSpPr>
        <p:spPr>
          <a:xfrm xmlns:a="http://schemas.openxmlformats.org/drawingml/2006/main">
            <a:off x="628650" y="481965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6A75"/>
                </a:solidFill>
                <a:latin typeface="Aptos"/>
                <a:ea typeface="Aptos"/>
                <a:cs typeface="Aptos"/>
              </a:defRPr>
            </a:defPPr>
          </a:lstStyle>
          <a:p xmlns:a="http://schemas.openxmlformats.org/drawingml/2006/main">
            <a:pPr>
              <a:defRPr sz="1725" b="1">
                <a:solidFill>
                  <a:srgbClr val="006A75"/>
                </a:solidFill>
                <a:latin typeface="Aptos"/>
                <a:ea typeface="Aptos"/>
                <a:cs typeface="Aptos"/>
              </a:defRPr>
            </a:pPr>
            <a:r>
              <a:rPr sz="1725" b="1">
                <a:solidFill>
                  <a:srgbClr val="006A75"/>
                </a:solidFill>
                <a:latin typeface="Aptos"/>
                <a:ea typeface="Aptos"/>
                <a:cs typeface="Aptos"/>
              </a:rPr>
              <a:t>04</a:t>
            </a:r>
          </a:p>
        </p:txBody>
      </p:sp>
      <p:sp>
        <p:nvSpPr>
          <p:cNvPr id="11" name="">
            <a:extLst xmlns:a="http://schemas.openxmlformats.org/drawingml/2006/main">
              <a:ext uri="{FF2B5EF4-FFF2-40B4-BE49-F238E27FC236}">
                <a16:creationId xmlns:a16="http://schemas.microsoft.com/office/drawing/2014/main" id="{D98C7486-0C98-4FF7-8785-1AC1B2A744C5}"/>
              </a:ext>
            </a:extLst>
          </p:cNvPr>
          <p:cNvSpPr>
            <a:spLocks xmlns:a="http://schemas.openxmlformats.org/drawingml/2006/main" noGrp="1"/>
          </p:cNvSpPr>
          <p:nvPr/>
        </p:nvSpPr>
        <p:spPr>
          <a:xfrm xmlns:a="http://schemas.openxmlformats.org/drawingml/2006/main">
            <a:off x="1200150" y="480060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83D"/>
                </a:solidFill>
                <a:latin typeface="Aptos"/>
                <a:ea typeface="Aptos"/>
                <a:cs typeface="Aptos"/>
              </a:defRPr>
            </a:defPPr>
          </a:lstStyle>
          <a:p xmlns:a="http://schemas.openxmlformats.org/drawingml/2006/main">
            <a:pPr>
              <a:defRPr sz="2100" b="0">
                <a:solidFill>
                  <a:srgbClr val="16283D"/>
                </a:solidFill>
                <a:latin typeface="Aptos"/>
                <a:ea typeface="Aptos"/>
                <a:cs typeface="Aptos"/>
              </a:defRPr>
            </a:pPr>
            <a:r>
              <a:rPr sz="2100" b="0">
                <a:solidFill>
                  <a:srgbClr val="16283D"/>
                </a:solidFill>
                <a:latin typeface="Aptos"/>
                <a:ea typeface="Aptos"/>
                <a:cs typeface="Aptos"/>
              </a:rPr>
              <a:t>The same principle motivates criticality profiling: adding events or counting misses does not reveal which delays overlap and which delays extend execution.</a:t>
            </a:r>
          </a:p>
        </p:txBody>
      </p:sp>
    </p:spTree>
    <p:extLst>
      <p:ext uri="{BB962C8B-B14F-4D97-AF65-F5344CB8AC3E}">
        <p14:creationId xmlns:p14="http://schemas.microsoft.com/office/powerpoint/2010/main" val="1365187192"/>
      </p:ext>
    </p:extLst>
  </p:cSld>
</p:sld>
</file>

<file path=ppt/slides/slide9.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B0802F6-F591-4956-8EF7-DFC7F2091E2E}"/>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6283D"/>
                </a:solidFill>
                <a:latin typeface="Aptos"/>
                <a:ea typeface="Aptos"/>
                <a:cs typeface="Aptos"/>
              </a:defRPr>
            </a:defPPr>
          </a:lstStyle>
          <a:p xmlns:a="http://schemas.openxmlformats.org/drawingml/2006/main">
            <a:pPr>
              <a:defRPr sz="3225" b="1">
                <a:solidFill>
                  <a:srgbClr val="16283D"/>
                </a:solidFill>
                <a:latin typeface="Aptos"/>
                <a:ea typeface="Aptos"/>
                <a:cs typeface="Aptos"/>
              </a:defRPr>
            </a:pPr>
            <a:r>
              <a:rPr sz="3225" b="1">
                <a:solidFill>
                  <a:srgbClr val="16283D"/>
                </a:solidFill>
                <a:latin typeface="Aptos"/>
                <a:ea typeface="Aptos"/>
                <a:cs typeface="Aptos"/>
              </a:rPr>
              <a:t>Simulator evaluation and the OCEAN baseline</a:t>
            </a:r>
          </a:p>
        </p:txBody>
      </p:sp>
      <p:sp>
        <p:nvSpPr>
          <p:cNvPr id="2" name="">
            <a:extLst xmlns:a="http://schemas.openxmlformats.org/drawingml/2006/main">
              <a:ext uri="{FF2B5EF4-FFF2-40B4-BE49-F238E27FC236}">
                <a16:creationId xmlns:a16="http://schemas.microsoft.com/office/drawing/2014/main" id="{8D88A4F7-117A-44A8-8515-B138A3115A85}"/>
              </a:ext>
            </a:extLst>
          </p:cNvPr>
          <p:cNvSpPr>
            <a:spLocks xmlns:a="http://schemas.openxmlformats.org/drawingml/2006/main" noGrp="1"/>
          </p:cNvSpPr>
          <p:nvPr/>
        </p:nvSpPr>
        <p:spPr>
          <a:xfrm xmlns:a="http://schemas.openxmlformats.org/drawingml/2006/main">
            <a:off x="11144250" y="63341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276"/>
                </a:solidFill>
                <a:latin typeface="Aptos"/>
                <a:ea typeface="Aptos"/>
                <a:cs typeface="Aptos"/>
              </a:defRPr>
            </a:defPPr>
          </a:lstStyle>
          <a:p xmlns:a="http://schemas.openxmlformats.org/drawingml/2006/main">
            <a:pPr>
              <a:defRPr sz="1200" b="0">
                <a:solidFill>
                  <a:srgbClr val="526276"/>
                </a:solidFill>
                <a:latin typeface="Aptos"/>
                <a:ea typeface="Aptos"/>
                <a:cs typeface="Aptos"/>
              </a:defRPr>
            </a:pPr>
            <a:r>
              <a:rPr sz="1200" b="0">
                <a:solidFill>
                  <a:srgbClr val="526276"/>
                </a:solidFill>
                <a:latin typeface="Aptos"/>
                <a:ea typeface="Aptos"/>
                <a:cs typeface="Aptos"/>
              </a:rPr>
              <a:t>09</a:t>
            </a:r>
          </a:p>
        </p:txBody>
      </p:sp>
      <p:sp>
        <p:nvSpPr>
          <p:cNvPr id="3" name="">
            <a:extLst xmlns:a="http://schemas.openxmlformats.org/drawingml/2006/main">
              <a:ext uri="{FF2B5EF4-FFF2-40B4-BE49-F238E27FC236}">
                <a16:creationId xmlns:a16="http://schemas.microsoft.com/office/drawing/2014/main" id="{96521145-DD70-4BF6-94B3-DA15ED4C5BB9}"/>
              </a:ext>
            </a:extLst>
          </p:cNvPr>
          <p:cNvSpPr>
            <a:spLocks xmlns:a="http://schemas.openxmlformats.org/drawingml/2006/main" noGrp="1"/>
          </p:cNvSpPr>
          <p:nvPr/>
        </p:nvSpPr>
        <p:spPr>
          <a:xfrm xmlns:a="http://schemas.openxmlformats.org/drawingml/2006/main">
            <a:off x="609600" y="6315075"/>
            <a:ext cx="10287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276"/>
                </a:solidFill>
                <a:latin typeface="Aptos"/>
                <a:ea typeface="Aptos"/>
                <a:cs typeface="Aptos"/>
              </a:defRPr>
            </a:defPPr>
          </a:lstStyle>
          <a:p xmlns:a="http://schemas.openxmlformats.org/drawingml/2006/main">
            <a:pPr>
              <a:defRPr sz="1125" b="0">
                <a:solidFill>
                  <a:srgbClr val="526276"/>
                </a:solidFill>
                <a:latin typeface="Aptos"/>
                <a:ea typeface="Aptos"/>
                <a:cs typeface="Aptos"/>
              </a:defRPr>
            </a:pPr>
            <a:r>
              <a:rPr sz="1125" b="0">
                <a:solidFill>
                  <a:srgbClr val="526276"/>
                </a:solidFill>
                <a:latin typeface="Aptos"/>
                <a:ea typeface="Aptos"/>
                <a:cs typeface="Aptos"/>
              </a:rPr>
              <a:t>Source: experiments/ocean-runtime-baseline-2026-09-29/README.md</a:t>
            </a:r>
          </a:p>
        </p:txBody>
      </p:sp>
      <p:sp>
        <p:nvSpPr>
          <p:cNvPr id="4" name="">
            <a:extLst xmlns:a="http://schemas.openxmlformats.org/drawingml/2006/main">
              <a:ext uri="{FF2B5EF4-FFF2-40B4-BE49-F238E27FC236}">
                <a16:creationId xmlns:a16="http://schemas.microsoft.com/office/drawing/2014/main" id="{E6715633-0695-498C-96D2-6186AE01E9A5}"/>
              </a:ext>
            </a:extLst>
          </p:cNvPr>
          <p:cNvSpPr>
            <a:spLocks xmlns:a="http://schemas.openxmlformats.org/drawingml/2006/main" noGrp="1"/>
          </p:cNvSpPr>
          <p:nvPr/>
        </p:nvSpPr>
        <p:spPr>
          <a:xfrm xmlns:a="http://schemas.openxmlformats.org/drawingml/2006/main">
            <a:off x="628650" y="150495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6A75"/>
                </a:solidFill>
                <a:latin typeface="Aptos"/>
                <a:ea typeface="Aptos"/>
                <a:cs typeface="Aptos"/>
              </a:defRPr>
            </a:defPPr>
          </a:lstStyle>
          <a:p xmlns:a="http://schemas.openxmlformats.org/drawingml/2006/main">
            <a:pPr>
              <a:defRPr sz="1725" b="1">
                <a:solidFill>
                  <a:srgbClr val="006A75"/>
                </a:solidFill>
                <a:latin typeface="Aptos"/>
                <a:ea typeface="Aptos"/>
                <a:cs typeface="Aptos"/>
              </a:defRPr>
            </a:pPr>
            <a:r>
              <a:rPr sz="1725" b="1">
                <a:solidFill>
                  <a:srgbClr val="006A75"/>
                </a:solidFill>
                <a:latin typeface="Aptos"/>
                <a:ea typeface="Aptos"/>
                <a:cs typeface="Aptos"/>
              </a:rPr>
              <a:t>01</a:t>
            </a:r>
          </a:p>
        </p:txBody>
      </p:sp>
      <p:sp>
        <p:nvSpPr>
          <p:cNvPr id="5" name="">
            <a:extLst xmlns:a="http://schemas.openxmlformats.org/drawingml/2006/main">
              <a:ext uri="{FF2B5EF4-FFF2-40B4-BE49-F238E27FC236}">
                <a16:creationId xmlns:a16="http://schemas.microsoft.com/office/drawing/2014/main" id="{F3F7FC01-4A77-4221-A139-A88597055DCF}"/>
              </a:ext>
            </a:extLst>
          </p:cNvPr>
          <p:cNvSpPr>
            <a:spLocks xmlns:a="http://schemas.openxmlformats.org/drawingml/2006/main" noGrp="1"/>
          </p:cNvSpPr>
          <p:nvPr/>
        </p:nvSpPr>
        <p:spPr>
          <a:xfrm xmlns:a="http://schemas.openxmlformats.org/drawingml/2006/main">
            <a:off x="1200150" y="148590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83D"/>
                </a:solidFill>
                <a:latin typeface="Aptos"/>
                <a:ea typeface="Aptos"/>
                <a:cs typeface="Aptos"/>
              </a:defRPr>
            </a:defPPr>
          </a:lstStyle>
          <a:p xmlns:a="http://schemas.openxmlformats.org/drawingml/2006/main">
            <a:pPr>
              <a:defRPr sz="2100" b="0">
                <a:solidFill>
                  <a:srgbClr val="16283D"/>
                </a:solidFill>
                <a:latin typeface="Aptos"/>
                <a:ea typeface="Aptos"/>
                <a:cs typeface="Aptos"/>
              </a:defRPr>
            </a:pPr>
            <a:r>
              <a:rPr sz="2100" b="0">
                <a:solidFill>
                  <a:srgbClr val="16283D"/>
                </a:solidFill>
                <a:latin typeface="Aptos"/>
                <a:ea typeface="Aptos"/>
                <a:cs typeface="Aptos"/>
              </a:rPr>
              <a:t>The repository preserves SimCXL and OCEAN work. We tested OCEAN’s direct memory-server path against an equivalent local-memory loop before a planned PIPM prototype.</a:t>
            </a:r>
          </a:p>
        </p:txBody>
      </p:sp>
      <p:sp>
        <p:nvSpPr>
          <p:cNvPr id="6" name="">
            <a:extLst xmlns:a="http://schemas.openxmlformats.org/drawingml/2006/main">
              <a:ext uri="{FF2B5EF4-FFF2-40B4-BE49-F238E27FC236}">
                <a16:creationId xmlns:a16="http://schemas.microsoft.com/office/drawing/2014/main" id="{4E1A81EE-DD23-4E7A-979F-E653EEEA1733}"/>
              </a:ext>
            </a:extLst>
          </p:cNvPr>
          <p:cNvSpPr>
            <a:spLocks xmlns:a="http://schemas.openxmlformats.org/drawingml/2006/main" noGrp="1"/>
          </p:cNvSpPr>
          <p:nvPr/>
        </p:nvSpPr>
        <p:spPr>
          <a:xfrm xmlns:a="http://schemas.openxmlformats.org/drawingml/2006/main">
            <a:off x="628650" y="260985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6A75"/>
                </a:solidFill>
                <a:latin typeface="Aptos"/>
                <a:ea typeface="Aptos"/>
                <a:cs typeface="Aptos"/>
              </a:defRPr>
            </a:defPPr>
          </a:lstStyle>
          <a:p xmlns:a="http://schemas.openxmlformats.org/drawingml/2006/main">
            <a:pPr>
              <a:defRPr sz="1725" b="1">
                <a:solidFill>
                  <a:srgbClr val="006A75"/>
                </a:solidFill>
                <a:latin typeface="Aptos"/>
                <a:ea typeface="Aptos"/>
                <a:cs typeface="Aptos"/>
              </a:defRPr>
            </a:pPr>
            <a:r>
              <a:rPr sz="1725" b="1">
                <a:solidFill>
                  <a:srgbClr val="006A75"/>
                </a:solidFill>
                <a:latin typeface="Aptos"/>
                <a:ea typeface="Aptos"/>
                <a:cs typeface="Aptos"/>
              </a:rPr>
              <a:t>02</a:t>
            </a:r>
          </a:p>
        </p:txBody>
      </p:sp>
      <p:sp>
        <p:nvSpPr>
          <p:cNvPr id="7" name="">
            <a:extLst xmlns:a="http://schemas.openxmlformats.org/drawingml/2006/main">
              <a:ext uri="{FF2B5EF4-FFF2-40B4-BE49-F238E27FC236}">
                <a16:creationId xmlns:a16="http://schemas.microsoft.com/office/drawing/2014/main" id="{C3F11F01-100B-4D2C-9301-3F027D5B8EA5}"/>
              </a:ext>
            </a:extLst>
          </p:cNvPr>
          <p:cNvSpPr>
            <a:spLocks xmlns:a="http://schemas.openxmlformats.org/drawingml/2006/main" noGrp="1"/>
          </p:cNvSpPr>
          <p:nvPr/>
        </p:nvSpPr>
        <p:spPr>
          <a:xfrm xmlns:a="http://schemas.openxmlformats.org/drawingml/2006/main">
            <a:off x="1200150" y="259080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83D"/>
                </a:solidFill>
                <a:latin typeface="Aptos"/>
                <a:ea typeface="Aptos"/>
                <a:cs typeface="Aptos"/>
              </a:defRPr>
            </a:defPPr>
          </a:lstStyle>
          <a:p xmlns:a="http://schemas.openxmlformats.org/drawingml/2006/main">
            <a:pPr>
              <a:defRPr sz="2100" b="0">
                <a:solidFill>
                  <a:srgbClr val="16283D"/>
                </a:solidFill>
                <a:latin typeface="Aptos"/>
                <a:ea typeface="Aptos"/>
                <a:cs typeface="Aptos"/>
              </a:defRPr>
            </a:pPr>
            <a:r>
              <a:rPr sz="2100" b="0">
                <a:solidFill>
                  <a:srgbClr val="16283D"/>
                </a:solidFill>
                <a:latin typeface="Aptos"/>
                <a:ea typeface="Aptos"/>
                <a:cs typeface="Aptos"/>
              </a:rPr>
              <a:t>Median OCEAN/native ratios were 298.82× for 64 B requests, 19.70× for 4 KiB requests and 7.63× for 64 KiB requests, with five repetitions per configuration.</a:t>
            </a:r>
          </a:p>
        </p:txBody>
      </p:sp>
      <p:sp>
        <p:nvSpPr>
          <p:cNvPr id="8" name="">
            <a:extLst xmlns:a="http://schemas.openxmlformats.org/drawingml/2006/main">
              <a:ext uri="{FF2B5EF4-FFF2-40B4-BE49-F238E27FC236}">
                <a16:creationId xmlns:a16="http://schemas.microsoft.com/office/drawing/2014/main" id="{E2E231BB-B8A9-4A90-9DCB-E6F507458E20}"/>
              </a:ext>
            </a:extLst>
          </p:cNvPr>
          <p:cNvSpPr>
            <a:spLocks xmlns:a="http://schemas.openxmlformats.org/drawingml/2006/main" noGrp="1"/>
          </p:cNvSpPr>
          <p:nvPr/>
        </p:nvSpPr>
        <p:spPr>
          <a:xfrm xmlns:a="http://schemas.openxmlformats.org/drawingml/2006/main">
            <a:off x="628650" y="371475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6A75"/>
                </a:solidFill>
                <a:latin typeface="Aptos"/>
                <a:ea typeface="Aptos"/>
                <a:cs typeface="Aptos"/>
              </a:defRPr>
            </a:defPPr>
          </a:lstStyle>
          <a:p xmlns:a="http://schemas.openxmlformats.org/drawingml/2006/main">
            <a:pPr>
              <a:defRPr sz="1725" b="1">
                <a:solidFill>
                  <a:srgbClr val="006A75"/>
                </a:solidFill>
                <a:latin typeface="Aptos"/>
                <a:ea typeface="Aptos"/>
                <a:cs typeface="Aptos"/>
              </a:defRPr>
            </a:pPr>
            <a:r>
              <a:rPr sz="1725" b="1">
                <a:solidFill>
                  <a:srgbClr val="006A75"/>
                </a:solidFill>
                <a:latin typeface="Aptos"/>
                <a:ea typeface="Aptos"/>
                <a:cs typeface="Aptos"/>
              </a:rPr>
              <a:t>03</a:t>
            </a:r>
          </a:p>
        </p:txBody>
      </p:sp>
      <p:sp>
        <p:nvSpPr>
          <p:cNvPr id="9" name="">
            <a:extLst xmlns:a="http://schemas.openxmlformats.org/drawingml/2006/main">
              <a:ext uri="{FF2B5EF4-FFF2-40B4-BE49-F238E27FC236}">
                <a16:creationId xmlns:a16="http://schemas.microsoft.com/office/drawing/2014/main" id="{5A782F12-B118-4A13-BB7C-69DF766DD36C}"/>
              </a:ext>
            </a:extLst>
          </p:cNvPr>
          <p:cNvSpPr>
            <a:spLocks xmlns:a="http://schemas.openxmlformats.org/drawingml/2006/main" noGrp="1"/>
          </p:cNvSpPr>
          <p:nvPr/>
        </p:nvSpPr>
        <p:spPr>
          <a:xfrm xmlns:a="http://schemas.openxmlformats.org/drawingml/2006/main">
            <a:off x="1200150" y="369570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83D"/>
                </a:solidFill>
                <a:latin typeface="Aptos"/>
                <a:ea typeface="Aptos"/>
                <a:cs typeface="Aptos"/>
              </a:defRPr>
            </a:defPPr>
          </a:lstStyle>
          <a:p xmlns:a="http://schemas.openxmlformats.org/drawingml/2006/main">
            <a:pPr>
              <a:defRPr sz="2100" b="0">
                <a:solidFill>
                  <a:srgbClr val="16283D"/>
                </a:solidFill>
                <a:latin typeface="Aptos"/>
                <a:ea typeface="Aptos"/>
                <a:cs typeface="Aptos"/>
              </a:defRPr>
            </a:pPr>
            <a:r>
              <a:rPr sz="2100" b="0">
                <a:solidFill>
                  <a:srgbClr val="16283D"/>
                </a:solidFill>
                <a:latin typeface="Aptos"/>
                <a:ea typeface="Aptos"/>
                <a:cs typeface="Aptos"/>
              </a:rPr>
              <a:t>That test exposes synchronous loopback TCP overhead and the importance of request batching. It is a data-path microbenchmark, rather than an application slowdown result.</a:t>
            </a:r>
          </a:p>
        </p:txBody>
      </p:sp>
      <p:sp>
        <p:nvSpPr>
          <p:cNvPr id="10" name="">
            <a:extLst xmlns:a="http://schemas.openxmlformats.org/drawingml/2006/main">
              <a:ext uri="{FF2B5EF4-FFF2-40B4-BE49-F238E27FC236}">
                <a16:creationId xmlns:a16="http://schemas.microsoft.com/office/drawing/2014/main" id="{420548F8-8C3A-43F8-910B-5D69C4C8CEC7}"/>
              </a:ext>
            </a:extLst>
          </p:cNvPr>
          <p:cNvSpPr>
            <a:spLocks xmlns:a="http://schemas.openxmlformats.org/drawingml/2006/main" noGrp="1"/>
          </p:cNvSpPr>
          <p:nvPr/>
        </p:nvSpPr>
        <p:spPr>
          <a:xfrm xmlns:a="http://schemas.openxmlformats.org/drawingml/2006/main">
            <a:off x="628650" y="481965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6A75"/>
                </a:solidFill>
                <a:latin typeface="Aptos"/>
                <a:ea typeface="Aptos"/>
                <a:cs typeface="Aptos"/>
              </a:defRPr>
            </a:defPPr>
          </a:lstStyle>
          <a:p xmlns:a="http://schemas.openxmlformats.org/drawingml/2006/main">
            <a:pPr>
              <a:defRPr sz="1725" b="1">
                <a:solidFill>
                  <a:srgbClr val="006A75"/>
                </a:solidFill>
                <a:latin typeface="Aptos"/>
                <a:ea typeface="Aptos"/>
                <a:cs typeface="Aptos"/>
              </a:defRPr>
            </a:pPr>
            <a:r>
              <a:rPr sz="1725" b="1">
                <a:solidFill>
                  <a:srgbClr val="006A75"/>
                </a:solidFill>
                <a:latin typeface="Aptos"/>
                <a:ea typeface="Aptos"/>
                <a:cs typeface="Aptos"/>
              </a:rPr>
              <a:t>04</a:t>
            </a:r>
          </a:p>
        </p:txBody>
      </p:sp>
      <p:sp>
        <p:nvSpPr>
          <p:cNvPr id="11" name="">
            <a:extLst xmlns:a="http://schemas.openxmlformats.org/drawingml/2006/main">
              <a:ext uri="{FF2B5EF4-FFF2-40B4-BE49-F238E27FC236}">
                <a16:creationId xmlns:a16="http://schemas.microsoft.com/office/drawing/2014/main" id="{A09D1BFC-6D92-49D9-A431-C833B51AE282}"/>
              </a:ext>
            </a:extLst>
          </p:cNvPr>
          <p:cNvSpPr>
            <a:spLocks xmlns:a="http://schemas.openxmlformats.org/drawingml/2006/main" noGrp="1"/>
          </p:cNvSpPr>
          <p:nvPr/>
        </p:nvSpPr>
        <p:spPr>
          <a:xfrm xmlns:a="http://schemas.openxmlformats.org/drawingml/2006/main">
            <a:off x="1200150" y="480060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83D"/>
                </a:solidFill>
                <a:latin typeface="Aptos"/>
                <a:ea typeface="Aptos"/>
                <a:cs typeface="Aptos"/>
              </a:defRPr>
            </a:defPPr>
          </a:lstStyle>
          <a:p xmlns:a="http://schemas.openxmlformats.org/drawingml/2006/main">
            <a:pPr>
              <a:defRPr sz="2100" b="0">
                <a:solidFill>
                  <a:srgbClr val="16283D"/>
                </a:solidFill>
                <a:latin typeface="Aptos"/>
                <a:ea typeface="Aptos"/>
                <a:cs typeface="Aptos"/>
              </a:defRPr>
            </a:pPr>
            <a:r>
              <a:rPr sz="2100" b="0">
                <a:solidFill>
                  <a:srgbClr val="16283D"/>
                </a:solidFill>
                <a:latin typeface="Aptos"/>
                <a:ea typeface="Aptos"/>
                <a:cs typeface="Aptos"/>
              </a:rPr>
              <a:t>The audited QEMU backend allocates normal guest RAM and retains server metadata without forwarding guest memory operations. The baseline does not validate a full guest CXL path.</a:t>
            </a:r>
          </a:p>
        </p:txBody>
      </p:sp>
    </p:spTree>
    <p:extLst>
      <p:ext uri="{BB962C8B-B14F-4D97-AF65-F5344CB8AC3E}">
        <p14:creationId xmlns:p14="http://schemas.microsoft.com/office/powerpoint/2010/main" val="2067398494"/>
      </p:ext>
    </p:extLst>
  </p:cSld>
</p:sld>
</file>

<file path=ppt/slides/slide10.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E7E4DE4-A984-454D-A008-B1AAF97E5EEE}"/>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6283D"/>
                </a:solidFill>
                <a:latin typeface="Aptos"/>
                <a:ea typeface="Aptos"/>
                <a:cs typeface="Aptos"/>
              </a:defRPr>
            </a:defPPr>
          </a:lstStyle>
          <a:p xmlns:a="http://schemas.openxmlformats.org/drawingml/2006/main">
            <a:pPr>
              <a:defRPr sz="3225" b="1">
                <a:solidFill>
                  <a:srgbClr val="16283D"/>
                </a:solidFill>
                <a:latin typeface="Aptos"/>
                <a:ea typeface="Aptos"/>
                <a:cs typeface="Aptos"/>
              </a:defRPr>
            </a:pPr>
            <a:r>
              <a:rPr sz="3225" b="1">
                <a:solidFill>
                  <a:srgbClr val="16283D"/>
                </a:solidFill>
                <a:latin typeface="Aptos"/>
                <a:ea typeface="Aptos"/>
                <a:cs typeface="Aptos"/>
              </a:rPr>
              <a:t>Early criticality and public trace experiments</a:t>
            </a:r>
          </a:p>
        </p:txBody>
      </p:sp>
      <p:sp>
        <p:nvSpPr>
          <p:cNvPr id="2" name="">
            <a:extLst xmlns:a="http://schemas.openxmlformats.org/drawingml/2006/main">
              <a:ext uri="{FF2B5EF4-FFF2-40B4-BE49-F238E27FC236}">
                <a16:creationId xmlns:a16="http://schemas.microsoft.com/office/drawing/2014/main" id="{E0CC6F1B-CF0F-4EDD-9B58-F56718664D16}"/>
              </a:ext>
            </a:extLst>
          </p:cNvPr>
          <p:cNvSpPr>
            <a:spLocks xmlns:a="http://schemas.openxmlformats.org/drawingml/2006/main" noGrp="1"/>
          </p:cNvSpPr>
          <p:nvPr/>
        </p:nvSpPr>
        <p:spPr>
          <a:xfrm xmlns:a="http://schemas.openxmlformats.org/drawingml/2006/main">
            <a:off x="11144250" y="63341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276"/>
                </a:solidFill>
                <a:latin typeface="Aptos"/>
                <a:ea typeface="Aptos"/>
                <a:cs typeface="Aptos"/>
              </a:defRPr>
            </a:defPPr>
          </a:lstStyle>
          <a:p xmlns:a="http://schemas.openxmlformats.org/drawingml/2006/main">
            <a:pPr>
              <a:defRPr sz="1200" b="0">
                <a:solidFill>
                  <a:srgbClr val="526276"/>
                </a:solidFill>
                <a:latin typeface="Aptos"/>
                <a:ea typeface="Aptos"/>
                <a:cs typeface="Aptos"/>
              </a:defRPr>
            </a:pPr>
            <a:r>
              <a:rPr sz="1200" b="0">
                <a:solidFill>
                  <a:srgbClr val="526276"/>
                </a:solidFill>
                <a:latin typeface="Aptos"/>
                <a:ea typeface="Aptos"/>
                <a:cs typeface="Aptos"/>
              </a:rPr>
              <a:t>10</a:t>
            </a:r>
          </a:p>
        </p:txBody>
      </p:sp>
      <p:sp>
        <p:nvSpPr>
          <p:cNvPr id="3" name="">
            <a:extLst xmlns:a="http://schemas.openxmlformats.org/drawingml/2006/main">
              <a:ext uri="{FF2B5EF4-FFF2-40B4-BE49-F238E27FC236}">
                <a16:creationId xmlns:a16="http://schemas.microsoft.com/office/drawing/2014/main" id="{CCA19E21-CEE5-4056-8D92-EA2DCC19319C}"/>
              </a:ext>
            </a:extLst>
          </p:cNvPr>
          <p:cNvSpPr>
            <a:spLocks xmlns:a="http://schemas.openxmlformats.org/drawingml/2006/main" noGrp="1"/>
          </p:cNvSpPr>
          <p:nvPr/>
        </p:nvSpPr>
        <p:spPr>
          <a:xfrm xmlns:a="http://schemas.openxmlformats.org/drawingml/2006/main">
            <a:off x="609600" y="6315075"/>
            <a:ext cx="10287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276"/>
                </a:solidFill>
                <a:latin typeface="Aptos"/>
                <a:ea typeface="Aptos"/>
                <a:cs typeface="Aptos"/>
              </a:defRPr>
            </a:defPPr>
          </a:lstStyle>
          <a:p xmlns:a="http://schemas.openxmlformats.org/drawingml/2006/main">
            <a:pPr>
              <a:defRPr sz="1125" b="0">
                <a:solidFill>
                  <a:srgbClr val="526276"/>
                </a:solidFill>
                <a:latin typeface="Aptos"/>
                <a:ea typeface="Aptos"/>
                <a:cs typeface="Aptos"/>
              </a:defRPr>
            </a:pPr>
            <a:r>
              <a:rPr sz="1125" b="0">
                <a:solidFill>
                  <a:srgbClr val="526276"/>
                </a:solidFill>
                <a:latin typeface="Aptos"/>
                <a:ea typeface="Aptos"/>
                <a:cs typeface="Aptos"/>
              </a:rPr>
              <a:t>Source: results/REPORT.md</a:t>
            </a:r>
          </a:p>
        </p:txBody>
      </p:sp>
      <p:sp>
        <p:nvSpPr>
          <p:cNvPr id="4" name="">
            <a:extLst xmlns:a="http://schemas.openxmlformats.org/drawingml/2006/main">
              <a:ext uri="{FF2B5EF4-FFF2-40B4-BE49-F238E27FC236}">
                <a16:creationId xmlns:a16="http://schemas.microsoft.com/office/drawing/2014/main" id="{A2D91CEA-5C4F-48EC-B96A-CE3B628F43A7}"/>
              </a:ext>
            </a:extLst>
          </p:cNvPr>
          <p:cNvSpPr>
            <a:spLocks xmlns:a="http://schemas.openxmlformats.org/drawingml/2006/main" noGrp="1"/>
          </p:cNvSpPr>
          <p:nvPr/>
        </p:nvSpPr>
        <p:spPr>
          <a:xfrm xmlns:a="http://schemas.openxmlformats.org/drawingml/2006/main">
            <a:off x="628650" y="150495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6A75"/>
                </a:solidFill>
                <a:latin typeface="Aptos"/>
                <a:ea typeface="Aptos"/>
                <a:cs typeface="Aptos"/>
              </a:defRPr>
            </a:defPPr>
          </a:lstStyle>
          <a:p xmlns:a="http://schemas.openxmlformats.org/drawingml/2006/main">
            <a:pPr>
              <a:defRPr sz="1725" b="1">
                <a:solidFill>
                  <a:srgbClr val="006A75"/>
                </a:solidFill>
                <a:latin typeface="Aptos"/>
                <a:ea typeface="Aptos"/>
                <a:cs typeface="Aptos"/>
              </a:defRPr>
            </a:pPr>
            <a:r>
              <a:rPr sz="1725" b="1">
                <a:solidFill>
                  <a:srgbClr val="006A75"/>
                </a:solidFill>
                <a:latin typeface="Aptos"/>
                <a:ea typeface="Aptos"/>
                <a:cs typeface="Aptos"/>
              </a:rPr>
              <a:t>01</a:t>
            </a:r>
          </a:p>
        </p:txBody>
      </p:sp>
      <p:sp>
        <p:nvSpPr>
          <p:cNvPr id="5" name="">
            <a:extLst xmlns:a="http://schemas.openxmlformats.org/drawingml/2006/main">
              <a:ext uri="{FF2B5EF4-FFF2-40B4-BE49-F238E27FC236}">
                <a16:creationId xmlns:a16="http://schemas.microsoft.com/office/drawing/2014/main" id="{D414D10F-C3CB-45C8-AF5B-B1AC34D3846F}"/>
              </a:ext>
            </a:extLst>
          </p:cNvPr>
          <p:cNvSpPr>
            <a:spLocks xmlns:a="http://schemas.openxmlformats.org/drawingml/2006/main" noGrp="1"/>
          </p:cNvSpPr>
          <p:nvPr/>
        </p:nvSpPr>
        <p:spPr>
          <a:xfrm xmlns:a="http://schemas.openxmlformats.org/drawingml/2006/main">
            <a:off x="1200150" y="148590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83D"/>
                </a:solidFill>
                <a:latin typeface="Aptos"/>
                <a:ea typeface="Aptos"/>
                <a:cs typeface="Aptos"/>
              </a:defRPr>
            </a:defPPr>
          </a:lstStyle>
          <a:p xmlns:a="http://schemas.openxmlformats.org/drawingml/2006/main">
            <a:pPr>
              <a:defRPr sz="2100" b="0">
                <a:solidFill>
                  <a:srgbClr val="16283D"/>
                </a:solidFill>
                <a:latin typeface="Aptos"/>
                <a:ea typeface="Aptos"/>
                <a:cs typeface="Aptos"/>
              </a:defRPr>
            </a:pPr>
            <a:r>
              <a:rPr sz="2100" b="0">
                <a:solidFill>
                  <a:srgbClr val="16283D"/>
                </a:solidFill>
                <a:latin typeface="Aptos"/>
                <a:ea typeface="Aptos"/>
                <a:cs typeface="Aptos"/>
              </a:rPr>
              <a:t>The first phase/lane model computes a page’s benefit by replaying the workload with only that page moved to fast memory. It gives a 15% win in an overlap example.</a:t>
            </a:r>
          </a:p>
        </p:txBody>
      </p:sp>
      <p:sp>
        <p:nvSpPr>
          <p:cNvPr id="6" name="">
            <a:extLst xmlns:a="http://schemas.openxmlformats.org/drawingml/2006/main">
              <a:ext uri="{FF2B5EF4-FFF2-40B4-BE49-F238E27FC236}">
                <a16:creationId xmlns:a16="http://schemas.microsoft.com/office/drawing/2014/main" id="{2AA4BE68-26DB-4DFC-AAD7-2B334551580C}"/>
              </a:ext>
            </a:extLst>
          </p:cNvPr>
          <p:cNvSpPr>
            <a:spLocks xmlns:a="http://schemas.openxmlformats.org/drawingml/2006/main" noGrp="1"/>
          </p:cNvSpPr>
          <p:nvPr/>
        </p:nvSpPr>
        <p:spPr>
          <a:xfrm xmlns:a="http://schemas.openxmlformats.org/drawingml/2006/main">
            <a:off x="628650" y="260985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6A75"/>
                </a:solidFill>
                <a:latin typeface="Aptos"/>
                <a:ea typeface="Aptos"/>
                <a:cs typeface="Aptos"/>
              </a:defRPr>
            </a:defPPr>
          </a:lstStyle>
          <a:p xmlns:a="http://schemas.openxmlformats.org/drawingml/2006/main">
            <a:pPr>
              <a:defRPr sz="1725" b="1">
                <a:solidFill>
                  <a:srgbClr val="006A75"/>
                </a:solidFill>
                <a:latin typeface="Aptos"/>
                <a:ea typeface="Aptos"/>
                <a:cs typeface="Aptos"/>
              </a:defRPr>
            </a:pPr>
            <a:r>
              <a:rPr sz="1725" b="1">
                <a:solidFill>
                  <a:srgbClr val="006A75"/>
                </a:solidFill>
                <a:latin typeface="Aptos"/>
                <a:ea typeface="Aptos"/>
                <a:cs typeface="Aptos"/>
              </a:rPr>
              <a:t>02</a:t>
            </a:r>
          </a:p>
        </p:txBody>
      </p:sp>
      <p:sp>
        <p:nvSpPr>
          <p:cNvPr id="7" name="">
            <a:extLst xmlns:a="http://schemas.openxmlformats.org/drawingml/2006/main">
              <a:ext uri="{FF2B5EF4-FFF2-40B4-BE49-F238E27FC236}">
                <a16:creationId xmlns:a16="http://schemas.microsoft.com/office/drawing/2014/main" id="{E389D8FF-4BE8-4395-AA7F-F4F37A8C02EB}"/>
              </a:ext>
            </a:extLst>
          </p:cNvPr>
          <p:cNvSpPr>
            <a:spLocks xmlns:a="http://schemas.openxmlformats.org/drawingml/2006/main" noGrp="1"/>
          </p:cNvSpPr>
          <p:nvPr/>
        </p:nvSpPr>
        <p:spPr>
          <a:xfrm xmlns:a="http://schemas.openxmlformats.org/drawingml/2006/main">
            <a:off x="1200150" y="259080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83D"/>
                </a:solidFill>
                <a:latin typeface="Aptos"/>
                <a:ea typeface="Aptos"/>
                <a:cs typeface="Aptos"/>
              </a:defRPr>
            </a:defPPr>
          </a:lstStyle>
          <a:p xmlns:a="http://schemas.openxmlformats.org/drawingml/2006/main">
            <a:pPr>
              <a:defRPr sz="2100" b="0">
                <a:solidFill>
                  <a:srgbClr val="16283D"/>
                </a:solidFill>
                <a:latin typeface="Aptos"/>
                <a:ea typeface="Aptos"/>
                <a:cs typeface="Aptos"/>
              </a:defRPr>
            </a:pPr>
            <a:r>
              <a:rPr sz="2100" b="0">
                <a:solidFill>
                  <a:srgbClr val="16283D"/>
                </a:solidFill>
                <a:latin typeface="Aptos"/>
                <a:ea typeface="Aptos"/>
                <a:cs typeface="Aptos"/>
              </a:rPr>
              <a:t>The serial control ties frequency. A joint-bottleneck counterexample loses 39.13%, because scoring pages individually misses the benefit of promoting two pages together.</a:t>
            </a:r>
          </a:p>
        </p:txBody>
      </p:sp>
      <p:sp>
        <p:nvSpPr>
          <p:cNvPr id="8" name="">
            <a:extLst xmlns:a="http://schemas.openxmlformats.org/drawingml/2006/main">
              <a:ext uri="{FF2B5EF4-FFF2-40B4-BE49-F238E27FC236}">
                <a16:creationId xmlns:a16="http://schemas.microsoft.com/office/drawing/2014/main" id="{F5A07376-0489-485A-A3D2-2F9F695A06FC}"/>
              </a:ext>
            </a:extLst>
          </p:cNvPr>
          <p:cNvSpPr>
            <a:spLocks xmlns:a="http://schemas.openxmlformats.org/drawingml/2006/main" noGrp="1"/>
          </p:cNvSpPr>
          <p:nvPr/>
        </p:nvSpPr>
        <p:spPr>
          <a:xfrm xmlns:a="http://schemas.openxmlformats.org/drawingml/2006/main">
            <a:off x="628650" y="371475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6A75"/>
                </a:solidFill>
                <a:latin typeface="Aptos"/>
                <a:ea typeface="Aptos"/>
                <a:cs typeface="Aptos"/>
              </a:defRPr>
            </a:defPPr>
          </a:lstStyle>
          <a:p xmlns:a="http://schemas.openxmlformats.org/drawingml/2006/main">
            <a:pPr>
              <a:defRPr sz="1725" b="1">
                <a:solidFill>
                  <a:srgbClr val="006A75"/>
                </a:solidFill>
                <a:latin typeface="Aptos"/>
                <a:ea typeface="Aptos"/>
                <a:cs typeface="Aptos"/>
              </a:defRPr>
            </a:pPr>
            <a:r>
              <a:rPr sz="1725" b="1">
                <a:solidFill>
                  <a:srgbClr val="006A75"/>
                </a:solidFill>
                <a:latin typeface="Aptos"/>
                <a:ea typeface="Aptos"/>
                <a:cs typeface="Aptos"/>
              </a:rPr>
              <a:t>03</a:t>
            </a:r>
          </a:p>
        </p:txBody>
      </p:sp>
      <p:sp>
        <p:nvSpPr>
          <p:cNvPr id="9" name="">
            <a:extLst xmlns:a="http://schemas.openxmlformats.org/drawingml/2006/main">
              <a:ext uri="{FF2B5EF4-FFF2-40B4-BE49-F238E27FC236}">
                <a16:creationId xmlns:a16="http://schemas.microsoft.com/office/drawing/2014/main" id="{E40462B5-6825-4742-83FF-FA00193C2879}"/>
              </a:ext>
            </a:extLst>
          </p:cNvPr>
          <p:cNvSpPr>
            <a:spLocks xmlns:a="http://schemas.openxmlformats.org/drawingml/2006/main" noGrp="1"/>
          </p:cNvSpPr>
          <p:nvPr/>
        </p:nvSpPr>
        <p:spPr>
          <a:xfrm xmlns:a="http://schemas.openxmlformats.org/drawingml/2006/main">
            <a:off x="1200150" y="369570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83D"/>
                </a:solidFill>
                <a:latin typeface="Aptos"/>
                <a:ea typeface="Aptos"/>
                <a:cs typeface="Aptos"/>
              </a:defRPr>
            </a:defPPr>
          </a:lstStyle>
          <a:p xmlns:a="http://schemas.openxmlformats.org/drawingml/2006/main">
            <a:pPr>
              <a:defRPr sz="2100" b="0">
                <a:solidFill>
                  <a:srgbClr val="16283D"/>
                </a:solidFill>
                <a:latin typeface="Aptos"/>
                <a:ea typeface="Aptos"/>
                <a:cs typeface="Aptos"/>
              </a:defRPr>
            </a:pPr>
            <a:r>
              <a:rPr sz="2100" b="0">
                <a:solidFill>
                  <a:srgbClr val="16283D"/>
                </a:solidFill>
                <a:latin typeface="Aptos"/>
                <a:ea typeface="Aptos"/>
                <a:cs typeface="Aptos"/>
              </a:rPr>
              <a:t>The instruction-trace pilot adds register dependencies, cache filtering and held-out evaluation using public SPEC traces: mcf, lbm and xalancbmk.</a:t>
            </a:r>
          </a:p>
        </p:txBody>
      </p:sp>
      <p:sp>
        <p:nvSpPr>
          <p:cNvPr id="10" name="">
            <a:extLst xmlns:a="http://schemas.openxmlformats.org/drawingml/2006/main">
              <a:ext uri="{FF2B5EF4-FFF2-40B4-BE49-F238E27FC236}">
                <a16:creationId xmlns:a16="http://schemas.microsoft.com/office/drawing/2014/main" id="{FC302040-15B7-4FE0-9DC0-133132E6534D}"/>
              </a:ext>
            </a:extLst>
          </p:cNvPr>
          <p:cNvSpPr>
            <a:spLocks xmlns:a="http://schemas.openxmlformats.org/drawingml/2006/main" noGrp="1"/>
          </p:cNvSpPr>
          <p:nvPr/>
        </p:nvSpPr>
        <p:spPr>
          <a:xfrm xmlns:a="http://schemas.openxmlformats.org/drawingml/2006/main">
            <a:off x="628650" y="481965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6A75"/>
                </a:solidFill>
                <a:latin typeface="Aptos"/>
                <a:ea typeface="Aptos"/>
                <a:cs typeface="Aptos"/>
              </a:defRPr>
            </a:defPPr>
          </a:lstStyle>
          <a:p xmlns:a="http://schemas.openxmlformats.org/drawingml/2006/main">
            <a:pPr>
              <a:defRPr sz="1725" b="1">
                <a:solidFill>
                  <a:srgbClr val="006A75"/>
                </a:solidFill>
                <a:latin typeface="Aptos"/>
                <a:ea typeface="Aptos"/>
                <a:cs typeface="Aptos"/>
              </a:defRPr>
            </a:pPr>
            <a:r>
              <a:rPr sz="1725" b="1">
                <a:solidFill>
                  <a:srgbClr val="006A75"/>
                </a:solidFill>
                <a:latin typeface="Aptos"/>
                <a:ea typeface="Aptos"/>
                <a:cs typeface="Aptos"/>
              </a:rPr>
              <a:t>04</a:t>
            </a:r>
          </a:p>
        </p:txBody>
      </p:sp>
      <p:sp>
        <p:nvSpPr>
          <p:cNvPr id="11" name="">
            <a:extLst xmlns:a="http://schemas.openxmlformats.org/drawingml/2006/main">
              <a:ext uri="{FF2B5EF4-FFF2-40B4-BE49-F238E27FC236}">
                <a16:creationId xmlns:a16="http://schemas.microsoft.com/office/drawing/2014/main" id="{6B2A4B69-6054-4FC7-901F-FE55467FB751}"/>
              </a:ext>
            </a:extLst>
          </p:cNvPr>
          <p:cNvSpPr>
            <a:spLocks xmlns:a="http://schemas.openxmlformats.org/drawingml/2006/main" noGrp="1"/>
          </p:cNvSpPr>
          <p:nvPr/>
        </p:nvSpPr>
        <p:spPr>
          <a:xfrm xmlns:a="http://schemas.openxmlformats.org/drawingml/2006/main">
            <a:off x="1200150" y="480060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83D"/>
                </a:solidFill>
                <a:latin typeface="Aptos"/>
                <a:ea typeface="Aptos"/>
                <a:cs typeface="Aptos"/>
              </a:defRPr>
            </a:defPPr>
          </a:lstStyle>
          <a:p xmlns:a="http://schemas.openxmlformats.org/drawingml/2006/main">
            <a:pPr>
              <a:defRPr sz="2100" b="0">
                <a:solidFill>
                  <a:srgbClr val="16283D"/>
                </a:solidFill>
                <a:latin typeface="Aptos"/>
                <a:ea typeface="Aptos"/>
                <a:cs typeface="Aptos"/>
              </a:defRPr>
            </a:pPr>
            <a:r>
              <a:rPr sz="2100" b="0">
                <a:solidFill>
                  <a:srgbClr val="16283D"/>
                </a:solidFill>
                <a:latin typeface="Aptos"/>
                <a:ea typeface="Aptos"/>
                <a:cs typeface="Aptos"/>
              </a:rPr>
              <a:t>The slack-based sweep shows mixed, small gains. mcf ranges from −2.376% to +1.919%, lbm from 0% to +1.502%, and the selected xalancbmk region ties throughout.</a:t>
            </a:r>
          </a:p>
        </p:txBody>
      </p:sp>
    </p:spTree>
    <p:extLst>
      <p:ext uri="{BB962C8B-B14F-4D97-AF65-F5344CB8AC3E}">
        <p14:creationId xmlns:p14="http://schemas.microsoft.com/office/powerpoint/2010/main" val="1659095184"/>
      </p:ext>
    </p:extLst>
  </p:cSld>
</p:sld>
</file>

<file path=ppt/slides/slide11.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A5457AC-323D-4BA9-9E95-0C6350B56E97}"/>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6283D"/>
                </a:solidFill>
                <a:latin typeface="Aptos"/>
                <a:ea typeface="Aptos"/>
                <a:cs typeface="Aptos"/>
              </a:defRPr>
            </a:defPPr>
          </a:lstStyle>
          <a:p xmlns:a="http://schemas.openxmlformats.org/drawingml/2006/main">
            <a:pPr>
              <a:defRPr sz="3225" b="1">
                <a:solidFill>
                  <a:srgbClr val="16283D"/>
                </a:solidFill>
                <a:latin typeface="Aptos"/>
                <a:ea typeface="Aptos"/>
                <a:cs typeface="Aptos"/>
              </a:defRPr>
            </a:pPr>
            <a:r>
              <a:rPr sz="3225" b="1">
                <a:solidFill>
                  <a:srgbClr val="16283D"/>
                </a:solidFill>
                <a:latin typeface="Aptos"/>
                <a:ea typeface="Aptos"/>
                <a:cs typeface="Aptos"/>
              </a:rPr>
              <a:t>PAC scoring and memory-level parallelism</a:t>
            </a:r>
          </a:p>
        </p:txBody>
      </p:sp>
      <p:sp>
        <p:nvSpPr>
          <p:cNvPr id="2" name="">
            <a:extLst xmlns:a="http://schemas.openxmlformats.org/drawingml/2006/main">
              <a:ext uri="{FF2B5EF4-FFF2-40B4-BE49-F238E27FC236}">
                <a16:creationId xmlns:a16="http://schemas.microsoft.com/office/drawing/2014/main" id="{9B365EB8-3070-44C6-A9C5-4DD4309C34EB}"/>
              </a:ext>
            </a:extLst>
          </p:cNvPr>
          <p:cNvSpPr>
            <a:spLocks xmlns:a="http://schemas.openxmlformats.org/drawingml/2006/main" noGrp="1"/>
          </p:cNvSpPr>
          <p:nvPr/>
        </p:nvSpPr>
        <p:spPr>
          <a:xfrm xmlns:a="http://schemas.openxmlformats.org/drawingml/2006/main">
            <a:off x="11144250" y="63341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276"/>
                </a:solidFill>
                <a:latin typeface="Aptos"/>
                <a:ea typeface="Aptos"/>
                <a:cs typeface="Aptos"/>
              </a:defRPr>
            </a:defPPr>
          </a:lstStyle>
          <a:p xmlns:a="http://schemas.openxmlformats.org/drawingml/2006/main">
            <a:pPr>
              <a:defRPr sz="1200" b="0">
                <a:solidFill>
                  <a:srgbClr val="526276"/>
                </a:solidFill>
                <a:latin typeface="Aptos"/>
                <a:ea typeface="Aptos"/>
                <a:cs typeface="Aptos"/>
              </a:defRPr>
            </a:pPr>
            <a:r>
              <a:rPr sz="1200" b="0">
                <a:solidFill>
                  <a:srgbClr val="526276"/>
                </a:solidFill>
                <a:latin typeface="Aptos"/>
                <a:ea typeface="Aptos"/>
                <a:cs typeface="Aptos"/>
              </a:rPr>
              <a:t>11</a:t>
            </a:r>
          </a:p>
        </p:txBody>
      </p:sp>
      <p:sp>
        <p:nvSpPr>
          <p:cNvPr id="3" name="">
            <a:extLst xmlns:a="http://schemas.openxmlformats.org/drawingml/2006/main">
              <a:ext uri="{FF2B5EF4-FFF2-40B4-BE49-F238E27FC236}">
                <a16:creationId xmlns:a16="http://schemas.microsoft.com/office/drawing/2014/main" id="{71615AFC-68B5-498A-A521-1AAA238D4076}"/>
              </a:ext>
            </a:extLst>
          </p:cNvPr>
          <p:cNvSpPr>
            <a:spLocks xmlns:a="http://schemas.openxmlformats.org/drawingml/2006/main" noGrp="1"/>
          </p:cNvSpPr>
          <p:nvPr/>
        </p:nvSpPr>
        <p:spPr>
          <a:xfrm xmlns:a="http://schemas.openxmlformats.org/drawingml/2006/main">
            <a:off x="609600" y="6315075"/>
            <a:ext cx="10287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276"/>
                </a:solidFill>
                <a:latin typeface="Aptos"/>
                <a:ea typeface="Aptos"/>
                <a:cs typeface="Aptos"/>
              </a:defRPr>
            </a:defPPr>
          </a:lstStyle>
          <a:p xmlns:a="http://schemas.openxmlformats.org/drawingml/2006/main">
            <a:pPr>
              <a:defRPr sz="1125" b="0">
                <a:solidFill>
                  <a:srgbClr val="526276"/>
                </a:solidFill>
                <a:latin typeface="Aptos"/>
                <a:ea typeface="Aptos"/>
                <a:cs typeface="Aptos"/>
              </a:defRPr>
            </a:pPr>
            <a:r>
              <a:rPr sz="1125" b="0">
                <a:solidFill>
                  <a:srgbClr val="526276"/>
                </a:solidFill>
                <a:latin typeface="Aptos"/>
                <a:ea typeface="Aptos"/>
                <a:cs typeface="Aptos"/>
              </a:rPr>
              <a:t>Source: PACT_MODEL.md</a:t>
            </a:r>
          </a:p>
        </p:txBody>
      </p:sp>
      <p:sp>
        <p:nvSpPr>
          <p:cNvPr id="4" name="">
            <a:extLst xmlns:a="http://schemas.openxmlformats.org/drawingml/2006/main">
              <a:ext uri="{FF2B5EF4-FFF2-40B4-BE49-F238E27FC236}">
                <a16:creationId xmlns:a16="http://schemas.microsoft.com/office/drawing/2014/main" id="{844EC719-9D5D-40B2-B7E1-5507E47CD7E0}"/>
              </a:ext>
            </a:extLst>
          </p:cNvPr>
          <p:cNvSpPr>
            <a:spLocks xmlns:a="http://schemas.openxmlformats.org/drawingml/2006/main" noGrp="1"/>
          </p:cNvSpPr>
          <p:nvPr/>
        </p:nvSpPr>
        <p:spPr>
          <a:xfrm xmlns:a="http://schemas.openxmlformats.org/drawingml/2006/main">
            <a:off x="628650" y="150495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6A75"/>
                </a:solidFill>
                <a:latin typeface="Aptos"/>
                <a:ea typeface="Aptos"/>
                <a:cs typeface="Aptos"/>
              </a:defRPr>
            </a:defPPr>
          </a:lstStyle>
          <a:p xmlns:a="http://schemas.openxmlformats.org/drawingml/2006/main">
            <a:pPr>
              <a:defRPr sz="1725" b="1">
                <a:solidFill>
                  <a:srgbClr val="006A75"/>
                </a:solidFill>
                <a:latin typeface="Aptos"/>
                <a:ea typeface="Aptos"/>
                <a:cs typeface="Aptos"/>
              </a:defRPr>
            </a:pPr>
            <a:r>
              <a:rPr sz="1725" b="1">
                <a:solidFill>
                  <a:srgbClr val="006A75"/>
                </a:solidFill>
                <a:latin typeface="Aptos"/>
                <a:ea typeface="Aptos"/>
                <a:cs typeface="Aptos"/>
              </a:rPr>
              <a:t>01</a:t>
            </a:r>
          </a:p>
        </p:txBody>
      </p:sp>
      <p:sp>
        <p:nvSpPr>
          <p:cNvPr id="5" name="">
            <a:extLst xmlns:a="http://schemas.openxmlformats.org/drawingml/2006/main">
              <a:ext uri="{FF2B5EF4-FFF2-40B4-BE49-F238E27FC236}">
                <a16:creationId xmlns:a16="http://schemas.microsoft.com/office/drawing/2014/main" id="{7050A428-8533-41E4-8DE2-46D0A3A1348A}"/>
              </a:ext>
            </a:extLst>
          </p:cNvPr>
          <p:cNvSpPr>
            <a:spLocks xmlns:a="http://schemas.openxmlformats.org/drawingml/2006/main" noGrp="1"/>
          </p:cNvSpPr>
          <p:nvPr/>
        </p:nvSpPr>
        <p:spPr>
          <a:xfrm xmlns:a="http://schemas.openxmlformats.org/drawingml/2006/main">
            <a:off x="1200150" y="148590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83D"/>
                </a:solidFill>
                <a:latin typeface="Aptos"/>
                <a:ea typeface="Aptos"/>
                <a:cs typeface="Aptos"/>
              </a:defRPr>
            </a:defPPr>
          </a:lstStyle>
          <a:p xmlns:a="http://schemas.openxmlformats.org/drawingml/2006/main">
            <a:pPr>
              <a:defRPr sz="2100" b="0">
                <a:solidFill>
                  <a:srgbClr val="16283D"/>
                </a:solidFill>
                <a:latin typeface="Aptos"/>
                <a:ea typeface="Aptos"/>
                <a:cs typeface="Aptos"/>
              </a:defRPr>
            </a:pPr>
            <a:r>
              <a:rPr sz="2100" b="0">
                <a:solidFill>
                  <a:srgbClr val="16283D"/>
                </a:solidFill>
                <a:latin typeface="Aptos"/>
                <a:ea typeface="Aptos"/>
                <a:cs typeface="Aptos"/>
              </a:rPr>
              <a:t>Memory-level parallelism, or MLP, is the average number of outstanding demand-load requests while a tier has at least one such request active.</a:t>
            </a:r>
          </a:p>
        </p:txBody>
      </p:sp>
      <p:sp>
        <p:nvSpPr>
          <p:cNvPr id="6" name="">
            <a:extLst xmlns:a="http://schemas.openxmlformats.org/drawingml/2006/main">
              <a:ext uri="{FF2B5EF4-FFF2-40B4-BE49-F238E27FC236}">
                <a16:creationId xmlns:a16="http://schemas.microsoft.com/office/drawing/2014/main" id="{88B0EBB4-83BD-4F20-87D7-225FE8C514B7}"/>
              </a:ext>
            </a:extLst>
          </p:cNvPr>
          <p:cNvSpPr>
            <a:spLocks xmlns:a="http://schemas.openxmlformats.org/drawingml/2006/main" noGrp="1"/>
          </p:cNvSpPr>
          <p:nvPr/>
        </p:nvSpPr>
        <p:spPr>
          <a:xfrm xmlns:a="http://schemas.openxmlformats.org/drawingml/2006/main">
            <a:off x="628650" y="260985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6A75"/>
                </a:solidFill>
                <a:latin typeface="Aptos"/>
                <a:ea typeface="Aptos"/>
                <a:cs typeface="Aptos"/>
              </a:defRPr>
            </a:defPPr>
          </a:lstStyle>
          <a:p xmlns:a="http://schemas.openxmlformats.org/drawingml/2006/main">
            <a:pPr>
              <a:defRPr sz="1725" b="1">
                <a:solidFill>
                  <a:srgbClr val="006A75"/>
                </a:solidFill>
                <a:latin typeface="Aptos"/>
                <a:ea typeface="Aptos"/>
                <a:cs typeface="Aptos"/>
              </a:defRPr>
            </a:pPr>
            <a:r>
              <a:rPr sz="1725" b="1">
                <a:solidFill>
                  <a:srgbClr val="006A75"/>
                </a:solidFill>
                <a:latin typeface="Aptos"/>
                <a:ea typeface="Aptos"/>
                <a:cs typeface="Aptos"/>
              </a:rPr>
              <a:t>02</a:t>
            </a:r>
          </a:p>
        </p:txBody>
      </p:sp>
      <p:sp>
        <p:nvSpPr>
          <p:cNvPr id="7" name="">
            <a:extLst xmlns:a="http://schemas.openxmlformats.org/drawingml/2006/main">
              <a:ext uri="{FF2B5EF4-FFF2-40B4-BE49-F238E27FC236}">
                <a16:creationId xmlns:a16="http://schemas.microsoft.com/office/drawing/2014/main" id="{D59FC04E-DB65-4795-9B5F-9D6F25DBC636}"/>
              </a:ext>
            </a:extLst>
          </p:cNvPr>
          <p:cNvSpPr>
            <a:spLocks xmlns:a="http://schemas.openxmlformats.org/drawingml/2006/main" noGrp="1"/>
          </p:cNvSpPr>
          <p:nvPr/>
        </p:nvSpPr>
        <p:spPr>
          <a:xfrm xmlns:a="http://schemas.openxmlformats.org/drawingml/2006/main">
            <a:off x="1200150" y="259080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83D"/>
                </a:solidFill>
                <a:latin typeface="Aptos"/>
                <a:ea typeface="Aptos"/>
                <a:cs typeface="Aptos"/>
              </a:defRPr>
            </a:defPPr>
          </a:lstStyle>
          <a:p xmlns:a="http://schemas.openxmlformats.org/drawingml/2006/main">
            <a:pPr>
              <a:defRPr sz="2100" b="0">
                <a:solidFill>
                  <a:srgbClr val="16283D"/>
                </a:solidFill>
                <a:latin typeface="Aptos"/>
                <a:ea typeface="Aptos"/>
                <a:cs typeface="Aptos"/>
              </a:defRPr>
            </a:pPr>
            <a:r>
              <a:rPr sz="2100" b="0">
                <a:solidFill>
                  <a:srgbClr val="16283D"/>
                </a:solidFill>
                <a:latin typeface="Aptos"/>
                <a:ea typeface="Aptos"/>
                <a:cs typeface="Aptos"/>
              </a:rPr>
              <a:t>For each tier and observation window: MLP = outstanding-request occupancy area / active time. Estimated stall cost = k × load misses / MLP.</a:t>
            </a:r>
          </a:p>
        </p:txBody>
      </p:sp>
      <p:sp>
        <p:nvSpPr>
          <p:cNvPr id="8" name="">
            <a:extLst xmlns:a="http://schemas.openxmlformats.org/drawingml/2006/main">
              <a:ext uri="{FF2B5EF4-FFF2-40B4-BE49-F238E27FC236}">
                <a16:creationId xmlns:a16="http://schemas.microsoft.com/office/drawing/2014/main" id="{AE7445BE-C70C-495E-9D62-8594A302918F}"/>
              </a:ext>
            </a:extLst>
          </p:cNvPr>
          <p:cNvSpPr>
            <a:spLocks xmlns:a="http://schemas.openxmlformats.org/drawingml/2006/main" noGrp="1"/>
          </p:cNvSpPr>
          <p:nvPr/>
        </p:nvSpPr>
        <p:spPr>
          <a:xfrm xmlns:a="http://schemas.openxmlformats.org/drawingml/2006/main">
            <a:off x="628650" y="371475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6A75"/>
                </a:solidFill>
                <a:latin typeface="Aptos"/>
                <a:ea typeface="Aptos"/>
                <a:cs typeface="Aptos"/>
              </a:defRPr>
            </a:defPPr>
          </a:lstStyle>
          <a:p xmlns:a="http://schemas.openxmlformats.org/drawingml/2006/main">
            <a:pPr>
              <a:defRPr sz="1725" b="1">
                <a:solidFill>
                  <a:srgbClr val="006A75"/>
                </a:solidFill>
                <a:latin typeface="Aptos"/>
                <a:ea typeface="Aptos"/>
                <a:cs typeface="Aptos"/>
              </a:defRPr>
            </a:pPr>
            <a:r>
              <a:rPr sz="1725" b="1">
                <a:solidFill>
                  <a:srgbClr val="006A75"/>
                </a:solidFill>
                <a:latin typeface="Aptos"/>
                <a:ea typeface="Aptos"/>
                <a:cs typeface="Aptos"/>
              </a:rPr>
              <a:t>03</a:t>
            </a:r>
          </a:p>
        </p:txBody>
      </p:sp>
      <p:sp>
        <p:nvSpPr>
          <p:cNvPr id="9" name="">
            <a:extLst xmlns:a="http://schemas.openxmlformats.org/drawingml/2006/main">
              <a:ext uri="{FF2B5EF4-FFF2-40B4-BE49-F238E27FC236}">
                <a16:creationId xmlns:a16="http://schemas.microsoft.com/office/drawing/2014/main" id="{2D4B2B7F-3C45-4F9B-8C26-C5FA5CFAC2AB}"/>
              </a:ext>
            </a:extLst>
          </p:cNvPr>
          <p:cNvSpPr>
            <a:spLocks xmlns:a="http://schemas.openxmlformats.org/drawingml/2006/main" noGrp="1"/>
          </p:cNvSpPr>
          <p:nvPr/>
        </p:nvSpPr>
        <p:spPr>
          <a:xfrm xmlns:a="http://schemas.openxmlformats.org/drawingml/2006/main">
            <a:off x="1200150" y="369570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83D"/>
                </a:solidFill>
                <a:latin typeface="Aptos"/>
                <a:ea typeface="Aptos"/>
                <a:cs typeface="Aptos"/>
              </a:defRPr>
            </a:defPPr>
          </a:lstStyle>
          <a:p xmlns:a="http://schemas.openxmlformats.org/drawingml/2006/main">
            <a:pPr>
              <a:defRPr sz="2100" b="0">
                <a:solidFill>
                  <a:srgbClr val="16283D"/>
                </a:solidFill>
                <a:latin typeface="Aptos"/>
                <a:ea typeface="Aptos"/>
                <a:cs typeface="Aptos"/>
              </a:defRPr>
            </a:pPr>
            <a:r>
              <a:rPr sz="2100" b="0">
                <a:solidFill>
                  <a:srgbClr val="16283D"/>
                </a:solidFill>
                <a:latin typeface="Aptos"/>
                <a:ea typeface="Aptos"/>
                <a:cs typeface="Aptos"/>
              </a:rPr>
              <a:t>We attribute that cost to pages in proportion to their observed load misses. The accumulated score becomes PAC_new = alpha × PAC_old + new page contribution.</a:t>
            </a:r>
          </a:p>
        </p:txBody>
      </p:sp>
      <p:sp>
        <p:nvSpPr>
          <p:cNvPr id="10" name="">
            <a:extLst xmlns:a="http://schemas.openxmlformats.org/drawingml/2006/main">
              <a:ext uri="{FF2B5EF4-FFF2-40B4-BE49-F238E27FC236}">
                <a16:creationId xmlns:a16="http://schemas.microsoft.com/office/drawing/2014/main" id="{EB779B3B-31DC-408A-8CA7-C1BD07A82824}"/>
              </a:ext>
            </a:extLst>
          </p:cNvPr>
          <p:cNvSpPr>
            <a:spLocks xmlns:a="http://schemas.openxmlformats.org/drawingml/2006/main" noGrp="1"/>
          </p:cNvSpPr>
          <p:nvPr/>
        </p:nvSpPr>
        <p:spPr>
          <a:xfrm xmlns:a="http://schemas.openxmlformats.org/drawingml/2006/main">
            <a:off x="628650" y="481965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6A75"/>
                </a:solidFill>
                <a:latin typeface="Aptos"/>
                <a:ea typeface="Aptos"/>
                <a:cs typeface="Aptos"/>
              </a:defRPr>
            </a:defPPr>
          </a:lstStyle>
          <a:p xmlns:a="http://schemas.openxmlformats.org/drawingml/2006/main">
            <a:pPr>
              <a:defRPr sz="1725" b="1">
                <a:solidFill>
                  <a:srgbClr val="006A75"/>
                </a:solidFill>
                <a:latin typeface="Aptos"/>
                <a:ea typeface="Aptos"/>
                <a:cs typeface="Aptos"/>
              </a:defRPr>
            </a:pPr>
            <a:r>
              <a:rPr sz="1725" b="1">
                <a:solidFill>
                  <a:srgbClr val="006A75"/>
                </a:solidFill>
                <a:latin typeface="Aptos"/>
                <a:ea typeface="Aptos"/>
                <a:cs typeface="Aptos"/>
              </a:rPr>
              <a:t>04</a:t>
            </a:r>
          </a:p>
        </p:txBody>
      </p:sp>
      <p:sp>
        <p:nvSpPr>
          <p:cNvPr id="11" name="">
            <a:extLst xmlns:a="http://schemas.openxmlformats.org/drawingml/2006/main">
              <a:ext uri="{FF2B5EF4-FFF2-40B4-BE49-F238E27FC236}">
                <a16:creationId xmlns:a16="http://schemas.microsoft.com/office/drawing/2014/main" id="{74DF7E80-932A-4369-92C0-2514ED9F8BFC}"/>
              </a:ext>
            </a:extLst>
          </p:cNvPr>
          <p:cNvSpPr>
            <a:spLocks xmlns:a="http://schemas.openxmlformats.org/drawingml/2006/main" noGrp="1"/>
          </p:cNvSpPr>
          <p:nvPr/>
        </p:nvSpPr>
        <p:spPr>
          <a:xfrm xmlns:a="http://schemas.openxmlformats.org/drawingml/2006/main">
            <a:off x="1200150" y="480060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83D"/>
                </a:solidFill>
                <a:latin typeface="Aptos"/>
                <a:ea typeface="Aptos"/>
                <a:cs typeface="Aptos"/>
              </a:defRPr>
            </a:defPPr>
          </a:lstStyle>
          <a:p xmlns:a="http://schemas.openxmlformats.org/drawingml/2006/main">
            <a:pPr>
              <a:defRPr sz="2100" b="0">
                <a:solidFill>
                  <a:srgbClr val="16283D"/>
                </a:solidFill>
                <a:latin typeface="Aptos"/>
                <a:ea typeface="Aptos"/>
                <a:cs typeface="Aptos"/>
              </a:defRPr>
            </a:pPr>
            <a:r>
              <a:rPr sz="2100" b="0">
                <a:solidFill>
                  <a:srgbClr val="16283D"/>
                </a:solidFill>
                <a:latin typeface="Aptos"/>
                <a:ea typeface="Aptos"/>
                <a:cs typeface="Aptos"/>
              </a:rPr>
              <a:t>A miss in a low-MLP window contributes more score than a miss in a high-MLP window. Within one tier and one window, PAC remains proportional to page frequency.</a:t>
            </a:r>
          </a:p>
        </p:txBody>
      </p:sp>
    </p:spTree>
    <p:extLst>
      <p:ext uri="{BB962C8B-B14F-4D97-AF65-F5344CB8AC3E}">
        <p14:creationId xmlns:p14="http://schemas.microsoft.com/office/powerpoint/2010/main" val="2062467781"/>
      </p:ext>
    </p:extLst>
  </p:cSld>
</p:sld>
</file>

<file path=ppt/slides/slide1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7738AB9-0768-4B22-9A1D-EEAB5128BAB0}"/>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6283D"/>
                </a:solidFill>
                <a:latin typeface="Aptos"/>
                <a:ea typeface="Aptos"/>
                <a:cs typeface="Aptos"/>
              </a:defRPr>
            </a:defPPr>
          </a:lstStyle>
          <a:p xmlns:a="http://schemas.openxmlformats.org/drawingml/2006/main">
            <a:pPr>
              <a:defRPr sz="3225" b="1">
                <a:solidFill>
                  <a:srgbClr val="16283D"/>
                </a:solidFill>
                <a:latin typeface="Aptos"/>
                <a:ea typeface="Aptos"/>
                <a:cs typeface="Aptos"/>
              </a:defRPr>
            </a:pPr>
            <a:r>
              <a:rPr sz="3225" b="1">
                <a:solidFill>
                  <a:srgbClr val="16283D"/>
                </a:solidFill>
                <a:latin typeface="Aptos"/>
                <a:ea typeface="Aptos"/>
                <a:cs typeface="Aptos"/>
              </a:rPr>
              <a:t>Frequency and PAC in a controlled example</a:t>
            </a:r>
          </a:p>
        </p:txBody>
      </p:sp>
      <p:sp>
        <p:nvSpPr>
          <p:cNvPr id="2" name="">
            <a:extLst xmlns:a="http://schemas.openxmlformats.org/drawingml/2006/main">
              <a:ext uri="{FF2B5EF4-FFF2-40B4-BE49-F238E27FC236}">
                <a16:creationId xmlns:a16="http://schemas.microsoft.com/office/drawing/2014/main" id="{BD98260E-AA39-4BC9-99FE-2012CC0AE151}"/>
              </a:ext>
            </a:extLst>
          </p:cNvPr>
          <p:cNvSpPr>
            <a:spLocks xmlns:a="http://schemas.openxmlformats.org/drawingml/2006/main" noGrp="1"/>
          </p:cNvSpPr>
          <p:nvPr/>
        </p:nvSpPr>
        <p:spPr>
          <a:xfrm xmlns:a="http://schemas.openxmlformats.org/drawingml/2006/main">
            <a:off x="11144250" y="63341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276"/>
                </a:solidFill>
                <a:latin typeface="Aptos"/>
                <a:ea typeface="Aptos"/>
                <a:cs typeface="Aptos"/>
              </a:defRPr>
            </a:defPPr>
          </a:lstStyle>
          <a:p xmlns:a="http://schemas.openxmlformats.org/drawingml/2006/main">
            <a:pPr>
              <a:defRPr sz="1200" b="0">
                <a:solidFill>
                  <a:srgbClr val="526276"/>
                </a:solidFill>
                <a:latin typeface="Aptos"/>
                <a:ea typeface="Aptos"/>
                <a:cs typeface="Aptos"/>
              </a:defRPr>
            </a:pPr>
            <a:r>
              <a:rPr sz="1200" b="0">
                <a:solidFill>
                  <a:srgbClr val="526276"/>
                </a:solidFill>
                <a:latin typeface="Aptos"/>
                <a:ea typeface="Aptos"/>
                <a:cs typeface="Aptos"/>
              </a:rPr>
              <a:t>12</a:t>
            </a:r>
          </a:p>
        </p:txBody>
      </p:sp>
      <p:sp>
        <p:nvSpPr>
          <p:cNvPr id="3" name="">
            <a:extLst xmlns:a="http://schemas.openxmlformats.org/drawingml/2006/main">
              <a:ext uri="{FF2B5EF4-FFF2-40B4-BE49-F238E27FC236}">
                <a16:creationId xmlns:a16="http://schemas.microsoft.com/office/drawing/2014/main" id="{6328F99E-866D-4A2C-ACBD-653FDE98C28D}"/>
              </a:ext>
            </a:extLst>
          </p:cNvPr>
          <p:cNvSpPr>
            <a:spLocks xmlns:a="http://schemas.openxmlformats.org/drawingml/2006/main" noGrp="1"/>
          </p:cNvSpPr>
          <p:nvPr/>
        </p:nvSpPr>
        <p:spPr>
          <a:xfrm xmlns:a="http://schemas.openxmlformats.org/drawingml/2006/main">
            <a:off x="609600" y="6315075"/>
            <a:ext cx="10287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276"/>
                </a:solidFill>
                <a:latin typeface="Aptos"/>
                <a:ea typeface="Aptos"/>
                <a:cs typeface="Aptos"/>
              </a:defRPr>
            </a:defPPr>
          </a:lstStyle>
          <a:p xmlns:a="http://schemas.openxmlformats.org/drawingml/2006/main">
            <a:pPr>
              <a:defRPr sz="1125" b="0">
                <a:solidFill>
                  <a:srgbClr val="526276"/>
                </a:solidFill>
                <a:latin typeface="Aptos"/>
                <a:ea typeface="Aptos"/>
                <a:cs typeface="Aptos"/>
              </a:defRPr>
            </a:pPr>
            <a:r>
              <a:rPr sz="1125" b="0">
                <a:solidFill>
                  <a:srgbClr val="526276"/>
                </a:solidFill>
                <a:latin typeface="Aptos"/>
                <a:ea typeface="Aptos"/>
                <a:cs typeface="Aptos"/>
              </a:rPr>
              <a:t>Source: SYNTHETIC_STREAMS.md</a:t>
            </a:r>
          </a:p>
        </p:txBody>
      </p:sp>
      <p:graphicFrame>
        <p:nvGraphicFramePr>
          <p:cNvPr id="4" name="">
            <a:extLst xmlns:a="http://schemas.openxmlformats.org/drawingml/2006/main">
              <a:ext uri="{FF2B5EF4-FFF2-40B4-BE49-F238E27FC236}">
                <a16:creationId xmlns:a16="http://schemas.microsoft.com/office/drawing/2014/main" id="{81B5CB69-196B-4BFB-B669-C0A8982860A0}"/>
              </a:ext>
            </a:extLst>
          </p:cNvPr>
          <p:cNvGraphicFramePr/>
          <p:nvPr/>
        </p:nvGraphicFramePr>
        <p:xfrm>
          <a:off xmlns:a="http://schemas.openxmlformats.org/drawingml/2006/main" x="609600" y="1733550"/>
          <a:ext xmlns:a="http://schemas.openxmlformats.org/drawingml/2006/main" cx="10972800" cy="2190750"/>
        </p:xfrm>
        <a:graphic xmlns:a="http://schemas.openxmlformats.org/drawingml/2006/main">
          <a:graphicData uri="http://schemas.openxmlformats.org/drawingml/2006/table">
            <a:tbl>
              <a:tblPr/>
              <a:tblGrid>
                <a:gridCol w="3143250"/>
                <a:gridCol w="2476500"/>
                <a:gridCol w="2286000"/>
                <a:gridCol w="3067050"/>
              </a:tblGrid>
              <a:tr h="730250">
                <a:tc>
                  <a:txBody>
                    <a:bodyPr/>
                    <a:lstStyle/>
                    <a:p>
                      <a:r>
                        <a:rPr sz="1725" b="1">
                          <a:solidFill>
                            <a:srgbClr val="FFFFFF"/>
                          </a:solidFill>
                          <a:latin typeface="Aptos"/>
                          <a:ea typeface="Aptos"/>
                          <a:cs typeface="Aptos"/>
                        </a:rPr>
                        <a:t>Group</a:t>
                      </a:r>
                    </a:p>
                  </a:txBody>
                  <a:tcPr marL="114300" marR="114300" marT="47625" marB="47625">
                    <a:lnL w="9525">
                      <a:solidFill>
                        <a:srgbClr val="D4DDE4"/>
                      </a:solidFill>
                      <a:prstDash val="solid"/>
                    </a:lnL>
                    <a:lnR w="9525">
                      <a:solidFill>
                        <a:srgbClr val="D4DDE4"/>
                      </a:solidFill>
                      <a:prstDash val="solid"/>
                    </a:lnR>
                    <a:lnT w="9525">
                      <a:solidFill>
                        <a:srgbClr val="D4DDE4"/>
                      </a:solidFill>
                      <a:prstDash val="solid"/>
                    </a:lnT>
                    <a:lnB w="9525">
                      <a:solidFill>
                        <a:srgbClr val="D4DDE4"/>
                      </a:solidFill>
                      <a:prstDash val="solid"/>
                    </a:lnB>
                    <a:solidFill>
                      <a:srgbClr val="006A75"/>
                    </a:solidFill>
                  </a:tcPr>
                </a:tc>
                <a:tc>
                  <a:txBody>
                    <a:bodyPr/>
                    <a:lstStyle/>
                    <a:p>
                      <a:r>
                        <a:rPr sz="1725" b="1">
                          <a:solidFill>
                            <a:srgbClr val="FFFFFF"/>
                          </a:solidFill>
                          <a:latin typeface="Aptos"/>
                          <a:ea typeface="Aptos"/>
                          <a:cs typeface="Aptos"/>
                        </a:rPr>
                        <a:t>Relative misses per page</a:t>
                      </a:r>
                    </a:p>
                  </a:txBody>
                  <a:tcPr marL="114300" marR="114300" marT="47625" marB="47625">
                    <a:lnR w="9525">
                      <a:solidFill>
                        <a:srgbClr val="D4DDE4"/>
                      </a:solidFill>
                      <a:prstDash val="solid"/>
                    </a:lnR>
                    <a:lnT w="9525">
                      <a:solidFill>
                        <a:srgbClr val="D4DDE4"/>
                      </a:solidFill>
                      <a:prstDash val="solid"/>
                    </a:lnT>
                    <a:lnB w="9525">
                      <a:solidFill>
                        <a:srgbClr val="D4DDE4"/>
                      </a:solidFill>
                      <a:prstDash val="solid"/>
                    </a:lnB>
                    <a:solidFill>
                      <a:srgbClr val="006A75"/>
                    </a:solidFill>
                  </a:tcPr>
                </a:tc>
                <a:tc>
                  <a:txBody>
                    <a:bodyPr/>
                    <a:lstStyle/>
                    <a:p>
                      <a:r>
                        <a:rPr sz="1725" b="1">
                          <a:solidFill>
                            <a:srgbClr val="FFFFFF"/>
                          </a:solidFill>
                          <a:latin typeface="Aptos"/>
                          <a:ea typeface="Aptos"/>
                          <a:cs typeface="Aptos"/>
                        </a:rPr>
                        <a:t>Measured phase MLP</a:t>
                      </a:r>
                    </a:p>
                  </a:txBody>
                  <a:tcPr marL="114300" marR="114300" marT="47625" marB="47625">
                    <a:lnR w="9525">
                      <a:solidFill>
                        <a:srgbClr val="D4DDE4"/>
                      </a:solidFill>
                      <a:prstDash val="solid"/>
                    </a:lnR>
                    <a:lnT w="9525">
                      <a:solidFill>
                        <a:srgbClr val="D4DDE4"/>
                      </a:solidFill>
                      <a:prstDash val="solid"/>
                    </a:lnT>
                    <a:lnB w="9525">
                      <a:solidFill>
                        <a:srgbClr val="D4DDE4"/>
                      </a:solidFill>
                      <a:prstDash val="solid"/>
                    </a:lnB>
                    <a:solidFill>
                      <a:srgbClr val="006A75"/>
                    </a:solidFill>
                  </a:tcPr>
                </a:tc>
                <a:tc>
                  <a:txBody>
                    <a:bodyPr/>
                    <a:lstStyle/>
                    <a:p>
                      <a:r>
                        <a:rPr sz="1725" b="1">
                          <a:solidFill>
                            <a:srgbClr val="FFFFFF"/>
                          </a:solidFill>
                          <a:latin typeface="Aptos"/>
                          <a:ea typeface="Aptos"/>
                          <a:cs typeface="Aptos"/>
                        </a:rPr>
                        <a:t>Relative PAC contribution</a:t>
                      </a:r>
                    </a:p>
                  </a:txBody>
                  <a:tcPr marL="114300" marR="114300" marT="47625" marB="47625">
                    <a:lnR w="9525">
                      <a:solidFill>
                        <a:srgbClr val="D4DDE4"/>
                      </a:solidFill>
                      <a:prstDash val="solid"/>
                    </a:lnR>
                    <a:lnT w="9525">
                      <a:solidFill>
                        <a:srgbClr val="D4DDE4"/>
                      </a:solidFill>
                      <a:prstDash val="solid"/>
                    </a:lnT>
                    <a:lnB w="9525">
                      <a:solidFill>
                        <a:srgbClr val="D4DDE4"/>
                      </a:solidFill>
                      <a:prstDash val="solid"/>
                    </a:lnB>
                    <a:solidFill>
                      <a:srgbClr val="006A75"/>
                    </a:solidFill>
                  </a:tcPr>
                </a:tc>
              </a:tr>
              <a:tr h="730250">
                <a:tc>
                  <a:txBody>
                    <a:bodyPr/>
                    <a:lstStyle/>
                    <a:p>
                      <a:r>
                        <a:rPr sz="1725">
                          <a:solidFill>
                            <a:srgbClr val="16283D"/>
                          </a:solidFill>
                          <a:latin typeface="Aptos"/>
                          <a:ea typeface="Aptos"/>
                          <a:cs typeface="Aptos"/>
                        </a:rPr>
                        <a:t>Serial pointer chain</a:t>
                      </a:r>
                    </a:p>
                  </a:txBody>
                  <a:tcPr marL="114300" marR="114300" marT="47625" marB="47625">
                    <a:lnL w="9525">
                      <a:solidFill>
                        <a:srgbClr val="D4DDE4"/>
                      </a:solidFill>
                      <a:prstDash val="solid"/>
                    </a:lnL>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1</a:t>
                      </a:r>
                    </a:p>
                  </a:txBody>
                  <a:tcPr marL="114300" marR="114300" marT="47625" marB="47625">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1</a:t>
                      </a:r>
                    </a:p>
                  </a:txBody>
                  <a:tcPr marL="114300" marR="114300" marT="47625" marB="47625">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1 / 1 = 1.00</a:t>
                      </a:r>
                    </a:p>
                  </a:txBody>
                  <a:tcPr marL="114300" marR="114300" marT="47625" marB="47625">
                    <a:lnR w="9525">
                      <a:solidFill>
                        <a:srgbClr val="D4DDE4"/>
                      </a:solidFill>
                      <a:prstDash val="solid"/>
                    </a:lnR>
                    <a:lnB w="9525">
                      <a:solidFill>
                        <a:srgbClr val="D4DDE4"/>
                      </a:solidFill>
                      <a:prstDash val="solid"/>
                    </a:lnB>
                  </a:tcPr>
                </a:tc>
              </a:tr>
              <a:tr h="730250">
                <a:tc>
                  <a:txBody>
                    <a:bodyPr/>
                    <a:lstStyle/>
                    <a:p>
                      <a:r>
                        <a:rPr sz="1725">
                          <a:solidFill>
                            <a:srgbClr val="16283D"/>
                          </a:solidFill>
                          <a:latin typeface="Aptos"/>
                          <a:ea typeface="Aptos"/>
                          <a:cs typeface="Aptos"/>
                        </a:rPr>
                        <a:t>Hot independent group</a:t>
                      </a:r>
                    </a:p>
                  </a:txBody>
                  <a:tcPr marL="114300" marR="114300" marT="47625" marB="47625">
                    <a:lnL w="9525">
                      <a:solidFill>
                        <a:srgbClr val="D4DDE4"/>
                      </a:solidFill>
                      <a:prstDash val="solid"/>
                    </a:lnL>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4</a:t>
                      </a:r>
                    </a:p>
                  </a:txBody>
                  <a:tcPr marL="114300" marR="114300" marT="47625" marB="47625">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16</a:t>
                      </a:r>
                    </a:p>
                  </a:txBody>
                  <a:tcPr marL="114300" marR="114300" marT="47625" marB="47625">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4 / 16 = 0.25</a:t>
                      </a:r>
                    </a:p>
                  </a:txBody>
                  <a:tcPr marL="114300" marR="114300" marT="47625" marB="47625">
                    <a:lnR w="9525">
                      <a:solidFill>
                        <a:srgbClr val="D4DDE4"/>
                      </a:solidFill>
                      <a:prstDash val="solid"/>
                    </a:lnR>
                    <a:lnB w="9525">
                      <a:solidFill>
                        <a:srgbClr val="D4DDE4"/>
                      </a:solidFill>
                      <a:prstDash val="solid"/>
                    </a:lnB>
                  </a:tcPr>
                </a:tc>
              </a:tr>
            </a:tbl>
          </a:graphicData>
        </a:graphic>
      </p:graphicFrame>
      <p:sp>
        <p:nvSpPr>
          <p:cNvPr id="5" name="">
            <a:extLst xmlns:a="http://schemas.openxmlformats.org/drawingml/2006/main">
              <a:ext uri="{FF2B5EF4-FFF2-40B4-BE49-F238E27FC236}">
                <a16:creationId xmlns:a16="http://schemas.microsoft.com/office/drawing/2014/main" id="{D8F99CC4-C7AC-4B54-BB53-A8843FAF86C5}"/>
              </a:ext>
            </a:extLst>
          </p:cNvPr>
          <p:cNvSpPr>
            <a:spLocks xmlns:a="http://schemas.openxmlformats.org/drawingml/2006/main" noGrp="1"/>
          </p:cNvSpPr>
          <p:nvPr/>
        </p:nvSpPr>
        <p:spPr>
          <a:xfrm xmlns:a="http://schemas.openxmlformats.org/drawingml/2006/main">
            <a:off x="609600" y="42862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6283D"/>
                </a:solidFill>
                <a:latin typeface="Aptos"/>
                <a:ea typeface="Aptos"/>
                <a:cs typeface="Aptos"/>
              </a:defRPr>
            </a:defPPr>
          </a:lstStyle>
          <a:p xmlns:a="http://schemas.openxmlformats.org/drawingml/2006/main">
            <a:pPr>
              <a:defRPr sz="2250" b="1">
                <a:solidFill>
                  <a:srgbClr val="16283D"/>
                </a:solidFill>
                <a:latin typeface="Aptos"/>
                <a:ea typeface="Aptos"/>
                <a:cs typeface="Aptos"/>
              </a:defRPr>
            </a:pPr>
            <a:r>
              <a:rPr sz="2250" b="1">
                <a:solidFill>
                  <a:srgbClr val="16283D"/>
                </a:solidFill>
                <a:latin typeface="Aptos"/>
                <a:ea typeface="Aptos"/>
                <a:cs typeface="Aptos"/>
              </a:rPr>
              <a:t>Frequency prefers the hot group because it has four times as many misses. PAC can prefer the serial group because its misses expose more delay per page.</a:t>
            </a:r>
          </a:p>
        </p:txBody>
      </p:sp>
      <p:sp>
        <p:nvSpPr>
          <p:cNvPr id="6" name="">
            <a:extLst xmlns:a="http://schemas.openxmlformats.org/drawingml/2006/main">
              <a:ext uri="{FF2B5EF4-FFF2-40B4-BE49-F238E27FC236}">
                <a16:creationId xmlns:a16="http://schemas.microsoft.com/office/drawing/2014/main" id="{321AF1D4-A9E3-4D17-8F99-31E66EEB247E}"/>
              </a:ext>
            </a:extLst>
          </p:cNvPr>
          <p:cNvSpPr>
            <a:spLocks xmlns:a="http://schemas.openxmlformats.org/drawingml/2006/main" noGrp="1"/>
          </p:cNvSpPr>
          <p:nvPr/>
        </p:nvSpPr>
        <p:spPr>
          <a:xfrm xmlns:a="http://schemas.openxmlformats.org/drawingml/2006/main">
            <a:off x="609600" y="53721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6283D"/>
                </a:solidFill>
                <a:latin typeface="Aptos"/>
                <a:ea typeface="Aptos"/>
                <a:cs typeface="Aptos"/>
              </a:defRPr>
            </a:defPPr>
          </a:lstStyle>
          <a:p xmlns:a="http://schemas.openxmlformats.org/drawingml/2006/main">
            <a:pPr>
              <a:defRPr sz="1950" b="0">
                <a:solidFill>
                  <a:srgbClr val="16283D"/>
                </a:solidFill>
                <a:latin typeface="Aptos"/>
                <a:ea typeface="Aptos"/>
                <a:cs typeface="Aptos"/>
              </a:defRPr>
            </a:pPr>
            <a:r>
              <a:rPr sz="1950" b="0">
                <a:solidFill>
                  <a:srgbClr val="16283D"/>
                </a:solidFill>
                <a:latin typeface="Aptos"/>
                <a:ea typeface="Aptos"/>
                <a:cs typeface="Aptos"/>
              </a:rPr>
              <a:t>The workload supplies dependencies and batch widths. The scoring function receives MLP calculated from request occupancy, without a supplied page-criticality label.</a:t>
            </a:r>
          </a:p>
        </p:txBody>
      </p:sp>
    </p:spTree>
    <p:extLst>
      <p:ext uri="{BB962C8B-B14F-4D97-AF65-F5344CB8AC3E}">
        <p14:creationId xmlns:p14="http://schemas.microsoft.com/office/powerpoint/2010/main" val="1260645541"/>
      </p:ext>
    </p:extLst>
  </p:cSld>
</p:sld>
</file>

<file path=ppt/slides/slide1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F49244B-68C4-4E89-9B6D-1ECB0ECCC327}"/>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6283D"/>
                </a:solidFill>
                <a:latin typeface="Aptos"/>
                <a:ea typeface="Aptos"/>
                <a:cs typeface="Aptos"/>
              </a:defRPr>
            </a:defPPr>
          </a:lstStyle>
          <a:p xmlns:a="http://schemas.openxmlformats.org/drawingml/2006/main">
            <a:pPr>
              <a:defRPr sz="3225" b="1">
                <a:solidFill>
                  <a:srgbClr val="16283D"/>
                </a:solidFill>
                <a:latin typeface="Aptos"/>
                <a:ea typeface="Aptos"/>
                <a:cs typeface="Aptos"/>
              </a:defRPr>
            </a:pPr>
            <a:r>
              <a:rPr sz="3225" b="1">
                <a:solidFill>
                  <a:srgbClr val="16283D"/>
                </a:solidFill>
                <a:latin typeface="Aptos"/>
                <a:ea typeface="Aptos"/>
                <a:cs typeface="Aptos"/>
              </a:rPr>
              <a:t>Dynamic placement and fair policy comparison</a:t>
            </a:r>
          </a:p>
        </p:txBody>
      </p:sp>
      <p:sp>
        <p:nvSpPr>
          <p:cNvPr id="2" name="">
            <a:extLst xmlns:a="http://schemas.openxmlformats.org/drawingml/2006/main">
              <a:ext uri="{FF2B5EF4-FFF2-40B4-BE49-F238E27FC236}">
                <a16:creationId xmlns:a16="http://schemas.microsoft.com/office/drawing/2014/main" id="{35AE2F77-5529-4485-B93F-3DFD7B82CBD0}"/>
              </a:ext>
            </a:extLst>
          </p:cNvPr>
          <p:cNvSpPr>
            <a:spLocks xmlns:a="http://schemas.openxmlformats.org/drawingml/2006/main" noGrp="1"/>
          </p:cNvSpPr>
          <p:nvPr/>
        </p:nvSpPr>
        <p:spPr>
          <a:xfrm xmlns:a="http://schemas.openxmlformats.org/drawingml/2006/main">
            <a:off x="11144250" y="63341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276"/>
                </a:solidFill>
                <a:latin typeface="Aptos"/>
                <a:ea typeface="Aptos"/>
                <a:cs typeface="Aptos"/>
              </a:defRPr>
            </a:defPPr>
          </a:lstStyle>
          <a:p xmlns:a="http://schemas.openxmlformats.org/drawingml/2006/main">
            <a:pPr>
              <a:defRPr sz="1200" b="0">
                <a:solidFill>
                  <a:srgbClr val="526276"/>
                </a:solidFill>
                <a:latin typeface="Aptos"/>
                <a:ea typeface="Aptos"/>
                <a:cs typeface="Aptos"/>
              </a:defRPr>
            </a:pPr>
            <a:r>
              <a:rPr sz="1200" b="0">
                <a:solidFill>
                  <a:srgbClr val="526276"/>
                </a:solidFill>
                <a:latin typeface="Aptos"/>
                <a:ea typeface="Aptos"/>
                <a:cs typeface="Aptos"/>
              </a:rPr>
              <a:t>13</a:t>
            </a:r>
          </a:p>
        </p:txBody>
      </p:sp>
      <p:sp>
        <p:nvSpPr>
          <p:cNvPr id="3" name="">
            <a:extLst xmlns:a="http://schemas.openxmlformats.org/drawingml/2006/main">
              <a:ext uri="{FF2B5EF4-FFF2-40B4-BE49-F238E27FC236}">
                <a16:creationId xmlns:a16="http://schemas.microsoft.com/office/drawing/2014/main" id="{ADF45A86-930C-4C11-8C2E-79CCE90E1582}"/>
              </a:ext>
            </a:extLst>
          </p:cNvPr>
          <p:cNvSpPr>
            <a:spLocks xmlns:a="http://schemas.openxmlformats.org/drawingml/2006/main" noGrp="1"/>
          </p:cNvSpPr>
          <p:nvPr/>
        </p:nvSpPr>
        <p:spPr>
          <a:xfrm xmlns:a="http://schemas.openxmlformats.org/drawingml/2006/main">
            <a:off x="609600" y="6315075"/>
            <a:ext cx="10287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276"/>
                </a:solidFill>
                <a:latin typeface="Aptos"/>
                <a:ea typeface="Aptos"/>
                <a:cs typeface="Aptos"/>
              </a:defRPr>
            </a:defPPr>
          </a:lstStyle>
          <a:p xmlns:a="http://schemas.openxmlformats.org/drawingml/2006/main">
            <a:pPr>
              <a:defRPr sz="1125" b="0">
                <a:solidFill>
                  <a:srgbClr val="526276"/>
                </a:solidFill>
                <a:latin typeface="Aptos"/>
                <a:ea typeface="Aptos"/>
                <a:cs typeface="Aptos"/>
              </a:defRPr>
            </a:pPr>
            <a:r>
              <a:rPr sz="1125" b="0">
                <a:solidFill>
                  <a:srgbClr val="526276"/>
                </a:solidFill>
                <a:latin typeface="Aptos"/>
                <a:ea typeface="Aptos"/>
                <a:cs typeface="Aptos"/>
              </a:rPr>
              <a:t>Source: DYNAMIC_MODEL.md</a:t>
            </a:r>
          </a:p>
        </p:txBody>
      </p:sp>
      <p:sp>
        <p:nvSpPr>
          <p:cNvPr id="4" name="">
            <a:extLst xmlns:a="http://schemas.openxmlformats.org/drawingml/2006/main">
              <a:ext uri="{FF2B5EF4-FFF2-40B4-BE49-F238E27FC236}">
                <a16:creationId xmlns:a16="http://schemas.microsoft.com/office/drawing/2014/main" id="{DBC5218B-870F-48FE-82DF-510B74448715}"/>
              </a:ext>
            </a:extLst>
          </p:cNvPr>
          <p:cNvSpPr>
            <a:spLocks xmlns:a="http://schemas.openxmlformats.org/drawingml/2006/main" noGrp="1"/>
          </p:cNvSpPr>
          <p:nvPr/>
        </p:nvSpPr>
        <p:spPr>
          <a:xfrm xmlns:a="http://schemas.openxmlformats.org/drawingml/2006/main">
            <a:off x="628650" y="150495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6A75"/>
                </a:solidFill>
                <a:latin typeface="Aptos"/>
                <a:ea typeface="Aptos"/>
                <a:cs typeface="Aptos"/>
              </a:defRPr>
            </a:defPPr>
          </a:lstStyle>
          <a:p xmlns:a="http://schemas.openxmlformats.org/drawingml/2006/main">
            <a:pPr>
              <a:defRPr sz="1725" b="1">
                <a:solidFill>
                  <a:srgbClr val="006A75"/>
                </a:solidFill>
                <a:latin typeface="Aptos"/>
                <a:ea typeface="Aptos"/>
                <a:cs typeface="Aptos"/>
              </a:defRPr>
            </a:pPr>
            <a:r>
              <a:rPr sz="1725" b="1">
                <a:solidFill>
                  <a:srgbClr val="006A75"/>
                </a:solidFill>
                <a:latin typeface="Aptos"/>
                <a:ea typeface="Aptos"/>
                <a:cs typeface="Aptos"/>
              </a:rPr>
              <a:t>01</a:t>
            </a:r>
          </a:p>
        </p:txBody>
      </p:sp>
      <p:sp>
        <p:nvSpPr>
          <p:cNvPr id="5" name="">
            <a:extLst xmlns:a="http://schemas.openxmlformats.org/drawingml/2006/main">
              <a:ext uri="{FF2B5EF4-FFF2-40B4-BE49-F238E27FC236}">
                <a16:creationId xmlns:a16="http://schemas.microsoft.com/office/drawing/2014/main" id="{7F9298FD-74E4-41BF-97B1-D1BD87AFAF5A}"/>
              </a:ext>
            </a:extLst>
          </p:cNvPr>
          <p:cNvSpPr>
            <a:spLocks xmlns:a="http://schemas.openxmlformats.org/drawingml/2006/main" noGrp="1"/>
          </p:cNvSpPr>
          <p:nvPr/>
        </p:nvSpPr>
        <p:spPr>
          <a:xfrm xmlns:a="http://schemas.openxmlformats.org/drawingml/2006/main">
            <a:off x="1200150" y="148590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83D"/>
                </a:solidFill>
                <a:latin typeface="Aptos"/>
                <a:ea typeface="Aptos"/>
                <a:cs typeface="Aptos"/>
              </a:defRPr>
            </a:defPPr>
          </a:lstStyle>
          <a:p xmlns:a="http://schemas.openxmlformats.org/drawingml/2006/main">
            <a:pPr>
              <a:defRPr sz="2100" b="0">
                <a:solidFill>
                  <a:srgbClr val="16283D"/>
                </a:solidFill>
                <a:latin typeface="Aptos"/>
                <a:ea typeface="Aptos"/>
                <a:cs typeface="Aptos"/>
              </a:defRPr>
            </a:pPr>
            <a:r>
              <a:rPr sz="2100" b="0">
                <a:solidFill>
                  <a:srgbClr val="16283D"/>
                </a:solidFill>
                <a:latin typeface="Aptos"/>
                <a:ea typeface="Aptos"/>
                <a:cs typeface="Aptos"/>
              </a:rPr>
              <a:t>The dynamic engine starts both policies with the same first-touch placement. It updates scores during a continuous execution region using only requests observed so far.</a:t>
            </a:r>
          </a:p>
        </p:txBody>
      </p:sp>
      <p:sp>
        <p:nvSpPr>
          <p:cNvPr id="6" name="">
            <a:extLst xmlns:a="http://schemas.openxmlformats.org/drawingml/2006/main">
              <a:ext uri="{FF2B5EF4-FFF2-40B4-BE49-F238E27FC236}">
                <a16:creationId xmlns:a16="http://schemas.microsoft.com/office/drawing/2014/main" id="{4577DB55-316F-48A2-87D6-95C6FAA5389C}"/>
              </a:ext>
            </a:extLst>
          </p:cNvPr>
          <p:cNvSpPr>
            <a:spLocks xmlns:a="http://schemas.openxmlformats.org/drawingml/2006/main" noGrp="1"/>
          </p:cNvSpPr>
          <p:nvPr/>
        </p:nvSpPr>
        <p:spPr>
          <a:xfrm xmlns:a="http://schemas.openxmlformats.org/drawingml/2006/main">
            <a:off x="628650" y="260985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6A75"/>
                </a:solidFill>
                <a:latin typeface="Aptos"/>
                <a:ea typeface="Aptos"/>
                <a:cs typeface="Aptos"/>
              </a:defRPr>
            </a:defPPr>
          </a:lstStyle>
          <a:p xmlns:a="http://schemas.openxmlformats.org/drawingml/2006/main">
            <a:pPr>
              <a:defRPr sz="1725" b="1">
                <a:solidFill>
                  <a:srgbClr val="006A75"/>
                </a:solidFill>
                <a:latin typeface="Aptos"/>
                <a:ea typeface="Aptos"/>
                <a:cs typeface="Aptos"/>
              </a:defRPr>
            </a:pPr>
            <a:r>
              <a:rPr sz="1725" b="1">
                <a:solidFill>
                  <a:srgbClr val="006A75"/>
                </a:solidFill>
                <a:latin typeface="Aptos"/>
                <a:ea typeface="Aptos"/>
                <a:cs typeface="Aptos"/>
              </a:rPr>
              <a:t>02</a:t>
            </a:r>
          </a:p>
        </p:txBody>
      </p:sp>
      <p:sp>
        <p:nvSpPr>
          <p:cNvPr id="7" name="">
            <a:extLst xmlns:a="http://schemas.openxmlformats.org/drawingml/2006/main">
              <a:ext uri="{FF2B5EF4-FFF2-40B4-BE49-F238E27FC236}">
                <a16:creationId xmlns:a16="http://schemas.microsoft.com/office/drawing/2014/main" id="{3AF4CB3C-9728-47AF-A977-0B9C82787405}"/>
              </a:ext>
            </a:extLst>
          </p:cNvPr>
          <p:cNvSpPr>
            <a:spLocks xmlns:a="http://schemas.openxmlformats.org/drawingml/2006/main" noGrp="1"/>
          </p:cNvSpPr>
          <p:nvPr/>
        </p:nvSpPr>
        <p:spPr>
          <a:xfrm xmlns:a="http://schemas.openxmlformats.org/drawingml/2006/main">
            <a:off x="1200150" y="259080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83D"/>
                </a:solidFill>
                <a:latin typeface="Aptos"/>
                <a:ea typeface="Aptos"/>
                <a:cs typeface="Aptos"/>
              </a:defRPr>
            </a:defPPr>
          </a:lstStyle>
          <a:p xmlns:a="http://schemas.openxmlformats.org/drawingml/2006/main">
            <a:pPr>
              <a:defRPr sz="2100" b="0">
                <a:solidFill>
                  <a:srgbClr val="16283D"/>
                </a:solidFill>
                <a:latin typeface="Aptos"/>
                <a:ea typeface="Aptos"/>
                <a:cs typeface="Aptos"/>
              </a:defRPr>
            </a:pPr>
            <a:r>
              <a:rPr sz="2100" b="0">
                <a:solidFill>
                  <a:srgbClr val="16283D"/>
                </a:solidFill>
                <a:latin typeface="Aptos"/>
                <a:ea typeface="Aptos"/>
                <a:cs typeface="Aptos"/>
              </a:rPr>
              <a:t>At an update, high-score CXL pages become promotion candidates. The policy demotes least-recently-observed DRAM pages to make room and respects capacity and batch limits.</a:t>
            </a:r>
          </a:p>
        </p:txBody>
      </p:sp>
      <p:sp>
        <p:nvSpPr>
          <p:cNvPr id="8" name="">
            <a:extLst xmlns:a="http://schemas.openxmlformats.org/drawingml/2006/main">
              <a:ext uri="{FF2B5EF4-FFF2-40B4-BE49-F238E27FC236}">
                <a16:creationId xmlns:a16="http://schemas.microsoft.com/office/drawing/2014/main" id="{7F4D1FF7-817D-4D73-8704-BE2B4752F649}"/>
              </a:ext>
            </a:extLst>
          </p:cNvPr>
          <p:cNvSpPr>
            <a:spLocks xmlns:a="http://schemas.openxmlformats.org/drawingml/2006/main" noGrp="1"/>
          </p:cNvSpPr>
          <p:nvPr/>
        </p:nvSpPr>
        <p:spPr>
          <a:xfrm xmlns:a="http://schemas.openxmlformats.org/drawingml/2006/main">
            <a:off x="628650" y="371475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6A75"/>
                </a:solidFill>
                <a:latin typeface="Aptos"/>
                <a:ea typeface="Aptos"/>
                <a:cs typeface="Aptos"/>
              </a:defRPr>
            </a:defPPr>
          </a:lstStyle>
          <a:p xmlns:a="http://schemas.openxmlformats.org/drawingml/2006/main">
            <a:pPr>
              <a:defRPr sz="1725" b="1">
                <a:solidFill>
                  <a:srgbClr val="006A75"/>
                </a:solidFill>
                <a:latin typeface="Aptos"/>
                <a:ea typeface="Aptos"/>
                <a:cs typeface="Aptos"/>
              </a:defRPr>
            </a:pPr>
            <a:r>
              <a:rPr sz="1725" b="1">
                <a:solidFill>
                  <a:srgbClr val="006A75"/>
                </a:solidFill>
                <a:latin typeface="Aptos"/>
                <a:ea typeface="Aptos"/>
                <a:cs typeface="Aptos"/>
              </a:rPr>
              <a:t>03</a:t>
            </a:r>
          </a:p>
        </p:txBody>
      </p:sp>
      <p:sp>
        <p:nvSpPr>
          <p:cNvPr id="9" name="">
            <a:extLst xmlns:a="http://schemas.openxmlformats.org/drawingml/2006/main">
              <a:ext uri="{FF2B5EF4-FFF2-40B4-BE49-F238E27FC236}">
                <a16:creationId xmlns:a16="http://schemas.microsoft.com/office/drawing/2014/main" id="{0A30863E-68A2-48C2-AB43-5E6FD387B997}"/>
              </a:ext>
            </a:extLst>
          </p:cNvPr>
          <p:cNvSpPr>
            <a:spLocks xmlns:a="http://schemas.openxmlformats.org/drawingml/2006/main" noGrp="1"/>
          </p:cNvSpPr>
          <p:nvPr/>
        </p:nvSpPr>
        <p:spPr>
          <a:xfrm xmlns:a="http://schemas.openxmlformats.org/drawingml/2006/main">
            <a:off x="1200150" y="369570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83D"/>
                </a:solidFill>
                <a:latin typeface="Aptos"/>
                <a:ea typeface="Aptos"/>
                <a:cs typeface="Aptos"/>
              </a:defRPr>
            </a:defPPr>
          </a:lstStyle>
          <a:p xmlns:a="http://schemas.openxmlformats.org/drawingml/2006/main">
            <a:pPr>
              <a:defRPr sz="2100" b="0">
                <a:solidFill>
                  <a:srgbClr val="16283D"/>
                </a:solidFill>
                <a:latin typeface="Aptos"/>
                <a:ea typeface="Aptos"/>
                <a:cs typeface="Aptos"/>
              </a:defRPr>
            </a:pPr>
            <a:r>
              <a:rPr sz="2100" b="0">
                <a:solidFill>
                  <a:srgbClr val="16283D"/>
                </a:solidFill>
                <a:latin typeface="Aptos"/>
                <a:ea typeface="Aptos"/>
                <a:cs typeface="Aptos"/>
              </a:rPr>
              <a:t>Frequency and PAC share binning, sampling seed, first-touch placement, demotion and copy costs. Their scoring signal differs: miss count versus MLP-weighted contribution.</a:t>
            </a:r>
          </a:p>
        </p:txBody>
      </p:sp>
      <p:sp>
        <p:nvSpPr>
          <p:cNvPr id="10" name="">
            <a:extLst xmlns:a="http://schemas.openxmlformats.org/drawingml/2006/main">
              <a:ext uri="{FF2B5EF4-FFF2-40B4-BE49-F238E27FC236}">
                <a16:creationId xmlns:a16="http://schemas.microsoft.com/office/drawing/2014/main" id="{7478422A-2E0F-4889-8626-8CB789F1E70D}"/>
              </a:ext>
            </a:extLst>
          </p:cNvPr>
          <p:cNvSpPr>
            <a:spLocks xmlns:a="http://schemas.openxmlformats.org/drawingml/2006/main" noGrp="1"/>
          </p:cNvSpPr>
          <p:nvPr/>
        </p:nvSpPr>
        <p:spPr>
          <a:xfrm xmlns:a="http://schemas.openxmlformats.org/drawingml/2006/main">
            <a:off x="628650" y="481965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6A75"/>
                </a:solidFill>
                <a:latin typeface="Aptos"/>
                <a:ea typeface="Aptos"/>
                <a:cs typeface="Aptos"/>
              </a:defRPr>
            </a:defPPr>
          </a:lstStyle>
          <a:p xmlns:a="http://schemas.openxmlformats.org/drawingml/2006/main">
            <a:pPr>
              <a:defRPr sz="1725" b="1">
                <a:solidFill>
                  <a:srgbClr val="006A75"/>
                </a:solidFill>
                <a:latin typeface="Aptos"/>
                <a:ea typeface="Aptos"/>
                <a:cs typeface="Aptos"/>
              </a:defRPr>
            </a:pPr>
            <a:r>
              <a:rPr sz="1725" b="1">
                <a:solidFill>
                  <a:srgbClr val="006A75"/>
                </a:solidFill>
                <a:latin typeface="Aptos"/>
                <a:ea typeface="Aptos"/>
                <a:cs typeface="Aptos"/>
              </a:rPr>
              <a:t>04</a:t>
            </a:r>
          </a:p>
        </p:txBody>
      </p:sp>
      <p:sp>
        <p:nvSpPr>
          <p:cNvPr id="11" name="">
            <a:extLst xmlns:a="http://schemas.openxmlformats.org/drawingml/2006/main">
              <a:ext uri="{FF2B5EF4-FFF2-40B4-BE49-F238E27FC236}">
                <a16:creationId xmlns:a16="http://schemas.microsoft.com/office/drawing/2014/main" id="{64405A05-E618-48FC-86FC-6A8B84750459}"/>
              </a:ext>
            </a:extLst>
          </p:cNvPr>
          <p:cNvSpPr>
            <a:spLocks xmlns:a="http://schemas.openxmlformats.org/drawingml/2006/main" noGrp="1"/>
          </p:cNvSpPr>
          <p:nvPr/>
        </p:nvSpPr>
        <p:spPr>
          <a:xfrm xmlns:a="http://schemas.openxmlformats.org/drawingml/2006/main">
            <a:off x="1200150" y="480060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83D"/>
                </a:solidFill>
                <a:latin typeface="Aptos"/>
                <a:ea typeface="Aptos"/>
                <a:cs typeface="Aptos"/>
              </a:defRPr>
            </a:defPPr>
          </a:lstStyle>
          <a:p xmlns:a="http://schemas.openxmlformats.org/drawingml/2006/main">
            <a:pPr>
              <a:defRPr sz="2100" b="0">
                <a:solidFill>
                  <a:srgbClr val="16283D"/>
                </a:solidFill>
                <a:latin typeface="Aptos"/>
                <a:ea typeface="Aptos"/>
                <a:cs typeface="Aptos"/>
              </a:defRPr>
            </a:pPr>
            <a:r>
              <a:rPr sz="2100" b="0">
                <a:solidFill>
                  <a:srgbClr val="16283D"/>
                </a:solidFill>
                <a:latin typeface="Aptos"/>
                <a:ea typeface="Aptos"/>
                <a:cs typeface="Aptos"/>
              </a:rPr>
              <a:t>Every promotion and demotion incurs an assumed cost. Copies pause modeled execution, so reduced runtime can reflect page selection, migration timing or reduced migration churn.</a:t>
            </a:r>
          </a:p>
        </p:txBody>
      </p:sp>
    </p:spTree>
    <p:extLst>
      <p:ext uri="{BB962C8B-B14F-4D97-AF65-F5344CB8AC3E}">
        <p14:creationId xmlns:p14="http://schemas.microsoft.com/office/powerpoint/2010/main" val="926661901"/>
      </p:ext>
    </p:extLst>
  </p:cSld>
</p:sld>
</file>

<file path=ppt/slides/slide1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cxnSp>
        <p:nvCxnSpPr>
          <p:cNvPr id="13" name="">
            <a:extLst xmlns:a="http://schemas.openxmlformats.org/drawingml/2006/main">
              <a:ext uri="{FF2B5EF4-FFF2-40B4-BE49-F238E27FC236}">
                <a16:creationId xmlns:a16="http://schemas.microsoft.com/office/drawing/2014/main" id="{9B8A2AF9-799F-43B6-BCF1-3AD92AE9EF9D}"/>
              </a:ext>
            </a:extLst>
          </p:cNvPr>
          <p:cNvCxnSpPr>
            <a:stCxn xmlns:a="http://schemas.openxmlformats.org/drawingml/2006/main" id="8" idx="0"/>
            <a:endCxn xmlns:a="http://schemas.openxmlformats.org/drawingml/2006/main" id="6" idx="3"/>
          </p:cNvCxnSpPr>
          <p:nvPr/>
        </p:nvCxnSpPr>
        <p:spPr>
          <a:xfrm xmlns:a="http://schemas.openxmlformats.org/drawingml/2006/main" flipH="1" flipV="1">
            <a:off x="8467725" y="3343275"/>
            <a:ext cx="571500" cy="1038225"/>
          </a:xfrm>
          <a:prstGeom xmlns:a="http://schemas.openxmlformats.org/drawingml/2006/main" prst="bentConnector5">
            <a:avLst>
              <a:gd name="adj1" fmla="val 0"/>
              <a:gd name="adj2" fmla="val 22018"/>
              <a:gd name="adj3" fmla="val 60000"/>
            </a:avLst>
          </a:prstGeom>
          <a:ln xmlns:a="http://schemas.openxmlformats.org/drawingml/2006/main" w="19050">
            <a:solidFill>
              <a:srgbClr val="006A75"/>
            </a:solidFill>
            <a:tailEnd type="triangle" w="med" len="med"/>
          </a:ln>
        </p:spPr>
      </p:cxnSp>
      <p:cxnSp>
        <p:nvCxnSpPr>
          <p:cNvPr id="12" name="">
            <a:extLst xmlns:a="http://schemas.openxmlformats.org/drawingml/2006/main">
              <a:ext uri="{FF2B5EF4-FFF2-40B4-BE49-F238E27FC236}">
                <a16:creationId xmlns:a16="http://schemas.microsoft.com/office/drawing/2014/main" id="{4DFDA015-242D-4C67-8890-3CD5939ECB13}"/>
              </a:ext>
            </a:extLst>
          </p:cNvPr>
          <p:cNvCxnSpPr>
            <a:stCxn xmlns:a="http://schemas.openxmlformats.org/drawingml/2006/main" id="7" idx="3"/>
            <a:endCxn xmlns:a="http://schemas.openxmlformats.org/drawingml/2006/main" id="8" idx="1"/>
          </p:cNvCxnSpPr>
          <p:nvPr/>
        </p:nvCxnSpPr>
        <p:spPr>
          <a:xfrm xmlns:a="http://schemas.openxmlformats.org/drawingml/2006/main">
            <a:off x="5657850" y="4857750"/>
            <a:ext cx="857250" cy="0"/>
          </a:xfrm>
          <a:prstGeom xmlns:a="http://schemas.openxmlformats.org/drawingml/2006/main" prst="straightConnector1">
            <a:avLst/>
          </a:prstGeom>
          <a:ln xmlns:a="http://schemas.openxmlformats.org/drawingml/2006/main" w="19050">
            <a:solidFill>
              <a:srgbClr val="006A75"/>
            </a:solidFill>
            <a:tailEnd type="triangle" w="med" len="med"/>
          </a:ln>
        </p:spPr>
      </p:cxnSp>
      <p:cxnSp>
        <p:nvCxnSpPr>
          <p:cNvPr id="11" name="">
            <a:extLst xmlns:a="http://schemas.openxmlformats.org/drawingml/2006/main">
              <a:ext uri="{FF2B5EF4-FFF2-40B4-BE49-F238E27FC236}">
                <a16:creationId xmlns:a16="http://schemas.microsoft.com/office/drawing/2014/main" id="{F70E9FFB-C7ED-4028-A218-879DF0839121}"/>
              </a:ext>
            </a:extLst>
          </p:cNvPr>
          <p:cNvCxnSpPr>
            <a:stCxn xmlns:a="http://schemas.openxmlformats.org/drawingml/2006/main" id="6" idx="2"/>
            <a:endCxn xmlns:a="http://schemas.openxmlformats.org/drawingml/2006/main" id="7" idx="0"/>
          </p:cNvCxnSpPr>
          <p:nvPr/>
        </p:nvCxnSpPr>
        <p:spPr>
          <a:xfrm xmlns:a="http://schemas.openxmlformats.org/drawingml/2006/main" flipH="1">
            <a:off x="3133725" y="3781425"/>
            <a:ext cx="2952750" cy="600075"/>
          </a:xfrm>
          <a:prstGeom xmlns:a="http://schemas.openxmlformats.org/drawingml/2006/main" prst="bentConnector4">
            <a:avLst>
              <a:gd name="adj1" fmla="val 0"/>
              <a:gd name="adj2" fmla="val 50000"/>
            </a:avLst>
          </a:prstGeom>
          <a:ln xmlns:a="http://schemas.openxmlformats.org/drawingml/2006/main" w="19050">
            <a:solidFill>
              <a:srgbClr val="006A75"/>
            </a:solidFill>
            <a:tailEnd type="triangle" w="med" len="med"/>
          </a:ln>
        </p:spPr>
      </p:cxnSp>
      <p:cxnSp>
        <p:nvCxnSpPr>
          <p:cNvPr id="10" name="">
            <a:extLst xmlns:a="http://schemas.openxmlformats.org/drawingml/2006/main">
              <a:ext uri="{FF2B5EF4-FFF2-40B4-BE49-F238E27FC236}">
                <a16:creationId xmlns:a16="http://schemas.microsoft.com/office/drawing/2014/main" id="{36A65F71-C394-408A-B0BF-B7730B78CA14}"/>
              </a:ext>
            </a:extLst>
          </p:cNvPr>
          <p:cNvCxnSpPr>
            <a:stCxn xmlns:a="http://schemas.openxmlformats.org/drawingml/2006/main" id="5" idx="2"/>
            <a:endCxn xmlns:a="http://schemas.openxmlformats.org/drawingml/2006/main" id="6" idx="0"/>
          </p:cNvCxnSpPr>
          <p:nvPr/>
        </p:nvCxnSpPr>
        <p:spPr>
          <a:xfrm xmlns:a="http://schemas.openxmlformats.org/drawingml/2006/main" flipH="1">
            <a:off x="6086475" y="2381250"/>
            <a:ext cx="3095625" cy="523875"/>
          </a:xfrm>
          <a:prstGeom xmlns:a="http://schemas.openxmlformats.org/drawingml/2006/main" prst="bentConnector4">
            <a:avLst>
              <a:gd name="adj1" fmla="val 0"/>
              <a:gd name="adj2" fmla="val 50000"/>
            </a:avLst>
          </a:prstGeom>
          <a:ln xmlns:a="http://schemas.openxmlformats.org/drawingml/2006/main" w="19050">
            <a:solidFill>
              <a:srgbClr val="006A75"/>
            </a:solidFill>
            <a:tailEnd type="triangle" w="med" len="med"/>
          </a:ln>
        </p:spPr>
      </p:cxnSp>
      <p:cxnSp>
        <p:nvCxnSpPr>
          <p:cNvPr id="9" name="">
            <a:extLst xmlns:a="http://schemas.openxmlformats.org/drawingml/2006/main">
              <a:ext uri="{FF2B5EF4-FFF2-40B4-BE49-F238E27FC236}">
                <a16:creationId xmlns:a16="http://schemas.microsoft.com/office/drawing/2014/main" id="{5F2A8084-3648-4920-9688-F1396E93FEDC}"/>
              </a:ext>
            </a:extLst>
          </p:cNvPr>
          <p:cNvCxnSpPr>
            <a:stCxn xmlns:a="http://schemas.openxmlformats.org/drawingml/2006/main" id="4" idx="2"/>
            <a:endCxn xmlns:a="http://schemas.openxmlformats.org/drawingml/2006/main" id="6" idx="0"/>
          </p:cNvCxnSpPr>
          <p:nvPr/>
        </p:nvCxnSpPr>
        <p:spPr>
          <a:xfrm xmlns:a="http://schemas.openxmlformats.org/drawingml/2006/main">
            <a:off x="2990850" y="2381250"/>
            <a:ext cx="3095625" cy="523875"/>
          </a:xfrm>
          <a:prstGeom xmlns:a="http://schemas.openxmlformats.org/drawingml/2006/main" prst="bentConnector4">
            <a:avLst>
              <a:gd name="adj1" fmla="val 0"/>
              <a:gd name="adj2" fmla="val 50000"/>
            </a:avLst>
          </a:prstGeom>
          <a:ln xmlns:a="http://schemas.openxmlformats.org/drawingml/2006/main" w="19050">
            <a:solidFill>
              <a:srgbClr val="006A75"/>
            </a:solidFill>
            <a:tailEnd type="triangle" w="med" len="med"/>
          </a:ln>
        </p:spPr>
      </p:cxnSp>
      <p:sp>
        <p:nvSpPr>
          <p:cNvPr id="15" name="">
            <a:extLst xmlns:a="http://schemas.openxmlformats.org/drawingml/2006/main">
              <a:ext uri="{FF2B5EF4-FFF2-40B4-BE49-F238E27FC236}">
                <a16:creationId xmlns:a16="http://schemas.microsoft.com/office/drawing/2014/main" id="{4BDADADE-A7AE-4794-9332-515AC61DAEC7}"/>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6283D"/>
                </a:solidFill>
                <a:latin typeface="Aptos"/>
                <a:ea typeface="Aptos"/>
                <a:cs typeface="Aptos"/>
              </a:defRPr>
            </a:defPPr>
          </a:lstStyle>
          <a:p xmlns:a="http://schemas.openxmlformats.org/drawingml/2006/main">
            <a:pPr>
              <a:defRPr sz="3225" b="1">
                <a:solidFill>
                  <a:srgbClr val="16283D"/>
                </a:solidFill>
                <a:latin typeface="Aptos"/>
                <a:ea typeface="Aptos"/>
                <a:cs typeface="Aptos"/>
              </a:defRPr>
            </a:pPr>
            <a:r>
              <a:rPr sz="3225" b="1">
                <a:solidFill>
                  <a:srgbClr val="16283D"/>
                </a:solidFill>
                <a:latin typeface="Aptos"/>
                <a:ea typeface="Aptos"/>
                <a:cs typeface="Aptos"/>
              </a:rPr>
              <a:t>Final analytical architecture</a:t>
            </a:r>
          </a:p>
        </p:txBody>
      </p:sp>
      <p:sp>
        <p:nvSpPr>
          <p:cNvPr id="2" name="">
            <a:extLst xmlns:a="http://schemas.openxmlformats.org/drawingml/2006/main">
              <a:ext uri="{FF2B5EF4-FFF2-40B4-BE49-F238E27FC236}">
                <a16:creationId xmlns:a16="http://schemas.microsoft.com/office/drawing/2014/main" id="{4DDA1E53-9856-4801-9ACC-134BB807C1F1}"/>
              </a:ext>
            </a:extLst>
          </p:cNvPr>
          <p:cNvSpPr>
            <a:spLocks xmlns:a="http://schemas.openxmlformats.org/drawingml/2006/main" noGrp="1"/>
          </p:cNvSpPr>
          <p:nvPr/>
        </p:nvSpPr>
        <p:spPr>
          <a:xfrm xmlns:a="http://schemas.openxmlformats.org/drawingml/2006/main">
            <a:off x="11144250" y="63341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276"/>
                </a:solidFill>
                <a:latin typeface="Aptos"/>
                <a:ea typeface="Aptos"/>
                <a:cs typeface="Aptos"/>
              </a:defRPr>
            </a:defPPr>
          </a:lstStyle>
          <a:p xmlns:a="http://schemas.openxmlformats.org/drawingml/2006/main">
            <a:pPr>
              <a:defRPr sz="1200" b="0">
                <a:solidFill>
                  <a:srgbClr val="526276"/>
                </a:solidFill>
                <a:latin typeface="Aptos"/>
                <a:ea typeface="Aptos"/>
                <a:cs typeface="Aptos"/>
              </a:defRPr>
            </a:pPr>
            <a:r>
              <a:rPr sz="1200" b="0">
                <a:solidFill>
                  <a:srgbClr val="526276"/>
                </a:solidFill>
                <a:latin typeface="Aptos"/>
                <a:ea typeface="Aptos"/>
                <a:cs typeface="Aptos"/>
              </a:rPr>
              <a:t>14</a:t>
            </a:r>
          </a:p>
        </p:txBody>
      </p:sp>
      <p:sp>
        <p:nvSpPr>
          <p:cNvPr id="3" name="">
            <a:extLst xmlns:a="http://schemas.openxmlformats.org/drawingml/2006/main">
              <a:ext uri="{FF2B5EF4-FFF2-40B4-BE49-F238E27FC236}">
                <a16:creationId xmlns:a16="http://schemas.microsoft.com/office/drawing/2014/main" id="{9A860730-2B41-4880-9042-73436AF9896C}"/>
              </a:ext>
            </a:extLst>
          </p:cNvPr>
          <p:cNvSpPr>
            <a:spLocks xmlns:a="http://schemas.openxmlformats.org/drawingml/2006/main" noGrp="1"/>
          </p:cNvSpPr>
          <p:nvPr/>
        </p:nvSpPr>
        <p:spPr>
          <a:xfrm xmlns:a="http://schemas.openxmlformats.org/drawingml/2006/main">
            <a:off x="609600" y="6315075"/>
            <a:ext cx="10287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276"/>
                </a:solidFill>
                <a:latin typeface="Aptos"/>
                <a:ea typeface="Aptos"/>
                <a:cs typeface="Aptos"/>
              </a:defRPr>
            </a:defPPr>
          </a:lstStyle>
          <a:p xmlns:a="http://schemas.openxmlformats.org/drawingml/2006/main">
            <a:pPr>
              <a:defRPr sz="1125" b="0">
                <a:solidFill>
                  <a:srgbClr val="526276"/>
                </a:solidFill>
                <a:latin typeface="Aptos"/>
                <a:ea typeface="Aptos"/>
                <a:cs typeface="Aptos"/>
              </a:defRPr>
            </a:pPr>
            <a:r>
              <a:rPr sz="1125" b="0">
                <a:solidFill>
                  <a:srgbClr val="526276"/>
                </a:solidFill>
                <a:latin typeface="Aptos"/>
                <a:ea typeface="Aptos"/>
                <a:cs typeface="Aptos"/>
              </a:rPr>
              <a:t>Source: COMPACT_MODEL.md</a:t>
            </a:r>
          </a:p>
        </p:txBody>
      </p:sp>
      <p:sp>
        <p:nvSpPr>
          <p:cNvPr id="4" name="">
            <a:extLst xmlns:a="http://schemas.openxmlformats.org/drawingml/2006/main">
              <a:ext uri="{FF2B5EF4-FFF2-40B4-BE49-F238E27FC236}">
                <a16:creationId xmlns:a16="http://schemas.microsoft.com/office/drawing/2014/main" id="{43C63CB1-2F87-4CE9-9A80-79A43C300F27}"/>
              </a:ext>
            </a:extLst>
          </p:cNvPr>
          <p:cNvSpPr>
            <a:spLocks xmlns:a="http://schemas.openxmlformats.org/drawingml/2006/main" noGrp="1"/>
          </p:cNvSpPr>
          <p:nvPr/>
        </p:nvSpPr>
        <p:spPr>
          <a:xfrm xmlns:a="http://schemas.openxmlformats.org/drawingml/2006/main">
            <a:off x="609600" y="1476375"/>
            <a:ext cx="4762500" cy="904875"/>
          </a:xfrm>
          <a:prstGeom xmlns:a="http://schemas.openxmlformats.org/drawingml/2006/main" prst="rect">
            <a:avLst/>
          </a:prstGeom>
          <a:solidFill xmlns:a="http://schemas.openxmlformats.org/drawingml/2006/main">
            <a:srgbClr val="E5EFF0"/>
          </a:solidFill>
          <a:ln xmlns:a="http://schemas.openxmlformats.org/drawingml/2006/main" w="14288">
            <a:solidFill>
              <a:srgbClr val="006A75"/>
            </a:solidFill>
          </a:ln>
        </p:spPr>
        <p:txBody>
          <a:bodyPr xmlns:a="http://schemas.openxmlformats.org/drawingml/2006/main"/>
          <a:lstStyle xmlns:a="http://schemas.openxmlformats.org/drawingml/2006/main">
            <a:defPPr>
              <a:defRPr sz="1875" b="1">
                <a:solidFill>
                  <a:srgbClr val="16283D"/>
                </a:solidFill>
                <a:latin typeface="Aptos"/>
                <a:ea typeface="Aptos"/>
                <a:cs typeface="Aptos"/>
              </a:defRPr>
            </a:defPPr>
          </a:lstStyle>
          <a:p xmlns:a="http://schemas.openxmlformats.org/drawingml/2006/main">
            <a:pPr>
              <a:defRPr sz="1875" b="1">
                <a:solidFill>
                  <a:srgbClr val="16283D"/>
                </a:solidFill>
                <a:latin typeface="Aptos"/>
                <a:ea typeface="Aptos"/>
                <a:cs typeface="Aptos"/>
              </a:defRPr>
            </a:pPr>
            <a:r>
              <a:rPr sz="1875" b="1">
                <a:solidFill>
                  <a:srgbClr val="16283D"/>
                </a:solidFill>
                <a:latin typeface="Aptos"/>
                <a:ea typeface="Aptos"/>
                <a:cs typeface="Aptos"/>
              </a:rPr>
              <a:t>Public instruction trace</a:t>
            </a:r>
          </a:p>
          <a:p xmlns:a="http://schemas.openxmlformats.org/drawingml/2006/main">
            <a:pPr>
              <a:defRPr sz="1875" b="1">
                <a:solidFill>
                  <a:srgbClr val="16283D"/>
                </a:solidFill>
                <a:latin typeface="Aptos"/>
                <a:ea typeface="Aptos"/>
                <a:cs typeface="Aptos"/>
              </a:defRPr>
            </a:pPr>
            <a:r>
              <a:rPr sz="1875" b="1">
                <a:solidFill>
                  <a:srgbClr val="16283D"/>
                </a:solidFill>
                <a:latin typeface="Aptos"/>
                <a:ea typeface="Aptos"/>
                <a:cs typeface="Aptos"/>
              </a:rPr>
              <a:t>Cache filtering + dependencies</a:t>
            </a:r>
          </a:p>
        </p:txBody>
      </p:sp>
      <p:sp>
        <p:nvSpPr>
          <p:cNvPr id="5" name="">
            <a:extLst xmlns:a="http://schemas.openxmlformats.org/drawingml/2006/main">
              <a:ext uri="{FF2B5EF4-FFF2-40B4-BE49-F238E27FC236}">
                <a16:creationId xmlns:a16="http://schemas.microsoft.com/office/drawing/2014/main" id="{C62042A1-7D60-4862-BD52-40092AD71B4F}"/>
              </a:ext>
            </a:extLst>
          </p:cNvPr>
          <p:cNvSpPr>
            <a:spLocks xmlns:a="http://schemas.openxmlformats.org/drawingml/2006/main" noGrp="1"/>
          </p:cNvSpPr>
          <p:nvPr/>
        </p:nvSpPr>
        <p:spPr>
          <a:xfrm xmlns:a="http://schemas.openxmlformats.org/drawingml/2006/main">
            <a:off x="6800850" y="1476375"/>
            <a:ext cx="4762500" cy="904875"/>
          </a:xfrm>
          <a:prstGeom xmlns:a="http://schemas.openxmlformats.org/drawingml/2006/main" prst="rect">
            <a:avLst/>
          </a:prstGeom>
          <a:solidFill xmlns:a="http://schemas.openxmlformats.org/drawingml/2006/main">
            <a:srgbClr val="E5EFF0"/>
          </a:solidFill>
          <a:ln xmlns:a="http://schemas.openxmlformats.org/drawingml/2006/main" w="14288">
            <a:solidFill>
              <a:srgbClr val="006A75"/>
            </a:solidFill>
          </a:ln>
        </p:spPr>
        <p:txBody>
          <a:bodyPr xmlns:a="http://schemas.openxmlformats.org/drawingml/2006/main"/>
          <a:lstStyle xmlns:a="http://schemas.openxmlformats.org/drawingml/2006/main">
            <a:defPPr>
              <a:defRPr sz="1875" b="1">
                <a:solidFill>
                  <a:srgbClr val="16283D"/>
                </a:solidFill>
                <a:latin typeface="Aptos"/>
                <a:ea typeface="Aptos"/>
                <a:cs typeface="Aptos"/>
              </a:defRPr>
            </a:defPPr>
          </a:lstStyle>
          <a:p xmlns:a="http://schemas.openxmlformats.org/drawingml/2006/main">
            <a:pPr>
              <a:defRPr sz="1875" b="1">
                <a:solidFill>
                  <a:srgbClr val="16283D"/>
                </a:solidFill>
                <a:latin typeface="Aptos"/>
                <a:ea typeface="Aptos"/>
                <a:cs typeface="Aptos"/>
              </a:defRPr>
            </a:pPr>
            <a:r>
              <a:rPr sz="1875" b="1">
                <a:solidFill>
                  <a:srgbClr val="16283D"/>
                </a:solidFill>
                <a:latin typeface="Aptos"/>
                <a:ea typeface="Aptos"/>
                <a:cs typeface="Aptos"/>
              </a:rPr>
              <a:t>Designed LLC-miss streams</a:t>
            </a:r>
          </a:p>
          <a:p xmlns:a="http://schemas.openxmlformats.org/drawingml/2006/main">
            <a:pPr>
              <a:defRPr sz="1875" b="1">
                <a:solidFill>
                  <a:srgbClr val="16283D"/>
                </a:solidFill>
                <a:latin typeface="Aptos"/>
                <a:ea typeface="Aptos"/>
                <a:cs typeface="Aptos"/>
              </a:defRPr>
            </a:pPr>
            <a:r>
              <a:rPr sz="1875" b="1">
                <a:solidFill>
                  <a:srgbClr val="16283D"/>
                </a:solidFill>
                <a:latin typeface="Aptos"/>
                <a:ea typeface="Aptos"/>
                <a:cs typeface="Aptos"/>
              </a:rPr>
              <a:t>Serial chain + independent batches</a:t>
            </a:r>
          </a:p>
        </p:txBody>
      </p:sp>
      <p:sp>
        <p:nvSpPr>
          <p:cNvPr id="6" name="">
            <a:extLst xmlns:a="http://schemas.openxmlformats.org/drawingml/2006/main">
              <a:ext uri="{FF2B5EF4-FFF2-40B4-BE49-F238E27FC236}">
                <a16:creationId xmlns:a16="http://schemas.microsoft.com/office/drawing/2014/main" id="{A68ECFB8-9F21-4272-9568-6E77AD4C361B}"/>
              </a:ext>
            </a:extLst>
          </p:cNvPr>
          <p:cNvSpPr>
            <a:spLocks xmlns:a="http://schemas.openxmlformats.org/drawingml/2006/main" noGrp="1"/>
          </p:cNvSpPr>
          <p:nvPr/>
        </p:nvSpPr>
        <p:spPr>
          <a:xfrm xmlns:a="http://schemas.openxmlformats.org/drawingml/2006/main">
            <a:off x="3705225" y="2905125"/>
            <a:ext cx="4762500" cy="876300"/>
          </a:xfrm>
          <a:prstGeom xmlns:a="http://schemas.openxmlformats.org/drawingml/2006/main" prst="rect">
            <a:avLst/>
          </a:prstGeom>
          <a:solidFill xmlns:a="http://schemas.openxmlformats.org/drawingml/2006/main">
            <a:srgbClr val="E5EFF0"/>
          </a:solidFill>
          <a:ln xmlns:a="http://schemas.openxmlformats.org/drawingml/2006/main" w="14288">
            <a:solidFill>
              <a:srgbClr val="006A75"/>
            </a:solidFill>
          </a:ln>
        </p:spPr>
        <p:txBody>
          <a:bodyPr xmlns:a="http://schemas.openxmlformats.org/drawingml/2006/main"/>
          <a:lstStyle xmlns:a="http://schemas.openxmlformats.org/drawingml/2006/main">
            <a:defPPr>
              <a:defRPr sz="1875" b="1">
                <a:solidFill>
                  <a:srgbClr val="16283D"/>
                </a:solidFill>
                <a:latin typeface="Aptos"/>
                <a:ea typeface="Aptos"/>
                <a:cs typeface="Aptos"/>
              </a:defRPr>
            </a:defPPr>
          </a:lstStyle>
          <a:p xmlns:a="http://schemas.openxmlformats.org/drawingml/2006/main">
            <a:pPr>
              <a:defRPr sz="1875" b="1">
                <a:solidFill>
                  <a:srgbClr val="16283D"/>
                </a:solidFill>
                <a:latin typeface="Aptos"/>
                <a:ea typeface="Aptos"/>
                <a:cs typeface="Aptos"/>
              </a:defRPr>
            </a:pPr>
            <a:r>
              <a:rPr sz="1875" b="1">
                <a:solidFill>
                  <a:srgbClr val="16283D"/>
                </a:solidFill>
                <a:latin typeface="Aptos"/>
                <a:ea typeface="Aptos"/>
                <a:cs typeface="Aptos"/>
              </a:rPr>
              <a:t>Execution engine</a:t>
            </a:r>
          </a:p>
          <a:p xmlns:a="http://schemas.openxmlformats.org/drawingml/2006/main">
            <a:pPr>
              <a:defRPr sz="1875" b="1">
                <a:solidFill>
                  <a:srgbClr val="16283D"/>
                </a:solidFill>
                <a:latin typeface="Aptos"/>
                <a:ea typeface="Aptos"/>
                <a:cs typeface="Aptos"/>
              </a:defRPr>
            </a:pPr>
            <a:r>
              <a:rPr sz="1875" b="1">
                <a:solidFill>
                  <a:srgbClr val="16283D"/>
                </a:solidFill>
                <a:latin typeface="Aptos"/>
                <a:ea typeface="Aptos"/>
                <a:cs typeface="Aptos"/>
              </a:rPr>
              <a:t>Issue/completion events + tier placement</a:t>
            </a:r>
          </a:p>
        </p:txBody>
      </p:sp>
      <p:sp>
        <p:nvSpPr>
          <p:cNvPr id="7" name="">
            <a:extLst xmlns:a="http://schemas.openxmlformats.org/drawingml/2006/main">
              <a:ext uri="{FF2B5EF4-FFF2-40B4-BE49-F238E27FC236}">
                <a16:creationId xmlns:a16="http://schemas.microsoft.com/office/drawing/2014/main" id="{47B82121-6ECA-4D69-A288-E95AA5E08CD8}"/>
              </a:ext>
            </a:extLst>
          </p:cNvPr>
          <p:cNvSpPr>
            <a:spLocks xmlns:a="http://schemas.openxmlformats.org/drawingml/2006/main" noGrp="1"/>
          </p:cNvSpPr>
          <p:nvPr/>
        </p:nvSpPr>
        <p:spPr>
          <a:xfrm xmlns:a="http://schemas.openxmlformats.org/drawingml/2006/main">
            <a:off x="609600" y="4381500"/>
            <a:ext cx="5048250" cy="952500"/>
          </a:xfrm>
          <a:prstGeom xmlns:a="http://schemas.openxmlformats.org/drawingml/2006/main" prst="rect">
            <a:avLst/>
          </a:prstGeom>
          <a:solidFill xmlns:a="http://schemas.openxmlformats.org/drawingml/2006/main">
            <a:srgbClr val="E5EFF0"/>
          </a:solidFill>
          <a:ln xmlns:a="http://schemas.openxmlformats.org/drawingml/2006/main" w="14288">
            <a:solidFill>
              <a:srgbClr val="006A75"/>
            </a:solidFill>
          </a:ln>
        </p:spPr>
        <p:txBody>
          <a:bodyPr xmlns:a="http://schemas.openxmlformats.org/drawingml/2006/main"/>
          <a:lstStyle xmlns:a="http://schemas.openxmlformats.org/drawingml/2006/main">
            <a:defPPr>
              <a:defRPr sz="1875" b="1">
                <a:solidFill>
                  <a:srgbClr val="16283D"/>
                </a:solidFill>
                <a:latin typeface="Aptos"/>
                <a:ea typeface="Aptos"/>
                <a:cs typeface="Aptos"/>
              </a:defRPr>
            </a:defPPr>
          </a:lstStyle>
          <a:p xmlns:a="http://schemas.openxmlformats.org/drawingml/2006/main">
            <a:pPr>
              <a:defRPr sz="1875" b="1">
                <a:solidFill>
                  <a:srgbClr val="16283D"/>
                </a:solidFill>
                <a:latin typeface="Aptos"/>
                <a:ea typeface="Aptos"/>
                <a:cs typeface="Aptos"/>
              </a:defRPr>
            </a:pPr>
            <a:r>
              <a:rPr sz="1875" b="1">
                <a:solidFill>
                  <a:srgbClr val="16283D"/>
                </a:solidFill>
                <a:latin typeface="Aptos"/>
                <a:ea typeface="Aptos"/>
                <a:cs typeface="Aptos"/>
              </a:rPr>
              <a:t>Observation</a:t>
            </a:r>
          </a:p>
          <a:p xmlns:a="http://schemas.openxmlformats.org/drawingml/2006/main">
            <a:pPr>
              <a:defRPr sz="1875" b="1">
                <a:solidFill>
                  <a:srgbClr val="16283D"/>
                </a:solidFill>
                <a:latin typeface="Aptos"/>
                <a:ea typeface="Aptos"/>
                <a:cs typeface="Aptos"/>
              </a:defRPr>
            </a:pPr>
            <a:r>
              <a:rPr sz="1875" b="1">
                <a:solidFill>
                  <a:srgbClr val="16283D"/>
                </a:solidFill>
                <a:latin typeface="Aptos"/>
                <a:ea typeface="Aptos"/>
                <a:cs typeface="Aptos"/>
              </a:rPr>
              <a:t>Misses, occupancy, active time, per-page samples</a:t>
            </a:r>
          </a:p>
        </p:txBody>
      </p:sp>
      <p:sp>
        <p:nvSpPr>
          <p:cNvPr id="8" name="">
            <a:extLst xmlns:a="http://schemas.openxmlformats.org/drawingml/2006/main">
              <a:ext uri="{FF2B5EF4-FFF2-40B4-BE49-F238E27FC236}">
                <a16:creationId xmlns:a16="http://schemas.microsoft.com/office/drawing/2014/main" id="{A75EB718-FD42-4C5D-8F46-9D8BECCEFD71}"/>
              </a:ext>
            </a:extLst>
          </p:cNvPr>
          <p:cNvSpPr>
            <a:spLocks xmlns:a="http://schemas.openxmlformats.org/drawingml/2006/main" noGrp="1"/>
          </p:cNvSpPr>
          <p:nvPr/>
        </p:nvSpPr>
        <p:spPr>
          <a:xfrm xmlns:a="http://schemas.openxmlformats.org/drawingml/2006/main">
            <a:off x="6515100" y="4381500"/>
            <a:ext cx="5048250" cy="952500"/>
          </a:xfrm>
          <a:prstGeom xmlns:a="http://schemas.openxmlformats.org/drawingml/2006/main" prst="rect">
            <a:avLst/>
          </a:prstGeom>
          <a:solidFill xmlns:a="http://schemas.openxmlformats.org/drawingml/2006/main">
            <a:srgbClr val="E5EFF0"/>
          </a:solidFill>
          <a:ln xmlns:a="http://schemas.openxmlformats.org/drawingml/2006/main" w="14288">
            <a:solidFill>
              <a:srgbClr val="006A75"/>
            </a:solidFill>
          </a:ln>
        </p:spPr>
        <p:txBody>
          <a:bodyPr xmlns:a="http://schemas.openxmlformats.org/drawingml/2006/main"/>
          <a:lstStyle xmlns:a="http://schemas.openxmlformats.org/drawingml/2006/main">
            <a:defPPr>
              <a:defRPr sz="1875" b="1">
                <a:solidFill>
                  <a:srgbClr val="16283D"/>
                </a:solidFill>
                <a:latin typeface="Aptos"/>
                <a:ea typeface="Aptos"/>
                <a:cs typeface="Aptos"/>
              </a:defRPr>
            </a:defPPr>
          </a:lstStyle>
          <a:p xmlns:a="http://schemas.openxmlformats.org/drawingml/2006/main">
            <a:pPr>
              <a:defRPr sz="1875" b="1">
                <a:solidFill>
                  <a:srgbClr val="16283D"/>
                </a:solidFill>
                <a:latin typeface="Aptos"/>
                <a:ea typeface="Aptos"/>
                <a:cs typeface="Aptos"/>
              </a:defRPr>
            </a:pPr>
            <a:r>
              <a:rPr sz="1875" b="1">
                <a:solidFill>
                  <a:srgbClr val="16283D"/>
                </a:solidFill>
                <a:latin typeface="Aptos"/>
                <a:ea typeface="Aptos"/>
                <a:cs typeface="Aptos"/>
              </a:rPr>
              <a:t>Shared RuntimePolicy</a:t>
            </a:r>
          </a:p>
          <a:p xmlns:a="http://schemas.openxmlformats.org/drawingml/2006/main">
            <a:pPr>
              <a:defRPr sz="1875" b="1">
                <a:solidFill>
                  <a:srgbClr val="16283D"/>
                </a:solidFill>
                <a:latin typeface="Aptos"/>
                <a:ea typeface="Aptos"/>
                <a:cs typeface="Aptos"/>
              </a:defRPr>
            </a:pPr>
            <a:r>
              <a:rPr sz="1875" b="1">
                <a:solidFill>
                  <a:srgbClr val="16283D"/>
                </a:solidFill>
                <a:latin typeface="Aptos"/>
                <a:ea typeface="Aptos"/>
                <a:cs typeface="Aptos"/>
              </a:rPr>
              <a:t>Score, bin, promote, demote, charge copies</a:t>
            </a:r>
          </a:p>
        </p:txBody>
      </p:sp>
      <p:sp>
        <p:nvSpPr>
          <p:cNvPr id="14" name="">
            <a:extLst xmlns:a="http://schemas.openxmlformats.org/drawingml/2006/main">
              <a:ext uri="{FF2B5EF4-FFF2-40B4-BE49-F238E27FC236}">
                <a16:creationId xmlns:a16="http://schemas.microsoft.com/office/drawing/2014/main" id="{39C9C0CE-7EC2-4DD6-A9EA-4919787B3557}"/>
              </a:ext>
            </a:extLst>
          </p:cNvPr>
          <p:cNvSpPr>
            <a:spLocks xmlns:a="http://schemas.openxmlformats.org/drawingml/2006/main" noGrp="1"/>
          </p:cNvSpPr>
          <p:nvPr/>
        </p:nvSpPr>
        <p:spPr>
          <a:xfrm xmlns:a="http://schemas.openxmlformats.org/drawingml/2006/main">
            <a:off x="609600" y="568642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6283D"/>
                </a:solidFill>
                <a:latin typeface="Aptos"/>
                <a:ea typeface="Aptos"/>
                <a:cs typeface="Aptos"/>
              </a:defRPr>
            </a:defPPr>
          </a:lstStyle>
          <a:p xmlns:a="http://schemas.openxmlformats.org/drawingml/2006/main">
            <a:pPr>
              <a:defRPr sz="1800" b="0">
                <a:solidFill>
                  <a:srgbClr val="16283D"/>
                </a:solidFill>
                <a:latin typeface="Aptos"/>
                <a:ea typeface="Aptos"/>
                <a:cs typeface="Aptos"/>
              </a:defRPr>
            </a:pPr>
            <a:r>
              <a:rPr sz="1800" b="0">
                <a:solidFill>
                  <a:srgbClr val="16283D"/>
                </a:solidFill>
                <a:latin typeface="Aptos"/>
                <a:ea typeface="Aptos"/>
                <a:cs typeface="Aptos"/>
              </a:rPr>
              <a:t>Outputs: modeled runtime, window MLP, page scores, migration log, residency and reproducible configuration</a:t>
            </a:r>
          </a:p>
        </p:txBody>
      </p:sp>
    </p:spTree>
    <p:extLst>
      <p:ext uri="{BB962C8B-B14F-4D97-AF65-F5344CB8AC3E}">
        <p14:creationId xmlns:p14="http://schemas.microsoft.com/office/powerpoint/2010/main" val="144405480"/>
      </p:ext>
    </p:extLst>
  </p:cSld>
</p:sld>
</file>

<file path=ppt/slides/slide1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B0E8C24-D8FE-4147-9EC8-619AC2DBF70E}"/>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6283D"/>
                </a:solidFill>
                <a:latin typeface="Aptos"/>
                <a:ea typeface="Aptos"/>
                <a:cs typeface="Aptos"/>
              </a:defRPr>
            </a:defPPr>
          </a:lstStyle>
          <a:p xmlns:a="http://schemas.openxmlformats.org/drawingml/2006/main">
            <a:pPr>
              <a:defRPr sz="3225" b="1">
                <a:solidFill>
                  <a:srgbClr val="16283D"/>
                </a:solidFill>
                <a:latin typeface="Aptos"/>
                <a:ea typeface="Aptos"/>
                <a:cs typeface="Aptos"/>
              </a:defRPr>
            </a:pPr>
            <a:r>
              <a:rPr sz="3225" b="1">
                <a:solidFill>
                  <a:srgbClr val="16283D"/>
                </a:solidFill>
                <a:latin typeface="Aptos"/>
                <a:ea typeface="Aptos"/>
                <a:cs typeface="Aptos"/>
              </a:rPr>
              <a:t>Why we added the compact execution path</a:t>
            </a:r>
          </a:p>
        </p:txBody>
      </p:sp>
      <p:sp>
        <p:nvSpPr>
          <p:cNvPr id="2" name="">
            <a:extLst xmlns:a="http://schemas.openxmlformats.org/drawingml/2006/main">
              <a:ext uri="{FF2B5EF4-FFF2-40B4-BE49-F238E27FC236}">
                <a16:creationId xmlns:a16="http://schemas.microsoft.com/office/drawing/2014/main" id="{B75DF2D1-B183-4B93-880E-8EA015D8B8BB}"/>
              </a:ext>
            </a:extLst>
          </p:cNvPr>
          <p:cNvSpPr>
            <a:spLocks xmlns:a="http://schemas.openxmlformats.org/drawingml/2006/main" noGrp="1"/>
          </p:cNvSpPr>
          <p:nvPr/>
        </p:nvSpPr>
        <p:spPr>
          <a:xfrm xmlns:a="http://schemas.openxmlformats.org/drawingml/2006/main">
            <a:off x="11144250" y="63341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276"/>
                </a:solidFill>
                <a:latin typeface="Aptos"/>
                <a:ea typeface="Aptos"/>
                <a:cs typeface="Aptos"/>
              </a:defRPr>
            </a:defPPr>
          </a:lstStyle>
          <a:p xmlns:a="http://schemas.openxmlformats.org/drawingml/2006/main">
            <a:pPr>
              <a:defRPr sz="1200" b="0">
                <a:solidFill>
                  <a:srgbClr val="526276"/>
                </a:solidFill>
                <a:latin typeface="Aptos"/>
                <a:ea typeface="Aptos"/>
                <a:cs typeface="Aptos"/>
              </a:defRPr>
            </a:pPr>
            <a:r>
              <a:rPr sz="1200" b="0">
                <a:solidFill>
                  <a:srgbClr val="526276"/>
                </a:solidFill>
                <a:latin typeface="Aptos"/>
                <a:ea typeface="Aptos"/>
                <a:cs typeface="Aptos"/>
              </a:rPr>
              <a:t>15</a:t>
            </a:r>
          </a:p>
        </p:txBody>
      </p:sp>
      <p:sp>
        <p:nvSpPr>
          <p:cNvPr id="3" name="">
            <a:extLst xmlns:a="http://schemas.openxmlformats.org/drawingml/2006/main">
              <a:ext uri="{FF2B5EF4-FFF2-40B4-BE49-F238E27FC236}">
                <a16:creationId xmlns:a16="http://schemas.microsoft.com/office/drawing/2014/main" id="{9373AE7D-2130-4127-A485-52D3EA334643}"/>
              </a:ext>
            </a:extLst>
          </p:cNvPr>
          <p:cNvSpPr>
            <a:spLocks xmlns:a="http://schemas.openxmlformats.org/drawingml/2006/main" noGrp="1"/>
          </p:cNvSpPr>
          <p:nvPr/>
        </p:nvSpPr>
        <p:spPr>
          <a:xfrm xmlns:a="http://schemas.openxmlformats.org/drawingml/2006/main">
            <a:off x="609600" y="6315075"/>
            <a:ext cx="10287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276"/>
                </a:solidFill>
                <a:latin typeface="Aptos"/>
                <a:ea typeface="Aptos"/>
                <a:cs typeface="Aptos"/>
              </a:defRPr>
            </a:defPPr>
          </a:lstStyle>
          <a:p xmlns:a="http://schemas.openxmlformats.org/drawingml/2006/main">
            <a:pPr>
              <a:defRPr sz="1125" b="0">
                <a:solidFill>
                  <a:srgbClr val="526276"/>
                </a:solidFill>
                <a:latin typeface="Aptos"/>
                <a:ea typeface="Aptos"/>
                <a:cs typeface="Aptos"/>
              </a:defRPr>
            </a:pPr>
            <a:r>
              <a:rPr sz="1125" b="0">
                <a:solidFill>
                  <a:srgbClr val="526276"/>
                </a:solidFill>
                <a:latin typeface="Aptos"/>
                <a:ea typeface="Aptos"/>
                <a:cs typeface="Aptos"/>
              </a:rPr>
              <a:t>Source: results/compact/REPORT.md</a:t>
            </a:r>
          </a:p>
        </p:txBody>
      </p:sp>
      <p:sp>
        <p:nvSpPr>
          <p:cNvPr id="4" name="">
            <a:extLst xmlns:a="http://schemas.openxmlformats.org/drawingml/2006/main">
              <a:ext uri="{FF2B5EF4-FFF2-40B4-BE49-F238E27FC236}">
                <a16:creationId xmlns:a16="http://schemas.microsoft.com/office/drawing/2014/main" id="{7C8CC8A5-CE80-4A6B-9B5D-336AFC09691D}"/>
              </a:ext>
            </a:extLst>
          </p:cNvPr>
          <p:cNvSpPr>
            <a:spLocks xmlns:a="http://schemas.openxmlformats.org/drawingml/2006/main" noGrp="1"/>
          </p:cNvSpPr>
          <p:nvPr/>
        </p:nvSpPr>
        <p:spPr>
          <a:xfrm xmlns:a="http://schemas.openxmlformats.org/drawingml/2006/main">
            <a:off x="628650" y="150495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6A75"/>
                </a:solidFill>
                <a:latin typeface="Aptos"/>
                <a:ea typeface="Aptos"/>
                <a:cs typeface="Aptos"/>
              </a:defRPr>
            </a:defPPr>
          </a:lstStyle>
          <a:p xmlns:a="http://schemas.openxmlformats.org/drawingml/2006/main">
            <a:pPr>
              <a:defRPr sz="1725" b="1">
                <a:solidFill>
                  <a:srgbClr val="006A75"/>
                </a:solidFill>
                <a:latin typeface="Aptos"/>
                <a:ea typeface="Aptos"/>
                <a:cs typeface="Aptos"/>
              </a:defRPr>
            </a:pPr>
            <a:r>
              <a:rPr sz="1725" b="1">
                <a:solidFill>
                  <a:srgbClr val="006A75"/>
                </a:solidFill>
                <a:latin typeface="Aptos"/>
                <a:ea typeface="Aptos"/>
                <a:cs typeface="Aptos"/>
              </a:rPr>
              <a:t>01</a:t>
            </a:r>
          </a:p>
        </p:txBody>
      </p:sp>
      <p:sp>
        <p:nvSpPr>
          <p:cNvPr id="5" name="">
            <a:extLst xmlns:a="http://schemas.openxmlformats.org/drawingml/2006/main">
              <a:ext uri="{FF2B5EF4-FFF2-40B4-BE49-F238E27FC236}">
                <a16:creationId xmlns:a16="http://schemas.microsoft.com/office/drawing/2014/main" id="{D18D6628-7550-4268-A1A9-FD60DAF38F58}"/>
              </a:ext>
            </a:extLst>
          </p:cNvPr>
          <p:cNvSpPr>
            <a:spLocks xmlns:a="http://schemas.openxmlformats.org/drawingml/2006/main" noGrp="1"/>
          </p:cNvSpPr>
          <p:nvPr/>
        </p:nvSpPr>
        <p:spPr>
          <a:xfrm xmlns:a="http://schemas.openxmlformats.org/drawingml/2006/main">
            <a:off x="1200150" y="148590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83D"/>
                </a:solidFill>
                <a:latin typeface="Aptos"/>
                <a:ea typeface="Aptos"/>
                <a:cs typeface="Aptos"/>
              </a:defRPr>
            </a:defPPr>
          </a:lstStyle>
          <a:p xmlns:a="http://schemas.openxmlformats.org/drawingml/2006/main">
            <a:pPr>
              <a:defRPr sz="2100" b="0">
                <a:solidFill>
                  <a:srgbClr val="16283D"/>
                </a:solidFill>
                <a:latin typeface="Aptos"/>
                <a:ea typeface="Aptos"/>
                <a:cs typeface="Aptos"/>
              </a:defRPr>
            </a:pPr>
            <a:r>
              <a:rPr sz="2100" b="0">
                <a:solidFill>
                  <a:srgbClr val="16283D"/>
                </a:solidFill>
                <a:latin typeface="Aptos"/>
                <a:ea typeface="Aptos"/>
                <a:cs typeface="Aptos"/>
              </a:rPr>
              <a:t>Repeated raw instruction replay became expensive. The compact engine preprocesses the trace once into memory requests, weighted dependencies, compute gaps and epoch fences.</a:t>
            </a:r>
          </a:p>
        </p:txBody>
      </p:sp>
      <p:sp>
        <p:nvSpPr>
          <p:cNvPr id="6" name="">
            <a:extLst xmlns:a="http://schemas.openxmlformats.org/drawingml/2006/main">
              <a:ext uri="{FF2B5EF4-FFF2-40B4-BE49-F238E27FC236}">
                <a16:creationId xmlns:a16="http://schemas.microsoft.com/office/drawing/2014/main" id="{1523E7F3-2983-42DD-ADA0-A5167C775642}"/>
              </a:ext>
            </a:extLst>
          </p:cNvPr>
          <p:cNvSpPr>
            <a:spLocks xmlns:a="http://schemas.openxmlformats.org/drawingml/2006/main" noGrp="1"/>
          </p:cNvSpPr>
          <p:nvPr/>
        </p:nvSpPr>
        <p:spPr>
          <a:xfrm xmlns:a="http://schemas.openxmlformats.org/drawingml/2006/main">
            <a:off x="628650" y="260985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6A75"/>
                </a:solidFill>
                <a:latin typeface="Aptos"/>
                <a:ea typeface="Aptos"/>
                <a:cs typeface="Aptos"/>
              </a:defRPr>
            </a:defPPr>
          </a:lstStyle>
          <a:p xmlns:a="http://schemas.openxmlformats.org/drawingml/2006/main">
            <a:pPr>
              <a:defRPr sz="1725" b="1">
                <a:solidFill>
                  <a:srgbClr val="006A75"/>
                </a:solidFill>
                <a:latin typeface="Aptos"/>
                <a:ea typeface="Aptos"/>
                <a:cs typeface="Aptos"/>
              </a:defRPr>
            </a:pPr>
            <a:r>
              <a:rPr sz="1725" b="1">
                <a:solidFill>
                  <a:srgbClr val="006A75"/>
                </a:solidFill>
                <a:latin typeface="Aptos"/>
                <a:ea typeface="Aptos"/>
                <a:cs typeface="Aptos"/>
              </a:rPr>
              <a:t>02</a:t>
            </a:r>
          </a:p>
        </p:txBody>
      </p:sp>
      <p:sp>
        <p:nvSpPr>
          <p:cNvPr id="7" name="">
            <a:extLst xmlns:a="http://schemas.openxmlformats.org/drawingml/2006/main">
              <a:ext uri="{FF2B5EF4-FFF2-40B4-BE49-F238E27FC236}">
                <a16:creationId xmlns:a16="http://schemas.microsoft.com/office/drawing/2014/main" id="{889401BF-3458-4C5C-B748-101CF62E164F}"/>
              </a:ext>
            </a:extLst>
          </p:cNvPr>
          <p:cNvSpPr>
            <a:spLocks xmlns:a="http://schemas.openxmlformats.org/drawingml/2006/main" noGrp="1"/>
          </p:cNvSpPr>
          <p:nvPr/>
        </p:nvSpPr>
        <p:spPr>
          <a:xfrm xmlns:a="http://schemas.openxmlformats.org/drawingml/2006/main">
            <a:off x="1200150" y="259080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83D"/>
                </a:solidFill>
                <a:latin typeface="Aptos"/>
                <a:ea typeface="Aptos"/>
                <a:cs typeface="Aptos"/>
              </a:defRPr>
            </a:defPPr>
          </a:lstStyle>
          <a:p xmlns:a="http://schemas.openxmlformats.org/drawingml/2006/main">
            <a:pPr>
              <a:defRPr sz="2100" b="0">
                <a:solidFill>
                  <a:srgbClr val="16283D"/>
                </a:solidFill>
                <a:latin typeface="Aptos"/>
                <a:ea typeface="Aptos"/>
                <a:cs typeface="Aptos"/>
              </a:defRPr>
            </a:pPr>
            <a:r>
              <a:rPr sz="2100" b="0">
                <a:solidFill>
                  <a:srgbClr val="16283D"/>
                </a:solidFill>
                <a:latin typeface="Aptos"/>
                <a:ea typeface="Aptos"/>
                <a:cs typeface="Aptos"/>
              </a:rPr>
              <a:t>For the available BC-kron region, 999.8 million measured instructions become a 405.2 MB event cache, compared with 64.0 GB of raw trace data.</a:t>
            </a:r>
          </a:p>
        </p:txBody>
      </p:sp>
      <p:sp>
        <p:nvSpPr>
          <p:cNvPr id="8" name="">
            <a:extLst xmlns:a="http://schemas.openxmlformats.org/drawingml/2006/main">
              <a:ext uri="{FF2B5EF4-FFF2-40B4-BE49-F238E27FC236}">
                <a16:creationId xmlns:a16="http://schemas.microsoft.com/office/drawing/2014/main" id="{15BE0B4F-34BE-40FC-8D13-6B88573095D0}"/>
              </a:ext>
            </a:extLst>
          </p:cNvPr>
          <p:cNvSpPr>
            <a:spLocks xmlns:a="http://schemas.openxmlformats.org/drawingml/2006/main" noGrp="1"/>
          </p:cNvSpPr>
          <p:nvPr/>
        </p:nvSpPr>
        <p:spPr>
          <a:xfrm xmlns:a="http://schemas.openxmlformats.org/drawingml/2006/main">
            <a:off x="628650" y="371475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6A75"/>
                </a:solidFill>
                <a:latin typeface="Aptos"/>
                <a:ea typeface="Aptos"/>
                <a:cs typeface="Aptos"/>
              </a:defRPr>
            </a:defPPr>
          </a:lstStyle>
          <a:p xmlns:a="http://schemas.openxmlformats.org/drawingml/2006/main">
            <a:pPr>
              <a:defRPr sz="1725" b="1">
                <a:solidFill>
                  <a:srgbClr val="006A75"/>
                </a:solidFill>
                <a:latin typeface="Aptos"/>
                <a:ea typeface="Aptos"/>
                <a:cs typeface="Aptos"/>
              </a:defRPr>
            </a:pPr>
            <a:r>
              <a:rPr sz="1725" b="1">
                <a:solidFill>
                  <a:srgbClr val="006A75"/>
                </a:solidFill>
                <a:latin typeface="Aptos"/>
                <a:ea typeface="Aptos"/>
                <a:cs typeface="Aptos"/>
              </a:rPr>
              <a:t>03</a:t>
            </a:r>
          </a:p>
        </p:txBody>
      </p:sp>
      <p:sp>
        <p:nvSpPr>
          <p:cNvPr id="9" name="">
            <a:extLst xmlns:a="http://schemas.openxmlformats.org/drawingml/2006/main">
              <a:ext uri="{FF2B5EF4-FFF2-40B4-BE49-F238E27FC236}">
                <a16:creationId xmlns:a16="http://schemas.microsoft.com/office/drawing/2014/main" id="{51AF3094-4B99-4C98-A982-F04FA2DB02EA}"/>
              </a:ext>
            </a:extLst>
          </p:cNvPr>
          <p:cNvSpPr>
            <a:spLocks xmlns:a="http://schemas.openxmlformats.org/drawingml/2006/main" noGrp="1"/>
          </p:cNvSpPr>
          <p:nvPr/>
        </p:nvSpPr>
        <p:spPr>
          <a:xfrm xmlns:a="http://schemas.openxmlformats.org/drawingml/2006/main">
            <a:off x="1200150" y="369570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83D"/>
                </a:solidFill>
                <a:latin typeface="Aptos"/>
                <a:ea typeface="Aptos"/>
                <a:cs typeface="Aptos"/>
              </a:defRPr>
            </a:defPPr>
          </a:lstStyle>
          <a:p xmlns:a="http://schemas.openxmlformats.org/drawingml/2006/main">
            <a:pPr>
              <a:defRPr sz="2100" b="0">
                <a:solidFill>
                  <a:srgbClr val="16283D"/>
                </a:solidFill>
                <a:latin typeface="Aptos"/>
                <a:ea typeface="Aptos"/>
                <a:cs typeface="Aptos"/>
              </a:defRPr>
            </a:pPr>
            <a:r>
              <a:rPr sz="2100" b="0">
                <a:solidFill>
                  <a:srgbClr val="16283D"/>
                </a:solidFill>
                <a:latin typeface="Aptos"/>
                <a:ea typeface="Aptos"/>
                <a:cs typeface="Aptos"/>
              </a:rPr>
              <a:t>The 5-million-instruction pilot took 0.659 s to preprocess and 0.061 s for four-policy replay. Against the previous 5.837 s pilot, first-run profiler acceleration is 8.11×.</a:t>
            </a:r>
          </a:p>
        </p:txBody>
      </p:sp>
      <p:sp>
        <p:nvSpPr>
          <p:cNvPr id="10" name="">
            <a:extLst xmlns:a="http://schemas.openxmlformats.org/drawingml/2006/main">
              <a:ext uri="{FF2B5EF4-FFF2-40B4-BE49-F238E27FC236}">
                <a16:creationId xmlns:a16="http://schemas.microsoft.com/office/drawing/2014/main" id="{F765212D-AE20-49D7-B4D2-18DA71398180}"/>
              </a:ext>
            </a:extLst>
          </p:cNvPr>
          <p:cNvSpPr>
            <a:spLocks xmlns:a="http://schemas.openxmlformats.org/drawingml/2006/main" noGrp="1"/>
          </p:cNvSpPr>
          <p:nvPr/>
        </p:nvSpPr>
        <p:spPr>
          <a:xfrm xmlns:a="http://schemas.openxmlformats.org/drawingml/2006/main">
            <a:off x="628650" y="481965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6A75"/>
                </a:solidFill>
                <a:latin typeface="Aptos"/>
                <a:ea typeface="Aptos"/>
                <a:cs typeface="Aptos"/>
              </a:defRPr>
            </a:defPPr>
          </a:lstStyle>
          <a:p xmlns:a="http://schemas.openxmlformats.org/drawingml/2006/main">
            <a:pPr>
              <a:defRPr sz="1725" b="1">
                <a:solidFill>
                  <a:srgbClr val="006A75"/>
                </a:solidFill>
                <a:latin typeface="Aptos"/>
                <a:ea typeface="Aptos"/>
                <a:cs typeface="Aptos"/>
              </a:defRPr>
            </a:pPr>
            <a:r>
              <a:rPr sz="1725" b="1">
                <a:solidFill>
                  <a:srgbClr val="006A75"/>
                </a:solidFill>
                <a:latin typeface="Aptos"/>
                <a:ea typeface="Aptos"/>
                <a:cs typeface="Aptos"/>
              </a:rPr>
              <a:t>04</a:t>
            </a:r>
          </a:p>
        </p:txBody>
      </p:sp>
      <p:sp>
        <p:nvSpPr>
          <p:cNvPr id="11" name="">
            <a:extLst xmlns:a="http://schemas.openxmlformats.org/drawingml/2006/main">
              <a:ext uri="{FF2B5EF4-FFF2-40B4-BE49-F238E27FC236}">
                <a16:creationId xmlns:a16="http://schemas.microsoft.com/office/drawing/2014/main" id="{3EE65A85-3873-4F30-9838-34F45040D68A}"/>
              </a:ext>
            </a:extLst>
          </p:cNvPr>
          <p:cNvSpPr>
            <a:spLocks xmlns:a="http://schemas.openxmlformats.org/drawingml/2006/main" noGrp="1"/>
          </p:cNvSpPr>
          <p:nvPr/>
        </p:nvSpPr>
        <p:spPr>
          <a:xfrm xmlns:a="http://schemas.openxmlformats.org/drawingml/2006/main">
            <a:off x="1200150" y="480060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83D"/>
                </a:solidFill>
                <a:latin typeface="Aptos"/>
                <a:ea typeface="Aptos"/>
                <a:cs typeface="Aptos"/>
              </a:defRPr>
            </a:defPPr>
          </a:lstStyle>
          <a:p xmlns:a="http://schemas.openxmlformats.org/drawingml/2006/main">
            <a:pPr>
              <a:defRPr sz="2100" b="0">
                <a:solidFill>
                  <a:srgbClr val="16283D"/>
                </a:solidFill>
                <a:latin typeface="Aptos"/>
                <a:ea typeface="Aptos"/>
                <a:cs typeface="Aptos"/>
              </a:defRPr>
            </a:pPr>
            <a:r>
              <a:rPr sz="2100" b="0">
                <a:solidFill>
                  <a:srgbClr val="16283D"/>
                </a:solidFill>
                <a:latin typeface="Aptos"/>
                <a:ea typeface="Aptos"/>
                <a:cs typeface="Aptos"/>
              </a:rPr>
              <a:t>This accelerates the profiling tool. It is separate from workload speedup. The compact model uses conservative 192-instruction epochs and omits pipelining between epochs.</a:t>
            </a:r>
          </a:p>
        </p:txBody>
      </p:sp>
    </p:spTree>
    <p:extLst>
      <p:ext uri="{BB962C8B-B14F-4D97-AF65-F5344CB8AC3E}">
        <p14:creationId xmlns:p14="http://schemas.microsoft.com/office/powerpoint/2010/main" val="598582583"/>
      </p:ext>
    </p:extLst>
  </p:cSld>
</p:sld>
</file>

<file path=ppt/slides/slide16.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D47DB12-09DF-44D9-A462-20E6C40D83A2}"/>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6283D"/>
                </a:solidFill>
                <a:latin typeface="Aptos"/>
                <a:ea typeface="Aptos"/>
                <a:cs typeface="Aptos"/>
              </a:defRPr>
            </a:defPPr>
          </a:lstStyle>
          <a:p xmlns:a="http://schemas.openxmlformats.org/drawingml/2006/main">
            <a:pPr>
              <a:defRPr sz="3225" b="1">
                <a:solidFill>
                  <a:srgbClr val="16283D"/>
                </a:solidFill>
                <a:latin typeface="Aptos"/>
                <a:ea typeface="Aptos"/>
                <a:cs typeface="Aptos"/>
              </a:defRPr>
            </a:pPr>
            <a:r>
              <a:rPr sz="3225" b="1">
                <a:solidFill>
                  <a:srgbClr val="16283D"/>
                </a:solidFill>
                <a:latin typeface="Aptos"/>
                <a:ea typeface="Aptos"/>
                <a:cs typeface="Aptos"/>
              </a:rPr>
              <a:t>Real-trace results and matched migration controls</a:t>
            </a:r>
          </a:p>
        </p:txBody>
      </p:sp>
      <p:sp>
        <p:nvSpPr>
          <p:cNvPr id="2" name="">
            <a:extLst xmlns:a="http://schemas.openxmlformats.org/drawingml/2006/main">
              <a:ext uri="{FF2B5EF4-FFF2-40B4-BE49-F238E27FC236}">
                <a16:creationId xmlns:a16="http://schemas.microsoft.com/office/drawing/2014/main" id="{92152505-A51D-488D-9AAE-98065F84302C}"/>
              </a:ext>
            </a:extLst>
          </p:cNvPr>
          <p:cNvSpPr>
            <a:spLocks xmlns:a="http://schemas.openxmlformats.org/drawingml/2006/main" noGrp="1"/>
          </p:cNvSpPr>
          <p:nvPr/>
        </p:nvSpPr>
        <p:spPr>
          <a:xfrm xmlns:a="http://schemas.openxmlformats.org/drawingml/2006/main">
            <a:off x="11144250" y="63341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276"/>
                </a:solidFill>
                <a:latin typeface="Aptos"/>
                <a:ea typeface="Aptos"/>
                <a:cs typeface="Aptos"/>
              </a:defRPr>
            </a:defPPr>
          </a:lstStyle>
          <a:p xmlns:a="http://schemas.openxmlformats.org/drawingml/2006/main">
            <a:pPr>
              <a:defRPr sz="1200" b="0">
                <a:solidFill>
                  <a:srgbClr val="526276"/>
                </a:solidFill>
                <a:latin typeface="Aptos"/>
                <a:ea typeface="Aptos"/>
                <a:cs typeface="Aptos"/>
              </a:defRPr>
            </a:pPr>
            <a:r>
              <a:rPr sz="1200" b="0">
                <a:solidFill>
                  <a:srgbClr val="526276"/>
                </a:solidFill>
                <a:latin typeface="Aptos"/>
                <a:ea typeface="Aptos"/>
                <a:cs typeface="Aptos"/>
              </a:rPr>
              <a:t>16</a:t>
            </a:r>
          </a:p>
        </p:txBody>
      </p:sp>
      <p:sp>
        <p:nvSpPr>
          <p:cNvPr id="3" name="">
            <a:extLst xmlns:a="http://schemas.openxmlformats.org/drawingml/2006/main">
              <a:ext uri="{FF2B5EF4-FFF2-40B4-BE49-F238E27FC236}">
                <a16:creationId xmlns:a16="http://schemas.microsoft.com/office/drawing/2014/main" id="{17439B31-5E82-4796-B5D0-74F7D04D38FC}"/>
              </a:ext>
            </a:extLst>
          </p:cNvPr>
          <p:cNvSpPr>
            <a:spLocks xmlns:a="http://schemas.openxmlformats.org/drawingml/2006/main" noGrp="1"/>
          </p:cNvSpPr>
          <p:nvPr/>
        </p:nvSpPr>
        <p:spPr>
          <a:xfrm xmlns:a="http://schemas.openxmlformats.org/drawingml/2006/main">
            <a:off x="609600" y="6315075"/>
            <a:ext cx="10287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276"/>
                </a:solidFill>
                <a:latin typeface="Aptos"/>
                <a:ea typeface="Aptos"/>
                <a:cs typeface="Aptos"/>
              </a:defRPr>
            </a:defPPr>
          </a:lstStyle>
          <a:p xmlns:a="http://schemas.openxmlformats.org/drawingml/2006/main">
            <a:pPr>
              <a:defRPr sz="1125" b="0">
                <a:solidFill>
                  <a:srgbClr val="526276"/>
                </a:solidFill>
                <a:latin typeface="Aptos"/>
                <a:ea typeface="Aptos"/>
                <a:cs typeface="Aptos"/>
              </a:defRPr>
            </a:pPr>
            <a:r>
              <a:rPr sz="1125" b="0">
                <a:solidFill>
                  <a:srgbClr val="526276"/>
                </a:solidFill>
                <a:latin typeface="Aptos"/>
                <a:ea typeface="Aptos"/>
                <a:cs typeface="Aptos"/>
              </a:rPr>
              <a:t>Source: results/paper_aligned/REPORT.md</a:t>
            </a:r>
          </a:p>
        </p:txBody>
      </p:sp>
      <p:graphicFrame>
        <p:nvGraphicFramePr>
          <p:cNvPr id="4" name="">
            <a:extLst xmlns:a="http://schemas.openxmlformats.org/drawingml/2006/main">
              <a:ext uri="{FF2B5EF4-FFF2-40B4-BE49-F238E27FC236}">
                <a16:creationId xmlns:a16="http://schemas.microsoft.com/office/drawing/2014/main" id="{1EF16FB1-C7B0-4141-8386-450174C73006}"/>
              </a:ext>
            </a:extLst>
          </p:cNvPr>
          <p:cNvGraphicFramePr/>
          <p:nvPr/>
        </p:nvGraphicFramePr>
        <p:xfrm>
          <a:off xmlns:a="http://schemas.openxmlformats.org/drawingml/2006/main" x="609600" y="1619250"/>
          <a:ext xmlns:a="http://schemas.openxmlformats.org/drawingml/2006/main" cx="10972800" cy="2781300"/>
        </p:xfrm>
        <a:graphic xmlns:a="http://schemas.openxmlformats.org/drawingml/2006/main">
          <a:graphicData uri="http://schemas.openxmlformats.org/drawingml/2006/table">
            <a:tbl>
              <a:tblPr/>
              <a:tblGrid>
                <a:gridCol w="2667000"/>
                <a:gridCol w="2238375"/>
                <a:gridCol w="2476500"/>
                <a:gridCol w="3590925"/>
              </a:tblGrid>
              <a:tr h="695325">
                <a:tc>
                  <a:txBody>
                    <a:bodyPr/>
                    <a:lstStyle/>
                    <a:p>
                      <a:r>
                        <a:rPr sz="1725" b="1">
                          <a:solidFill>
                            <a:srgbClr val="FFFFFF"/>
                          </a:solidFill>
                          <a:latin typeface="Aptos"/>
                          <a:ea typeface="Aptos"/>
                          <a:cs typeface="Aptos"/>
                        </a:rPr>
                        <a:t>BC-kron profile</a:t>
                      </a:r>
                    </a:p>
                  </a:txBody>
                  <a:tcPr marL="114300" marR="114300" marT="47625" marB="47625">
                    <a:lnL w="9525">
                      <a:solidFill>
                        <a:srgbClr val="D4DDE4"/>
                      </a:solidFill>
                      <a:prstDash val="solid"/>
                    </a:lnL>
                    <a:lnR w="9525">
                      <a:solidFill>
                        <a:srgbClr val="D4DDE4"/>
                      </a:solidFill>
                      <a:prstDash val="solid"/>
                    </a:lnR>
                    <a:lnT w="9525">
                      <a:solidFill>
                        <a:srgbClr val="D4DDE4"/>
                      </a:solidFill>
                      <a:prstDash val="solid"/>
                    </a:lnT>
                    <a:lnB w="9525">
                      <a:solidFill>
                        <a:srgbClr val="D4DDE4"/>
                      </a:solidFill>
                      <a:prstDash val="solid"/>
                    </a:lnB>
                    <a:solidFill>
                      <a:srgbClr val="006A75"/>
                    </a:solidFill>
                  </a:tcPr>
                </a:tc>
                <a:tc>
                  <a:txBody>
                    <a:bodyPr/>
                    <a:lstStyle/>
                    <a:p>
                      <a:r>
                        <a:rPr sz="1725" b="1">
                          <a:solidFill>
                            <a:srgbClr val="FFFFFF"/>
                          </a:solidFill>
                          <a:latin typeface="Aptos"/>
                          <a:ea typeface="Aptos"/>
                          <a:cs typeface="Aptos"/>
                        </a:rPr>
                        <a:t>Natural reduction</a:t>
                      </a:r>
                    </a:p>
                  </a:txBody>
                  <a:tcPr marL="114300" marR="114300" marT="47625" marB="47625">
                    <a:lnR w="9525">
                      <a:solidFill>
                        <a:srgbClr val="D4DDE4"/>
                      </a:solidFill>
                      <a:prstDash val="solid"/>
                    </a:lnR>
                    <a:lnT w="9525">
                      <a:solidFill>
                        <a:srgbClr val="D4DDE4"/>
                      </a:solidFill>
                      <a:prstDash val="solid"/>
                    </a:lnT>
                    <a:lnB w="9525">
                      <a:solidFill>
                        <a:srgbClr val="D4DDE4"/>
                      </a:solidFill>
                      <a:prstDash val="solid"/>
                    </a:lnB>
                    <a:solidFill>
                      <a:srgbClr val="006A75"/>
                    </a:solidFill>
                  </a:tcPr>
                </a:tc>
                <a:tc>
                  <a:txBody>
                    <a:bodyPr/>
                    <a:lstStyle/>
                    <a:p>
                      <a:r>
                        <a:rPr sz="1725" b="1">
                          <a:solidFill>
                            <a:srgbClr val="FFFFFF"/>
                          </a:solidFill>
                          <a:latin typeface="Aptos"/>
                          <a:ea typeface="Aptos"/>
                          <a:cs typeface="Aptos"/>
                        </a:rPr>
                        <a:t>Matched-count reduction</a:t>
                      </a:r>
                    </a:p>
                  </a:txBody>
                  <a:tcPr marL="114300" marR="114300" marT="47625" marB="47625">
                    <a:lnR w="9525">
                      <a:solidFill>
                        <a:srgbClr val="D4DDE4"/>
                      </a:solidFill>
                      <a:prstDash val="solid"/>
                    </a:lnR>
                    <a:lnT w="9525">
                      <a:solidFill>
                        <a:srgbClr val="D4DDE4"/>
                      </a:solidFill>
                      <a:prstDash val="solid"/>
                    </a:lnT>
                    <a:lnB w="9525">
                      <a:solidFill>
                        <a:srgbClr val="D4DDE4"/>
                      </a:solidFill>
                      <a:prstDash val="solid"/>
                    </a:lnB>
                    <a:solidFill>
                      <a:srgbClr val="006A75"/>
                    </a:solidFill>
                  </a:tcPr>
                </a:tc>
                <a:tc>
                  <a:txBody>
                    <a:bodyPr/>
                    <a:lstStyle/>
                    <a:p>
                      <a:r>
                        <a:rPr sz="1725" b="1">
                          <a:solidFill>
                            <a:srgbClr val="FFFFFF"/>
                          </a:solidFill>
                          <a:latin typeface="Aptos"/>
                          <a:ea typeface="Aptos"/>
                          <a:cs typeface="Aptos"/>
                        </a:rPr>
                        <a:t>Meaning</a:t>
                      </a:r>
                    </a:p>
                  </a:txBody>
                  <a:tcPr marL="114300" marR="114300" marT="47625" marB="47625">
                    <a:lnR w="9525">
                      <a:solidFill>
                        <a:srgbClr val="D4DDE4"/>
                      </a:solidFill>
                      <a:prstDash val="solid"/>
                    </a:lnR>
                    <a:lnT w="9525">
                      <a:solidFill>
                        <a:srgbClr val="D4DDE4"/>
                      </a:solidFill>
                      <a:prstDash val="solid"/>
                    </a:lnT>
                    <a:lnB w="9525">
                      <a:solidFill>
                        <a:srgbClr val="D4DDE4"/>
                      </a:solidFill>
                      <a:prstDash val="solid"/>
                    </a:lnB>
                    <a:solidFill>
                      <a:srgbClr val="006A75"/>
                    </a:solidFill>
                  </a:tcPr>
                </a:tc>
              </a:tr>
              <a:tr h="695325">
                <a:tc>
                  <a:txBody>
                    <a:bodyPr/>
                    <a:lstStyle/>
                    <a:p>
                      <a:r>
                        <a:rPr sz="1725">
                          <a:solidFill>
                            <a:srgbClr val="16283D"/>
                          </a:solidFill>
                          <a:latin typeface="Aptos"/>
                          <a:ea typeface="Aptos"/>
                          <a:cs typeface="Aptos"/>
                        </a:rPr>
                        <a:t>Legacy</a:t>
                      </a:r>
                    </a:p>
                  </a:txBody>
                  <a:tcPr marL="114300" marR="114300" marT="47625" marB="47625">
                    <a:lnL w="9525">
                      <a:solidFill>
                        <a:srgbClr val="D4DDE4"/>
                      </a:solidFill>
                      <a:prstDash val="solid"/>
                    </a:lnL>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+0.000068%</a:t>
                      </a:r>
                    </a:p>
                  </a:txBody>
                  <a:tcPr marL="114300" marR="114300" marT="47625" marB="47625">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+0.000068%</a:t>
                      </a:r>
                    </a:p>
                  </a:txBody>
                  <a:tcPr marL="114300" marR="114300" marT="47625" marB="47625">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Essentially a tie</a:t>
                      </a:r>
                    </a:p>
                  </a:txBody>
                  <a:tcPr marL="114300" marR="114300" marT="47625" marB="47625">
                    <a:lnR w="9525">
                      <a:solidFill>
                        <a:srgbClr val="D4DDE4"/>
                      </a:solidFill>
                      <a:prstDash val="solid"/>
                    </a:lnR>
                    <a:lnB w="9525">
                      <a:solidFill>
                        <a:srgbClr val="D4DDE4"/>
                      </a:solidFill>
                      <a:prstDash val="solid"/>
                    </a:lnB>
                  </a:tcPr>
                </a:tc>
              </a:tr>
              <a:tr h="695325">
                <a:tc>
                  <a:txBody>
                    <a:bodyPr/>
                    <a:lstStyle/>
                    <a:p>
                      <a:r>
                        <a:rPr sz="1725">
                          <a:solidFill>
                            <a:srgbClr val="16283D"/>
                          </a:solidFill>
                          <a:latin typeface="Aptos"/>
                          <a:ea typeface="Aptos"/>
                          <a:cs typeface="Aptos"/>
                        </a:rPr>
                        <a:t>Paper all-events</a:t>
                      </a:r>
                    </a:p>
                  </a:txBody>
                  <a:tcPr marL="114300" marR="114300" marT="47625" marB="47625">
                    <a:lnL w="9525">
                      <a:solidFill>
                        <a:srgbClr val="D4DDE4"/>
                      </a:solidFill>
                      <a:prstDash val="solid"/>
                    </a:lnL>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+2.127945%</a:t>
                      </a:r>
                    </a:p>
                  </a:txBody>
                  <a:tcPr marL="114300" marR="114300" marT="47625" marB="47625">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+0.006080%</a:t>
                      </a:r>
                    </a:p>
                  </a:txBody>
                  <a:tcPr marL="114300" marR="114300" marT="47625" marB="47625">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Most benefit comes from copy-count difference</a:t>
                      </a:r>
                    </a:p>
                  </a:txBody>
                  <a:tcPr marL="114300" marR="114300" marT="47625" marB="47625">
                    <a:lnR w="9525">
                      <a:solidFill>
                        <a:srgbClr val="D4DDE4"/>
                      </a:solidFill>
                      <a:prstDash val="solid"/>
                    </a:lnR>
                    <a:lnB w="9525">
                      <a:solidFill>
                        <a:srgbClr val="D4DDE4"/>
                      </a:solidFill>
                      <a:prstDash val="solid"/>
                    </a:lnB>
                  </a:tcPr>
                </a:tc>
              </a:tr>
              <a:tr h="695325">
                <a:tc>
                  <a:txBody>
                    <a:bodyPr/>
                    <a:lstStyle/>
                    <a:p>
                      <a:r>
                        <a:rPr sz="1725">
                          <a:solidFill>
                            <a:srgbClr val="16283D"/>
                          </a:solidFill>
                          <a:latin typeface="Aptos"/>
                          <a:ea typeface="Aptos"/>
                          <a:cs typeface="Aptos"/>
                        </a:rPr>
                        <a:t>Paper sampled</a:t>
                      </a:r>
                    </a:p>
                  </a:txBody>
                  <a:tcPr marL="114300" marR="114300" marT="47625" marB="47625">
                    <a:lnL w="9525">
                      <a:solidFill>
                        <a:srgbClr val="D4DDE4"/>
                      </a:solidFill>
                      <a:prstDash val="solid"/>
                    </a:lnL>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−0.001725%</a:t>
                      </a:r>
                    </a:p>
                  </a:txBody>
                  <a:tcPr marL="114300" marR="114300" marT="47625" marB="47625">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−0.000726%</a:t>
                      </a:r>
                    </a:p>
                  </a:txBody>
                  <a:tcPr marL="114300" marR="114300" marT="47625" marB="47625">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Slightly favors frequency</a:t>
                      </a:r>
                    </a:p>
                  </a:txBody>
                  <a:tcPr marL="114300" marR="114300" marT="47625" marB="47625">
                    <a:lnR w="9525">
                      <a:solidFill>
                        <a:srgbClr val="D4DDE4"/>
                      </a:solidFill>
                      <a:prstDash val="solid"/>
                    </a:lnR>
                    <a:lnB w="9525">
                      <a:solidFill>
                        <a:srgbClr val="D4DDE4"/>
                      </a:solidFill>
                      <a:prstDash val="solid"/>
                    </a:lnB>
                  </a:tcPr>
                </a:tc>
              </a:tr>
            </a:tbl>
          </a:graphicData>
        </a:graphic>
      </p:graphicFrame>
      <p:sp>
        <p:nvSpPr>
          <p:cNvPr id="5" name="">
            <a:extLst xmlns:a="http://schemas.openxmlformats.org/drawingml/2006/main">
              <a:ext uri="{FF2B5EF4-FFF2-40B4-BE49-F238E27FC236}">
                <a16:creationId xmlns:a16="http://schemas.microsoft.com/office/drawing/2014/main" id="{83992863-AAEC-401B-A03E-054D0CE2553D}"/>
              </a:ext>
            </a:extLst>
          </p:cNvPr>
          <p:cNvSpPr>
            <a:spLocks xmlns:a="http://schemas.openxmlformats.org/drawingml/2006/main" noGrp="1"/>
          </p:cNvSpPr>
          <p:nvPr/>
        </p:nvSpPr>
        <p:spPr>
          <a:xfrm xmlns:a="http://schemas.openxmlformats.org/drawingml/2006/main">
            <a:off x="609600" y="463867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83D"/>
                </a:solidFill>
                <a:latin typeface="Aptos"/>
                <a:ea typeface="Aptos"/>
                <a:cs typeface="Aptos"/>
              </a:defRPr>
            </a:defPPr>
          </a:lstStyle>
          <a:p xmlns:a="http://schemas.openxmlformats.org/drawingml/2006/main">
            <a:pPr>
              <a:defRPr sz="2100" b="0">
                <a:solidFill>
                  <a:srgbClr val="16283D"/>
                </a:solidFill>
                <a:latin typeface="Aptos"/>
                <a:ea typeface="Aptos"/>
                <a:cs typeface="Aptos"/>
              </a:defRPr>
            </a:pPr>
            <a:r>
              <a:rPr sz="2100" b="0">
                <a:solidFill>
                  <a:srgbClr val="16283D"/>
                </a:solidFill>
                <a:latin typeface="Aptos"/>
                <a:ea typeface="Aptos"/>
                <a:cs typeface="Aptos"/>
              </a:rPr>
              <a:t>All rows use the same 999.8M-instruction region and 20 ms windows. PAC’s observed CXL MLP is around 1.28–1.31, despite a 16-request resource bound.</a:t>
            </a:r>
          </a:p>
        </p:txBody>
      </p:sp>
      <p:sp>
        <p:nvSpPr>
          <p:cNvPr id="6" name="">
            <a:extLst xmlns:a="http://schemas.openxmlformats.org/drawingml/2006/main">
              <a:ext uri="{FF2B5EF4-FFF2-40B4-BE49-F238E27FC236}">
                <a16:creationId xmlns:a16="http://schemas.microsoft.com/office/drawing/2014/main" id="{1DADA7FC-6465-4EC4-91E5-5573CC4B6A4F}"/>
              </a:ext>
            </a:extLst>
          </p:cNvPr>
          <p:cNvSpPr>
            <a:spLocks xmlns:a="http://schemas.openxmlformats.org/drawingml/2006/main" noGrp="1"/>
          </p:cNvSpPr>
          <p:nvPr/>
        </p:nvSpPr>
        <p:spPr>
          <a:xfrm xmlns:a="http://schemas.openxmlformats.org/drawingml/2006/main">
            <a:off x="609600" y="55721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06A75"/>
                </a:solidFill>
                <a:latin typeface="Aptos"/>
                <a:ea typeface="Aptos"/>
                <a:cs typeface="Aptos"/>
              </a:defRPr>
            </a:defPPr>
          </a:lstStyle>
          <a:p xmlns:a="http://schemas.openxmlformats.org/drawingml/2006/main">
            <a:pPr>
              <a:defRPr sz="1950" b="1">
                <a:solidFill>
                  <a:srgbClr val="006A75"/>
                </a:solidFill>
                <a:latin typeface="Aptos"/>
                <a:ea typeface="Aptos"/>
                <a:cs typeface="Aptos"/>
              </a:defRPr>
            </a:pPr>
            <a:r>
              <a:rPr sz="1950" b="1">
                <a:solidFill>
                  <a:srgbClr val="006A75"/>
                </a:solidFill>
                <a:latin typeface="Aptos"/>
                <a:ea typeface="Aptos"/>
                <a:cs typeface="Aptos"/>
              </a:rPr>
              <a:t>The real-trace replay does not establish a 20% application gain. Matching actual moves helps separate scoring quality from migration overhead.</a:t>
            </a:r>
          </a:p>
        </p:txBody>
      </p:sp>
    </p:spTree>
    <p:extLst>
      <p:ext uri="{BB962C8B-B14F-4D97-AF65-F5344CB8AC3E}">
        <p14:creationId xmlns:p14="http://schemas.microsoft.com/office/powerpoint/2010/main" val="331189943"/>
      </p:ext>
    </p:extLst>
  </p:cSld>
</p:sld>
</file>

<file path=ppt/slides/slide17.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AF43E94-7BC4-44DF-904A-BB067055EE2E}"/>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6283D"/>
                </a:solidFill>
                <a:latin typeface="Aptos"/>
                <a:ea typeface="Aptos"/>
                <a:cs typeface="Aptos"/>
              </a:defRPr>
            </a:defPPr>
          </a:lstStyle>
          <a:p xmlns:a="http://schemas.openxmlformats.org/drawingml/2006/main">
            <a:pPr>
              <a:defRPr sz="3225" b="1">
                <a:solidFill>
                  <a:srgbClr val="16283D"/>
                </a:solidFill>
                <a:latin typeface="Aptos"/>
                <a:ea typeface="Aptos"/>
                <a:cs typeface="Aptos"/>
              </a:defRPr>
            </a:pPr>
            <a:r>
              <a:rPr sz="3225" b="1">
                <a:solidFill>
                  <a:srgbClr val="16283D"/>
                </a:solidFill>
                <a:latin typeface="Aptos"/>
                <a:ea typeface="Aptos"/>
                <a:cs typeface="Aptos"/>
              </a:rPr>
              <a:t>Calibration and sensitivity evidence</a:t>
            </a:r>
          </a:p>
        </p:txBody>
      </p:sp>
      <p:sp>
        <p:nvSpPr>
          <p:cNvPr id="2" name="">
            <a:extLst xmlns:a="http://schemas.openxmlformats.org/drawingml/2006/main">
              <a:ext uri="{FF2B5EF4-FFF2-40B4-BE49-F238E27FC236}">
                <a16:creationId xmlns:a16="http://schemas.microsoft.com/office/drawing/2014/main" id="{D1E9E804-E342-4B18-9D89-0DFCB584AC92}"/>
              </a:ext>
            </a:extLst>
          </p:cNvPr>
          <p:cNvSpPr>
            <a:spLocks xmlns:a="http://schemas.openxmlformats.org/drawingml/2006/main" noGrp="1"/>
          </p:cNvSpPr>
          <p:nvPr/>
        </p:nvSpPr>
        <p:spPr>
          <a:xfrm xmlns:a="http://schemas.openxmlformats.org/drawingml/2006/main">
            <a:off x="11144250" y="63341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276"/>
                </a:solidFill>
                <a:latin typeface="Aptos"/>
                <a:ea typeface="Aptos"/>
                <a:cs typeface="Aptos"/>
              </a:defRPr>
            </a:defPPr>
          </a:lstStyle>
          <a:p xmlns:a="http://schemas.openxmlformats.org/drawingml/2006/main">
            <a:pPr>
              <a:defRPr sz="1200" b="0">
                <a:solidFill>
                  <a:srgbClr val="526276"/>
                </a:solidFill>
                <a:latin typeface="Aptos"/>
                <a:ea typeface="Aptos"/>
                <a:cs typeface="Aptos"/>
              </a:defRPr>
            </a:pPr>
            <a:r>
              <a:rPr sz="1200" b="0">
                <a:solidFill>
                  <a:srgbClr val="526276"/>
                </a:solidFill>
                <a:latin typeface="Aptos"/>
                <a:ea typeface="Aptos"/>
                <a:cs typeface="Aptos"/>
              </a:rPr>
              <a:t>17</a:t>
            </a:r>
          </a:p>
        </p:txBody>
      </p:sp>
      <p:sp>
        <p:nvSpPr>
          <p:cNvPr id="3" name="">
            <a:extLst xmlns:a="http://schemas.openxmlformats.org/drawingml/2006/main">
              <a:ext uri="{FF2B5EF4-FFF2-40B4-BE49-F238E27FC236}">
                <a16:creationId xmlns:a16="http://schemas.microsoft.com/office/drawing/2014/main" id="{FA8BF677-8728-4C5B-B799-F1A795E9D593}"/>
              </a:ext>
            </a:extLst>
          </p:cNvPr>
          <p:cNvSpPr>
            <a:spLocks xmlns:a="http://schemas.openxmlformats.org/drawingml/2006/main" noGrp="1"/>
          </p:cNvSpPr>
          <p:nvPr/>
        </p:nvSpPr>
        <p:spPr>
          <a:xfrm xmlns:a="http://schemas.openxmlformats.org/drawingml/2006/main">
            <a:off x="609600" y="6315075"/>
            <a:ext cx="10287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276"/>
                </a:solidFill>
                <a:latin typeface="Aptos"/>
                <a:ea typeface="Aptos"/>
                <a:cs typeface="Aptos"/>
              </a:defRPr>
            </a:defPPr>
          </a:lstStyle>
          <a:p xmlns:a="http://schemas.openxmlformats.org/drawingml/2006/main">
            <a:pPr>
              <a:defRPr sz="1125" b="0">
                <a:solidFill>
                  <a:srgbClr val="526276"/>
                </a:solidFill>
                <a:latin typeface="Aptos"/>
                <a:ea typeface="Aptos"/>
                <a:cs typeface="Aptos"/>
              </a:defRPr>
            </a:pPr>
            <a:r>
              <a:rPr sz="1125" b="0">
                <a:solidFill>
                  <a:srgbClr val="526276"/>
                </a:solidFill>
                <a:latin typeface="Aptos"/>
                <a:ea typeface="Aptos"/>
                <a:cs typeface="Aptos"/>
              </a:rPr>
              <a:t>Source: calibration/pact/REPORT.md</a:t>
            </a:r>
          </a:p>
        </p:txBody>
      </p:sp>
      <p:sp>
        <p:nvSpPr>
          <p:cNvPr id="4" name="">
            <a:extLst xmlns:a="http://schemas.openxmlformats.org/drawingml/2006/main">
              <a:ext uri="{FF2B5EF4-FFF2-40B4-BE49-F238E27FC236}">
                <a16:creationId xmlns:a16="http://schemas.microsoft.com/office/drawing/2014/main" id="{E50379AD-E552-4700-B013-92EF83CC2107}"/>
              </a:ext>
            </a:extLst>
          </p:cNvPr>
          <p:cNvSpPr>
            <a:spLocks xmlns:a="http://schemas.openxmlformats.org/drawingml/2006/main" noGrp="1"/>
          </p:cNvSpPr>
          <p:nvPr/>
        </p:nvSpPr>
        <p:spPr>
          <a:xfrm xmlns:a="http://schemas.openxmlformats.org/drawingml/2006/main">
            <a:off x="628650" y="150495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6A75"/>
                </a:solidFill>
                <a:latin typeface="Aptos"/>
                <a:ea typeface="Aptos"/>
                <a:cs typeface="Aptos"/>
              </a:defRPr>
            </a:defPPr>
          </a:lstStyle>
          <a:p xmlns:a="http://schemas.openxmlformats.org/drawingml/2006/main">
            <a:pPr>
              <a:defRPr sz="1725" b="1">
                <a:solidFill>
                  <a:srgbClr val="006A75"/>
                </a:solidFill>
                <a:latin typeface="Aptos"/>
                <a:ea typeface="Aptos"/>
                <a:cs typeface="Aptos"/>
              </a:defRPr>
            </a:pPr>
            <a:r>
              <a:rPr sz="1725" b="1">
                <a:solidFill>
                  <a:srgbClr val="006A75"/>
                </a:solidFill>
                <a:latin typeface="Aptos"/>
                <a:ea typeface="Aptos"/>
                <a:cs typeface="Aptos"/>
              </a:rPr>
              <a:t>01</a:t>
            </a:r>
          </a:p>
        </p:txBody>
      </p:sp>
      <p:sp>
        <p:nvSpPr>
          <p:cNvPr id="5" name="">
            <a:extLst xmlns:a="http://schemas.openxmlformats.org/drawingml/2006/main">
              <a:ext uri="{FF2B5EF4-FFF2-40B4-BE49-F238E27FC236}">
                <a16:creationId xmlns:a16="http://schemas.microsoft.com/office/drawing/2014/main" id="{35921040-7A99-4EDA-8FD5-4F7995F45E45}"/>
              </a:ext>
            </a:extLst>
          </p:cNvPr>
          <p:cNvSpPr>
            <a:spLocks xmlns:a="http://schemas.openxmlformats.org/drawingml/2006/main" noGrp="1"/>
          </p:cNvSpPr>
          <p:nvPr/>
        </p:nvSpPr>
        <p:spPr>
          <a:xfrm xmlns:a="http://schemas.openxmlformats.org/drawingml/2006/main">
            <a:off x="1200150" y="148590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83D"/>
                </a:solidFill>
                <a:latin typeface="Aptos"/>
                <a:ea typeface="Aptos"/>
                <a:cs typeface="Aptos"/>
              </a:defRPr>
            </a:defPPr>
          </a:lstStyle>
          <a:p xmlns:a="http://schemas.openxmlformats.org/drawingml/2006/main">
            <a:pPr>
              <a:defRPr sz="2100" b="0">
                <a:solidFill>
                  <a:srgbClr val="16283D"/>
                </a:solidFill>
                <a:latin typeface="Aptos"/>
                <a:ea typeface="Aptos"/>
                <a:cs typeface="Aptos"/>
              </a:defRPr>
            </a:pPr>
            <a:r>
              <a:rPr sz="2100" b="0">
                <a:solidFill>
                  <a:srgbClr val="16283D"/>
                </a:solidFill>
                <a:latin typeface="Aptos"/>
                <a:ea typeface="Aptos"/>
                <a:cs typeface="Aptos"/>
              </a:rPr>
              <a:t>The audited PACT public counter dataset contains 96 workload rows. On the emulated CXL tier, correlation with measured stall cycles rises from 0.829 for misses to 0.974 for misses/MLP.</a:t>
            </a:r>
          </a:p>
        </p:txBody>
      </p:sp>
      <p:sp>
        <p:nvSpPr>
          <p:cNvPr id="6" name="">
            <a:extLst xmlns:a="http://schemas.openxmlformats.org/drawingml/2006/main">
              <a:ext uri="{FF2B5EF4-FFF2-40B4-BE49-F238E27FC236}">
                <a16:creationId xmlns:a16="http://schemas.microsoft.com/office/drawing/2014/main" id="{E48DE3C6-20CD-42F7-B351-2CE06E9D292D}"/>
              </a:ext>
            </a:extLst>
          </p:cNvPr>
          <p:cNvSpPr>
            <a:spLocks xmlns:a="http://schemas.openxmlformats.org/drawingml/2006/main" noGrp="1"/>
          </p:cNvSpPr>
          <p:nvPr/>
        </p:nvSpPr>
        <p:spPr>
          <a:xfrm xmlns:a="http://schemas.openxmlformats.org/drawingml/2006/main">
            <a:off x="628650" y="260985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6A75"/>
                </a:solidFill>
                <a:latin typeface="Aptos"/>
                <a:ea typeface="Aptos"/>
                <a:cs typeface="Aptos"/>
              </a:defRPr>
            </a:defPPr>
          </a:lstStyle>
          <a:p xmlns:a="http://schemas.openxmlformats.org/drawingml/2006/main">
            <a:pPr>
              <a:defRPr sz="1725" b="1">
                <a:solidFill>
                  <a:srgbClr val="006A75"/>
                </a:solidFill>
                <a:latin typeface="Aptos"/>
                <a:ea typeface="Aptos"/>
                <a:cs typeface="Aptos"/>
              </a:defRPr>
            </a:pPr>
            <a:r>
              <a:rPr sz="1725" b="1">
                <a:solidFill>
                  <a:srgbClr val="006A75"/>
                </a:solidFill>
                <a:latin typeface="Aptos"/>
                <a:ea typeface="Aptos"/>
                <a:cs typeface="Aptos"/>
              </a:rPr>
              <a:t>02</a:t>
            </a:r>
          </a:p>
        </p:txBody>
      </p:sp>
      <p:sp>
        <p:nvSpPr>
          <p:cNvPr id="7" name="">
            <a:extLst xmlns:a="http://schemas.openxmlformats.org/drawingml/2006/main">
              <a:ext uri="{FF2B5EF4-FFF2-40B4-BE49-F238E27FC236}">
                <a16:creationId xmlns:a16="http://schemas.microsoft.com/office/drawing/2014/main" id="{0F707D65-819C-470A-BB88-A499D5C933E3}"/>
              </a:ext>
            </a:extLst>
          </p:cNvPr>
          <p:cNvSpPr>
            <a:spLocks xmlns:a="http://schemas.openxmlformats.org/drawingml/2006/main" noGrp="1"/>
          </p:cNvSpPr>
          <p:nvPr/>
        </p:nvSpPr>
        <p:spPr>
          <a:xfrm xmlns:a="http://schemas.openxmlformats.org/drawingml/2006/main">
            <a:off x="1200150" y="259080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83D"/>
                </a:solidFill>
                <a:latin typeface="Aptos"/>
                <a:ea typeface="Aptos"/>
                <a:cs typeface="Aptos"/>
              </a:defRPr>
            </a:defPPr>
          </a:lstStyle>
          <a:p xmlns:a="http://schemas.openxmlformats.org/drawingml/2006/main">
            <a:pPr>
              <a:defRPr sz="2100" b="0">
                <a:solidFill>
                  <a:srgbClr val="16283D"/>
                </a:solidFill>
                <a:latin typeface="Aptos"/>
                <a:ea typeface="Aptos"/>
                <a:cs typeface="Aptos"/>
              </a:defRPr>
            </a:pPr>
            <a:r>
              <a:rPr sz="2100" b="0">
                <a:solidFill>
                  <a:srgbClr val="16283D"/>
                </a:solidFill>
                <a:latin typeface="Aptos"/>
                <a:ea typeface="Aptos"/>
                <a:cs typeface="Aptos"/>
              </a:rPr>
              <a:t>The fitted CXL coefficient is 771.070 cycles, with leave-one-out mean absolute error of 39.69%. It supports MLP weighting while leaving substantial prediction error.</a:t>
            </a:r>
          </a:p>
        </p:txBody>
      </p:sp>
      <p:sp>
        <p:nvSpPr>
          <p:cNvPr id="8" name="">
            <a:extLst xmlns:a="http://schemas.openxmlformats.org/drawingml/2006/main">
              <a:ext uri="{FF2B5EF4-FFF2-40B4-BE49-F238E27FC236}">
                <a16:creationId xmlns:a16="http://schemas.microsoft.com/office/drawing/2014/main" id="{9525427A-6537-4A8A-8131-5E9D74489F9A}"/>
              </a:ext>
            </a:extLst>
          </p:cNvPr>
          <p:cNvSpPr>
            <a:spLocks xmlns:a="http://schemas.openxmlformats.org/drawingml/2006/main" noGrp="1"/>
          </p:cNvSpPr>
          <p:nvPr/>
        </p:nvSpPr>
        <p:spPr>
          <a:xfrm xmlns:a="http://schemas.openxmlformats.org/drawingml/2006/main">
            <a:off x="628650" y="371475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6A75"/>
                </a:solidFill>
                <a:latin typeface="Aptos"/>
                <a:ea typeface="Aptos"/>
                <a:cs typeface="Aptos"/>
              </a:defRPr>
            </a:defPPr>
          </a:lstStyle>
          <a:p xmlns:a="http://schemas.openxmlformats.org/drawingml/2006/main">
            <a:pPr>
              <a:defRPr sz="1725" b="1">
                <a:solidFill>
                  <a:srgbClr val="006A75"/>
                </a:solidFill>
                <a:latin typeface="Aptos"/>
                <a:ea typeface="Aptos"/>
                <a:cs typeface="Aptos"/>
              </a:defRPr>
            </a:pPr>
            <a:r>
              <a:rPr sz="1725" b="1">
                <a:solidFill>
                  <a:srgbClr val="006A75"/>
                </a:solidFill>
                <a:latin typeface="Aptos"/>
                <a:ea typeface="Aptos"/>
                <a:cs typeface="Aptos"/>
              </a:rPr>
              <a:t>03</a:t>
            </a:r>
          </a:p>
        </p:txBody>
      </p:sp>
      <p:sp>
        <p:nvSpPr>
          <p:cNvPr id="9" name="">
            <a:extLst xmlns:a="http://schemas.openxmlformats.org/drawingml/2006/main">
              <a:ext uri="{FF2B5EF4-FFF2-40B4-BE49-F238E27FC236}">
                <a16:creationId xmlns:a16="http://schemas.microsoft.com/office/drawing/2014/main" id="{1EAF3EE3-5F45-4035-93E6-67AF51EB567C}"/>
              </a:ext>
            </a:extLst>
          </p:cNvPr>
          <p:cNvSpPr>
            <a:spLocks xmlns:a="http://schemas.openxmlformats.org/drawingml/2006/main" noGrp="1"/>
          </p:cNvSpPr>
          <p:nvPr/>
        </p:nvSpPr>
        <p:spPr>
          <a:xfrm xmlns:a="http://schemas.openxmlformats.org/drawingml/2006/main">
            <a:off x="1200150" y="369570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83D"/>
                </a:solidFill>
                <a:latin typeface="Aptos"/>
                <a:ea typeface="Aptos"/>
                <a:cs typeface="Aptos"/>
              </a:defRPr>
            </a:defPPr>
          </a:lstStyle>
          <a:p xmlns:a="http://schemas.openxmlformats.org/drawingml/2006/main">
            <a:pPr>
              <a:defRPr sz="2100" b="0">
                <a:solidFill>
                  <a:srgbClr val="16283D"/>
                </a:solidFill>
                <a:latin typeface="Aptos"/>
                <a:ea typeface="Aptos"/>
                <a:cs typeface="Aptos"/>
              </a:defRPr>
            </a:pPr>
            <a:r>
              <a:rPr sz="2100" b="0">
                <a:solidFill>
                  <a:srgbClr val="16283D"/>
                </a:solidFill>
                <a:latin typeface="Aptos"/>
                <a:ea typeface="Aptos"/>
                <a:cs typeface="Aptos"/>
              </a:rPr>
              <a:t>A continuous 48M-instruction BC-twitter prefix provides changing overlap. With 0.2 ms windows, PAC-only decay gives a 7.120% natural-policy improvement.</a:t>
            </a:r>
          </a:p>
        </p:txBody>
      </p:sp>
      <p:sp>
        <p:nvSpPr>
          <p:cNvPr id="10" name="">
            <a:extLst xmlns:a="http://schemas.openxmlformats.org/drawingml/2006/main">
              <a:ext uri="{FF2B5EF4-FFF2-40B4-BE49-F238E27FC236}">
                <a16:creationId xmlns:a16="http://schemas.microsoft.com/office/drawing/2014/main" id="{69541F58-3C6D-49D3-95FE-F164D4E1E694}"/>
              </a:ext>
            </a:extLst>
          </p:cNvPr>
          <p:cNvSpPr>
            <a:spLocks xmlns:a="http://schemas.openxmlformats.org/drawingml/2006/main" noGrp="1"/>
          </p:cNvSpPr>
          <p:nvPr/>
        </p:nvSpPr>
        <p:spPr>
          <a:xfrm xmlns:a="http://schemas.openxmlformats.org/drawingml/2006/main">
            <a:off x="628650" y="481965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6A75"/>
                </a:solidFill>
                <a:latin typeface="Aptos"/>
                <a:ea typeface="Aptos"/>
                <a:cs typeface="Aptos"/>
              </a:defRPr>
            </a:defPPr>
          </a:lstStyle>
          <a:p xmlns:a="http://schemas.openxmlformats.org/drawingml/2006/main">
            <a:pPr>
              <a:defRPr sz="1725" b="1">
                <a:solidFill>
                  <a:srgbClr val="006A75"/>
                </a:solidFill>
                <a:latin typeface="Aptos"/>
                <a:ea typeface="Aptos"/>
                <a:cs typeface="Aptos"/>
              </a:defRPr>
            </a:pPr>
            <a:r>
              <a:rPr sz="1725" b="1">
                <a:solidFill>
                  <a:srgbClr val="006A75"/>
                </a:solidFill>
                <a:latin typeface="Aptos"/>
                <a:ea typeface="Aptos"/>
                <a:cs typeface="Aptos"/>
              </a:rPr>
              <a:t>04</a:t>
            </a:r>
          </a:p>
        </p:txBody>
      </p:sp>
      <p:sp>
        <p:nvSpPr>
          <p:cNvPr id="11" name="">
            <a:extLst xmlns:a="http://schemas.openxmlformats.org/drawingml/2006/main">
              <a:ext uri="{FF2B5EF4-FFF2-40B4-BE49-F238E27FC236}">
                <a16:creationId xmlns:a16="http://schemas.microsoft.com/office/drawing/2014/main" id="{E33145EE-14D3-4F3D-B9D8-B51D6DC6880F}"/>
              </a:ext>
            </a:extLst>
          </p:cNvPr>
          <p:cNvSpPr>
            <a:spLocks xmlns:a="http://schemas.openxmlformats.org/drawingml/2006/main" noGrp="1"/>
          </p:cNvSpPr>
          <p:nvPr/>
        </p:nvSpPr>
        <p:spPr>
          <a:xfrm xmlns:a="http://schemas.openxmlformats.org/drawingml/2006/main">
            <a:off x="1200150" y="480060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83D"/>
                </a:solidFill>
                <a:latin typeface="Aptos"/>
                <a:ea typeface="Aptos"/>
                <a:cs typeface="Aptos"/>
              </a:defRPr>
            </a:defPPr>
          </a:lstStyle>
          <a:p xmlns:a="http://schemas.openxmlformats.org/drawingml/2006/main">
            <a:pPr>
              <a:defRPr sz="2100" b="0">
                <a:solidFill>
                  <a:srgbClr val="16283D"/>
                </a:solidFill>
                <a:latin typeface="Aptos"/>
                <a:ea typeface="Aptos"/>
                <a:cs typeface="Aptos"/>
              </a:defRPr>
            </a:pPr>
            <a:r>
              <a:rPr sz="2100" b="0">
                <a:solidFill>
                  <a:srgbClr val="16283D"/>
                </a:solidFill>
                <a:latin typeface="Aptos"/>
                <a:ea typeface="Aptos"/>
                <a:cs typeface="Aptos"/>
              </a:rPr>
              <a:t>When frequency also uses decay, that case drops to 0.031%, with different natural migration counts. Recency and copy overhead explain much of the apparent advantage.</a:t>
            </a:r>
          </a:p>
        </p:txBody>
      </p:sp>
    </p:spTree>
    <p:extLst>
      <p:ext uri="{BB962C8B-B14F-4D97-AF65-F5344CB8AC3E}">
        <p14:creationId xmlns:p14="http://schemas.microsoft.com/office/powerpoint/2010/main" val="1822040497"/>
      </p:ext>
    </p:extLst>
  </p:cSld>
</p:sld>
</file>

<file path=ppt/slides/slide18.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8F9729C-E5F7-46B2-882F-B34040E88A0C}"/>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6283D"/>
                </a:solidFill>
                <a:latin typeface="Aptos"/>
                <a:ea typeface="Aptos"/>
                <a:cs typeface="Aptos"/>
              </a:defRPr>
            </a:defPPr>
          </a:lstStyle>
          <a:p xmlns:a="http://schemas.openxmlformats.org/drawingml/2006/main">
            <a:pPr>
              <a:defRPr sz="3225" b="1">
                <a:solidFill>
                  <a:srgbClr val="16283D"/>
                </a:solidFill>
                <a:latin typeface="Aptos"/>
                <a:ea typeface="Aptos"/>
                <a:cs typeface="Aptos"/>
              </a:defRPr>
            </a:pPr>
            <a:r>
              <a:rPr sz="3225" b="1">
                <a:solidFill>
                  <a:srgbClr val="16283D"/>
                </a:solidFill>
                <a:latin typeface="Aptos"/>
                <a:ea typeface="Aptos"/>
                <a:cs typeface="Aptos"/>
              </a:rPr>
              <a:t>High-MLP synthetic workload design</a:t>
            </a:r>
          </a:p>
        </p:txBody>
      </p:sp>
      <p:sp>
        <p:nvSpPr>
          <p:cNvPr id="2" name="">
            <a:extLst xmlns:a="http://schemas.openxmlformats.org/drawingml/2006/main">
              <a:ext uri="{FF2B5EF4-FFF2-40B4-BE49-F238E27FC236}">
                <a16:creationId xmlns:a16="http://schemas.microsoft.com/office/drawing/2014/main" id="{F9EB9EBE-B4F8-4991-B836-83091CC3AEFA}"/>
              </a:ext>
            </a:extLst>
          </p:cNvPr>
          <p:cNvSpPr>
            <a:spLocks xmlns:a="http://schemas.openxmlformats.org/drawingml/2006/main" noGrp="1"/>
          </p:cNvSpPr>
          <p:nvPr/>
        </p:nvSpPr>
        <p:spPr>
          <a:xfrm xmlns:a="http://schemas.openxmlformats.org/drawingml/2006/main">
            <a:off x="11144250" y="63341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276"/>
                </a:solidFill>
                <a:latin typeface="Aptos"/>
                <a:ea typeface="Aptos"/>
                <a:cs typeface="Aptos"/>
              </a:defRPr>
            </a:defPPr>
          </a:lstStyle>
          <a:p xmlns:a="http://schemas.openxmlformats.org/drawingml/2006/main">
            <a:pPr>
              <a:defRPr sz="1200" b="0">
                <a:solidFill>
                  <a:srgbClr val="526276"/>
                </a:solidFill>
                <a:latin typeface="Aptos"/>
                <a:ea typeface="Aptos"/>
                <a:cs typeface="Aptos"/>
              </a:defRPr>
            </a:pPr>
            <a:r>
              <a:rPr sz="1200" b="0">
                <a:solidFill>
                  <a:srgbClr val="526276"/>
                </a:solidFill>
                <a:latin typeface="Aptos"/>
                <a:ea typeface="Aptos"/>
                <a:cs typeface="Aptos"/>
              </a:rPr>
              <a:t>18</a:t>
            </a:r>
          </a:p>
        </p:txBody>
      </p:sp>
      <p:sp>
        <p:nvSpPr>
          <p:cNvPr id="3" name="">
            <a:extLst xmlns:a="http://schemas.openxmlformats.org/drawingml/2006/main">
              <a:ext uri="{FF2B5EF4-FFF2-40B4-BE49-F238E27FC236}">
                <a16:creationId xmlns:a16="http://schemas.microsoft.com/office/drawing/2014/main" id="{8CC1E87D-96DF-4DDA-A8D5-DE08A9C368F8}"/>
              </a:ext>
            </a:extLst>
          </p:cNvPr>
          <p:cNvSpPr>
            <a:spLocks xmlns:a="http://schemas.openxmlformats.org/drawingml/2006/main" noGrp="1"/>
          </p:cNvSpPr>
          <p:nvPr/>
        </p:nvSpPr>
        <p:spPr>
          <a:xfrm xmlns:a="http://schemas.openxmlformats.org/drawingml/2006/main">
            <a:off x="609600" y="6315075"/>
            <a:ext cx="10287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276"/>
                </a:solidFill>
                <a:latin typeface="Aptos"/>
                <a:ea typeface="Aptos"/>
                <a:cs typeface="Aptos"/>
              </a:defRPr>
            </a:defPPr>
          </a:lstStyle>
          <a:p xmlns:a="http://schemas.openxmlformats.org/drawingml/2006/main">
            <a:pPr>
              <a:defRPr sz="1125" b="0">
                <a:solidFill>
                  <a:srgbClr val="526276"/>
                </a:solidFill>
                <a:latin typeface="Aptos"/>
                <a:ea typeface="Aptos"/>
                <a:cs typeface="Aptos"/>
              </a:defRPr>
            </a:pPr>
            <a:r>
              <a:rPr sz="1125" b="0">
                <a:solidFill>
                  <a:srgbClr val="526276"/>
                </a:solidFill>
                <a:latin typeface="Aptos"/>
                <a:ea typeface="Aptos"/>
                <a:cs typeface="Aptos"/>
              </a:rPr>
              <a:t>Source: SYNTHETIC_STREAMS.md</a:t>
            </a:r>
          </a:p>
        </p:txBody>
      </p:sp>
      <p:sp>
        <p:nvSpPr>
          <p:cNvPr id="4" name="">
            <a:extLst xmlns:a="http://schemas.openxmlformats.org/drawingml/2006/main">
              <a:ext uri="{FF2B5EF4-FFF2-40B4-BE49-F238E27FC236}">
                <a16:creationId xmlns:a16="http://schemas.microsoft.com/office/drawing/2014/main" id="{7CC387B6-114B-4A1B-A167-17AEFEE5F548}"/>
              </a:ext>
            </a:extLst>
          </p:cNvPr>
          <p:cNvSpPr>
            <a:spLocks xmlns:a="http://schemas.openxmlformats.org/drawingml/2006/main" noGrp="1"/>
          </p:cNvSpPr>
          <p:nvPr/>
        </p:nvSpPr>
        <p:spPr>
          <a:xfrm xmlns:a="http://schemas.openxmlformats.org/drawingml/2006/main">
            <a:off x="628650" y="150495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6A75"/>
                </a:solidFill>
                <a:latin typeface="Aptos"/>
                <a:ea typeface="Aptos"/>
                <a:cs typeface="Aptos"/>
              </a:defRPr>
            </a:defPPr>
          </a:lstStyle>
          <a:p xmlns:a="http://schemas.openxmlformats.org/drawingml/2006/main">
            <a:pPr>
              <a:defRPr sz="1725" b="1">
                <a:solidFill>
                  <a:srgbClr val="006A75"/>
                </a:solidFill>
                <a:latin typeface="Aptos"/>
                <a:ea typeface="Aptos"/>
                <a:cs typeface="Aptos"/>
              </a:defRPr>
            </a:pPr>
            <a:r>
              <a:rPr sz="1725" b="1">
                <a:solidFill>
                  <a:srgbClr val="006A75"/>
                </a:solidFill>
                <a:latin typeface="Aptos"/>
                <a:ea typeface="Aptos"/>
                <a:cs typeface="Aptos"/>
              </a:rPr>
              <a:t>01</a:t>
            </a:r>
          </a:p>
        </p:txBody>
      </p:sp>
      <p:sp>
        <p:nvSpPr>
          <p:cNvPr id="5" name="">
            <a:extLst xmlns:a="http://schemas.openxmlformats.org/drawingml/2006/main">
              <a:ext uri="{FF2B5EF4-FFF2-40B4-BE49-F238E27FC236}">
                <a16:creationId xmlns:a16="http://schemas.microsoft.com/office/drawing/2014/main" id="{679C3A01-DB9F-465D-B19E-63E547EC4BDD}"/>
              </a:ext>
            </a:extLst>
          </p:cNvPr>
          <p:cNvSpPr>
            <a:spLocks xmlns:a="http://schemas.openxmlformats.org/drawingml/2006/main" noGrp="1"/>
          </p:cNvSpPr>
          <p:nvPr/>
        </p:nvSpPr>
        <p:spPr>
          <a:xfrm xmlns:a="http://schemas.openxmlformats.org/drawingml/2006/main">
            <a:off x="1200150" y="148590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83D"/>
                </a:solidFill>
                <a:latin typeface="Aptos"/>
                <a:ea typeface="Aptos"/>
                <a:cs typeface="Aptos"/>
              </a:defRPr>
            </a:defPPr>
          </a:lstStyle>
          <a:p xmlns:a="http://schemas.openxmlformats.org/drawingml/2006/main">
            <a:pPr>
              <a:defRPr sz="2100" b="0">
                <a:solidFill>
                  <a:srgbClr val="16283D"/>
                </a:solidFill>
                <a:latin typeface="Aptos"/>
                <a:ea typeface="Aptos"/>
                <a:cs typeface="Aptos"/>
              </a:defRPr>
            </a:pPr>
            <a:r>
              <a:rPr sz="2100" b="0">
                <a:solidFill>
                  <a:srgbClr val="16283D"/>
                </a:solidFill>
                <a:latin typeface="Aptos"/>
                <a:ea typeface="Aptos"/>
                <a:cs typeface="Aptos"/>
              </a:rPr>
              <a:t>The active set contains a 4 MiB serial pointer-chain group and a 4 MiB independent-load group. The independent group has exactly four times as many load misses.</a:t>
            </a:r>
          </a:p>
        </p:txBody>
      </p:sp>
      <p:sp>
        <p:nvSpPr>
          <p:cNvPr id="6" name="">
            <a:extLst xmlns:a="http://schemas.openxmlformats.org/drawingml/2006/main">
              <a:ext uri="{FF2B5EF4-FFF2-40B4-BE49-F238E27FC236}">
                <a16:creationId xmlns:a16="http://schemas.microsoft.com/office/drawing/2014/main" id="{426E079E-64BF-4122-BC6F-C7E84ACA86CD}"/>
              </a:ext>
            </a:extLst>
          </p:cNvPr>
          <p:cNvSpPr>
            <a:spLocks xmlns:a="http://schemas.openxmlformats.org/drawingml/2006/main" noGrp="1"/>
          </p:cNvSpPr>
          <p:nvPr/>
        </p:nvSpPr>
        <p:spPr>
          <a:xfrm xmlns:a="http://schemas.openxmlformats.org/drawingml/2006/main">
            <a:off x="628650" y="260985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6A75"/>
                </a:solidFill>
                <a:latin typeface="Aptos"/>
                <a:ea typeface="Aptos"/>
                <a:cs typeface="Aptos"/>
              </a:defRPr>
            </a:defPPr>
          </a:lstStyle>
          <a:p xmlns:a="http://schemas.openxmlformats.org/drawingml/2006/main">
            <a:pPr>
              <a:defRPr sz="1725" b="1">
                <a:solidFill>
                  <a:srgbClr val="006A75"/>
                </a:solidFill>
                <a:latin typeface="Aptos"/>
                <a:ea typeface="Aptos"/>
                <a:cs typeface="Aptos"/>
              </a:defRPr>
            </a:pPr>
            <a:r>
              <a:rPr sz="1725" b="1">
                <a:solidFill>
                  <a:srgbClr val="006A75"/>
                </a:solidFill>
                <a:latin typeface="Aptos"/>
                <a:ea typeface="Aptos"/>
                <a:cs typeface="Aptos"/>
              </a:rPr>
              <a:t>02</a:t>
            </a:r>
          </a:p>
        </p:txBody>
      </p:sp>
      <p:sp>
        <p:nvSpPr>
          <p:cNvPr id="7" name="">
            <a:extLst xmlns:a="http://schemas.openxmlformats.org/drawingml/2006/main">
              <a:ext uri="{FF2B5EF4-FFF2-40B4-BE49-F238E27FC236}">
                <a16:creationId xmlns:a16="http://schemas.microsoft.com/office/drawing/2014/main" id="{6DE5975F-4DF5-414F-904E-DFEB9059617D}"/>
              </a:ext>
            </a:extLst>
          </p:cNvPr>
          <p:cNvSpPr>
            <a:spLocks xmlns:a="http://schemas.openxmlformats.org/drawingml/2006/main" noGrp="1"/>
          </p:cNvSpPr>
          <p:nvPr/>
        </p:nvSpPr>
        <p:spPr>
          <a:xfrm xmlns:a="http://schemas.openxmlformats.org/drawingml/2006/main">
            <a:off x="1200150" y="259080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83D"/>
                </a:solidFill>
                <a:latin typeface="Aptos"/>
                <a:ea typeface="Aptos"/>
                <a:cs typeface="Aptos"/>
              </a:defRPr>
            </a:defPPr>
          </a:lstStyle>
          <a:p xmlns:a="http://schemas.openxmlformats.org/drawingml/2006/main">
            <a:pPr>
              <a:defRPr sz="2100" b="0">
                <a:solidFill>
                  <a:srgbClr val="16283D"/>
                </a:solidFill>
                <a:latin typeface="Aptos"/>
                <a:ea typeface="Aptos"/>
                <a:cs typeface="Aptos"/>
              </a:defRPr>
            </a:pPr>
            <a:r>
              <a:rPr sz="2100" b="0">
                <a:solidFill>
                  <a:srgbClr val="16283D"/>
                </a:solidFill>
                <a:latin typeface="Aptos"/>
                <a:ea typeface="Aptos"/>
                <a:cs typeface="Aptos"/>
              </a:rPr>
              <a:t>DRAM capacity is 4 MiB. Both policies start with the same cold warmup pages, so the active groups initially reside in CXL. The workload alternates both phases for 12 rounds.</a:t>
            </a:r>
          </a:p>
        </p:txBody>
      </p:sp>
      <p:sp>
        <p:nvSpPr>
          <p:cNvPr id="8" name="">
            <a:extLst xmlns:a="http://schemas.openxmlformats.org/drawingml/2006/main">
              <a:ext uri="{FF2B5EF4-FFF2-40B4-BE49-F238E27FC236}">
                <a16:creationId xmlns:a16="http://schemas.microsoft.com/office/drawing/2014/main" id="{27556535-4D28-42C4-A30B-A001EEC5F28F}"/>
              </a:ext>
            </a:extLst>
          </p:cNvPr>
          <p:cNvSpPr>
            <a:spLocks xmlns:a="http://schemas.openxmlformats.org/drawingml/2006/main" noGrp="1"/>
          </p:cNvSpPr>
          <p:nvPr/>
        </p:nvSpPr>
        <p:spPr>
          <a:xfrm xmlns:a="http://schemas.openxmlformats.org/drawingml/2006/main">
            <a:off x="628650" y="371475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6A75"/>
                </a:solidFill>
                <a:latin typeface="Aptos"/>
                <a:ea typeface="Aptos"/>
                <a:cs typeface="Aptos"/>
              </a:defRPr>
            </a:defPPr>
          </a:lstStyle>
          <a:p xmlns:a="http://schemas.openxmlformats.org/drawingml/2006/main">
            <a:pPr>
              <a:defRPr sz="1725" b="1">
                <a:solidFill>
                  <a:srgbClr val="006A75"/>
                </a:solidFill>
                <a:latin typeface="Aptos"/>
                <a:ea typeface="Aptos"/>
                <a:cs typeface="Aptos"/>
              </a:defRPr>
            </a:pPr>
            <a:r>
              <a:rPr sz="1725" b="1">
                <a:solidFill>
                  <a:srgbClr val="006A75"/>
                </a:solidFill>
                <a:latin typeface="Aptos"/>
                <a:ea typeface="Aptos"/>
                <a:cs typeface="Aptos"/>
              </a:rPr>
              <a:t>03</a:t>
            </a:r>
          </a:p>
        </p:txBody>
      </p:sp>
      <p:sp>
        <p:nvSpPr>
          <p:cNvPr id="9" name="">
            <a:extLst xmlns:a="http://schemas.openxmlformats.org/drawingml/2006/main">
              <a:ext uri="{FF2B5EF4-FFF2-40B4-BE49-F238E27FC236}">
                <a16:creationId xmlns:a16="http://schemas.microsoft.com/office/drawing/2014/main" id="{7A66363F-7D5F-4D1B-8D85-41DBFAC310E8}"/>
              </a:ext>
            </a:extLst>
          </p:cNvPr>
          <p:cNvSpPr>
            <a:spLocks xmlns:a="http://schemas.openxmlformats.org/drawingml/2006/main" noGrp="1"/>
          </p:cNvSpPr>
          <p:nvPr/>
        </p:nvSpPr>
        <p:spPr>
          <a:xfrm xmlns:a="http://schemas.openxmlformats.org/drawingml/2006/main">
            <a:off x="1200150" y="369570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83D"/>
                </a:solidFill>
                <a:latin typeface="Aptos"/>
                <a:ea typeface="Aptos"/>
                <a:cs typeface="Aptos"/>
              </a:defRPr>
            </a:defPPr>
          </a:lstStyle>
          <a:p xmlns:a="http://schemas.openxmlformats.org/drawingml/2006/main">
            <a:pPr>
              <a:defRPr sz="2100" b="0">
                <a:solidFill>
                  <a:srgbClr val="16283D"/>
                </a:solidFill>
                <a:latin typeface="Aptos"/>
                <a:ea typeface="Aptos"/>
                <a:cs typeface="Aptos"/>
              </a:defRPr>
            </a:pPr>
            <a:r>
              <a:rPr sz="2100" b="0">
                <a:solidFill>
                  <a:srgbClr val="16283D"/>
                </a:solidFill>
                <a:latin typeface="Aptos"/>
                <a:ea typeface="Aptos"/>
                <a:cs typeface="Aptos"/>
              </a:rPr>
              <a:t>Independent batch width varies across 1, 2, 4, 8 and 16. The main sequence starts with the hot group, and a separate MLP-16 case reverses phase order.</a:t>
            </a:r>
          </a:p>
        </p:txBody>
      </p:sp>
      <p:sp>
        <p:nvSpPr>
          <p:cNvPr id="10" name="">
            <a:extLst xmlns:a="http://schemas.openxmlformats.org/drawingml/2006/main">
              <a:ext uri="{FF2B5EF4-FFF2-40B4-BE49-F238E27FC236}">
                <a16:creationId xmlns:a16="http://schemas.microsoft.com/office/drawing/2014/main" id="{49CAE2AC-3EC9-40B8-8476-CED6951E63AC}"/>
              </a:ext>
            </a:extLst>
          </p:cNvPr>
          <p:cNvSpPr>
            <a:spLocks xmlns:a="http://schemas.openxmlformats.org/drawingml/2006/main" noGrp="1"/>
          </p:cNvSpPr>
          <p:nvPr/>
        </p:nvSpPr>
        <p:spPr>
          <a:xfrm xmlns:a="http://schemas.openxmlformats.org/drawingml/2006/main">
            <a:off x="628650" y="481965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6A75"/>
                </a:solidFill>
                <a:latin typeface="Aptos"/>
                <a:ea typeface="Aptos"/>
                <a:cs typeface="Aptos"/>
              </a:defRPr>
            </a:defPPr>
          </a:lstStyle>
          <a:p xmlns:a="http://schemas.openxmlformats.org/drawingml/2006/main">
            <a:pPr>
              <a:defRPr sz="1725" b="1">
                <a:solidFill>
                  <a:srgbClr val="006A75"/>
                </a:solidFill>
                <a:latin typeface="Aptos"/>
                <a:ea typeface="Aptos"/>
                <a:cs typeface="Aptos"/>
              </a:defRPr>
            </a:pPr>
            <a:r>
              <a:rPr sz="1725" b="1">
                <a:solidFill>
                  <a:srgbClr val="006A75"/>
                </a:solidFill>
                <a:latin typeface="Aptos"/>
                <a:ea typeface="Aptos"/>
                <a:cs typeface="Aptos"/>
              </a:rPr>
              <a:t>04</a:t>
            </a:r>
          </a:p>
        </p:txBody>
      </p:sp>
      <p:sp>
        <p:nvSpPr>
          <p:cNvPr id="11" name="">
            <a:extLst xmlns:a="http://schemas.openxmlformats.org/drawingml/2006/main">
              <a:ext uri="{FF2B5EF4-FFF2-40B4-BE49-F238E27FC236}">
                <a16:creationId xmlns:a16="http://schemas.microsoft.com/office/drawing/2014/main" id="{A7C5FF87-813F-43D3-9D9B-876B4550BD55}"/>
              </a:ext>
            </a:extLst>
          </p:cNvPr>
          <p:cNvSpPr>
            <a:spLocks xmlns:a="http://schemas.openxmlformats.org/drawingml/2006/main" noGrp="1"/>
          </p:cNvSpPr>
          <p:nvPr/>
        </p:nvSpPr>
        <p:spPr>
          <a:xfrm xmlns:a="http://schemas.openxmlformats.org/drawingml/2006/main">
            <a:off x="1200150" y="480060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83D"/>
                </a:solidFill>
                <a:latin typeface="Aptos"/>
                <a:ea typeface="Aptos"/>
                <a:cs typeface="Aptos"/>
              </a:defRPr>
            </a:defPPr>
          </a:lstStyle>
          <a:p xmlns:a="http://schemas.openxmlformats.org/drawingml/2006/main">
            <a:pPr>
              <a:defRPr sz="2100" b="0">
                <a:solidFill>
                  <a:srgbClr val="16283D"/>
                </a:solidFill>
                <a:latin typeface="Aptos"/>
                <a:ea typeface="Aptos"/>
                <a:cs typeface="Aptos"/>
              </a:defRPr>
            </a:pPr>
            <a:r>
              <a:rPr sz="2100" b="0">
                <a:solidFill>
                  <a:srgbClr val="16283D"/>
                </a:solidFill>
                <a:latin typeface="Aptos"/>
                <a:ea typeface="Aptos"/>
                <a:cs typeface="Aptos"/>
              </a:rPr>
              <a:t>The model uses 90/190 ns DRAM/CXL service, 20 ms observations, 128-page batches and 1,024 total promotions. Both policies execute 25,313,280 load misses per case.</a:t>
            </a:r>
          </a:p>
        </p:txBody>
      </p:sp>
    </p:spTree>
    <p:extLst>
      <p:ext uri="{BB962C8B-B14F-4D97-AF65-F5344CB8AC3E}">
        <p14:creationId xmlns:p14="http://schemas.microsoft.com/office/powerpoint/2010/main" val="1322031971"/>
      </p:ext>
    </p:extLst>
  </p:cSld>
</p:sld>
</file>

<file path=ppt/slides/slide19.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2899FF2-935C-4F98-9C59-2C7925E31C12}"/>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6283D"/>
                </a:solidFill>
                <a:latin typeface="Aptos"/>
                <a:ea typeface="Aptos"/>
                <a:cs typeface="Aptos"/>
              </a:defRPr>
            </a:defPPr>
          </a:lstStyle>
          <a:p xmlns:a="http://schemas.openxmlformats.org/drawingml/2006/main">
            <a:pPr>
              <a:defRPr sz="3225" b="1">
                <a:solidFill>
                  <a:srgbClr val="16283D"/>
                </a:solidFill>
                <a:latin typeface="Aptos"/>
                <a:ea typeface="Aptos"/>
                <a:cs typeface="Aptos"/>
              </a:defRPr>
            </a:pPr>
            <a:r>
              <a:rPr sz="3225" b="1">
                <a:solidFill>
                  <a:srgbClr val="16283D"/>
                </a:solidFill>
                <a:latin typeface="Aptos"/>
                <a:ea typeface="Aptos"/>
                <a:cs typeface="Aptos"/>
              </a:rPr>
              <a:t>Runtime reduction rises in the MLP-16 case</a:t>
            </a:r>
          </a:p>
        </p:txBody>
      </p:sp>
      <p:sp>
        <p:nvSpPr>
          <p:cNvPr id="2" name="">
            <a:extLst xmlns:a="http://schemas.openxmlformats.org/drawingml/2006/main">
              <a:ext uri="{FF2B5EF4-FFF2-40B4-BE49-F238E27FC236}">
                <a16:creationId xmlns:a16="http://schemas.microsoft.com/office/drawing/2014/main" id="{375F68AA-484B-432F-8669-7D6DBB02B138}"/>
              </a:ext>
            </a:extLst>
          </p:cNvPr>
          <p:cNvSpPr>
            <a:spLocks xmlns:a="http://schemas.openxmlformats.org/drawingml/2006/main" noGrp="1"/>
          </p:cNvSpPr>
          <p:nvPr/>
        </p:nvSpPr>
        <p:spPr>
          <a:xfrm xmlns:a="http://schemas.openxmlformats.org/drawingml/2006/main">
            <a:off x="11144250" y="63341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276"/>
                </a:solidFill>
                <a:latin typeface="Aptos"/>
                <a:ea typeface="Aptos"/>
                <a:cs typeface="Aptos"/>
              </a:defRPr>
            </a:defPPr>
          </a:lstStyle>
          <a:p xmlns:a="http://schemas.openxmlformats.org/drawingml/2006/main">
            <a:pPr>
              <a:defRPr sz="1200" b="0">
                <a:solidFill>
                  <a:srgbClr val="526276"/>
                </a:solidFill>
                <a:latin typeface="Aptos"/>
                <a:ea typeface="Aptos"/>
                <a:cs typeface="Aptos"/>
              </a:defRPr>
            </a:pPr>
            <a:r>
              <a:rPr sz="1200" b="0">
                <a:solidFill>
                  <a:srgbClr val="526276"/>
                </a:solidFill>
                <a:latin typeface="Aptos"/>
                <a:ea typeface="Aptos"/>
                <a:cs typeface="Aptos"/>
              </a:rPr>
              <a:t>19</a:t>
            </a:r>
          </a:p>
        </p:txBody>
      </p:sp>
      <p:sp>
        <p:nvSpPr>
          <p:cNvPr id="3" name="">
            <a:extLst xmlns:a="http://schemas.openxmlformats.org/drawingml/2006/main">
              <a:ext uri="{FF2B5EF4-FFF2-40B4-BE49-F238E27FC236}">
                <a16:creationId xmlns:a16="http://schemas.microsoft.com/office/drawing/2014/main" id="{246D7841-4CB4-4EF7-972E-3EBDD2634199}"/>
              </a:ext>
            </a:extLst>
          </p:cNvPr>
          <p:cNvSpPr>
            <a:spLocks xmlns:a="http://schemas.openxmlformats.org/drawingml/2006/main" noGrp="1"/>
          </p:cNvSpPr>
          <p:nvPr/>
        </p:nvSpPr>
        <p:spPr>
          <a:xfrm xmlns:a="http://schemas.openxmlformats.org/drawingml/2006/main">
            <a:off x="609600" y="6315075"/>
            <a:ext cx="10287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276"/>
                </a:solidFill>
                <a:latin typeface="Aptos"/>
                <a:ea typeface="Aptos"/>
                <a:cs typeface="Aptos"/>
              </a:defRPr>
            </a:defPPr>
          </a:lstStyle>
          <a:p xmlns:a="http://schemas.openxmlformats.org/drawingml/2006/main">
            <a:pPr>
              <a:defRPr sz="1125" b="0">
                <a:solidFill>
                  <a:srgbClr val="526276"/>
                </a:solidFill>
                <a:latin typeface="Aptos"/>
                <a:ea typeface="Aptos"/>
                <a:cs typeface="Aptos"/>
              </a:defRPr>
            </a:pPr>
            <a:r>
              <a:rPr sz="1125" b="0">
                <a:solidFill>
                  <a:srgbClr val="526276"/>
                </a:solidFill>
                <a:latin typeface="Aptos"/>
                <a:ea typeface="Aptos"/>
                <a:cs typeface="Aptos"/>
              </a:rPr>
              <a:t>Source: results/synthetic_streams/REPORT.md</a:t>
            </a:r>
          </a:p>
        </p:txBody>
      </p:sp>
      <p:graphicFrame>
        <p:nvGraphicFramePr>
          <p:cNvPr id="4" name="Chart">
            <a:extLst xmlns:a="http://schemas.openxmlformats.org/drawingml/2006/main">
              <a:ext uri="{FF2B5EF4-FFF2-40B4-BE49-F238E27FC236}">
                <a16:creationId xmlns:a16="http://schemas.microsoft.com/office/drawing/2014/main" id="{A4FA6C60-933E-4507-9D55-FB0147C79239}"/>
              </a:ext>
            </a:extLst>
          </p:cNvPr>
          <p:cNvGraphicFramePr/>
          <p:nvPr/>
        </p:nvGraphicFramePr>
        <p:xfrm>
          <a:off xmlns:a="http://schemas.openxmlformats.org/drawingml/2006/main" x="609600" y="1619250"/>
          <a:ext xmlns:a="http://schemas.openxmlformats.org/drawingml/2006/main" cx="10972800" cy="3429000"/>
        </p:xfrm>
        <a:graphic xmlns:a="http://schemas.openxmlformats.org/drawingml/2006/main">
          <a:graphicData uri="http://schemas.openxmlformats.org/drawingml/2006/chart">
            <c:chart xmlns:r="http://schemas.openxmlformats.org/officeDocument/2006/relationships" xmlns:c="http://schemas.openxmlformats.org/drawingml/2006/chart" r:id="R65ac8862761642dd"/>
          </a:graphicData>
        </a:graphic>
      </p:graphicFrame>
      <p:sp>
        <p:nvSpPr>
          <p:cNvPr id="5" name="">
            <a:extLst xmlns:a="http://schemas.openxmlformats.org/drawingml/2006/main">
              <a:ext uri="{FF2B5EF4-FFF2-40B4-BE49-F238E27FC236}">
                <a16:creationId xmlns:a16="http://schemas.microsoft.com/office/drawing/2014/main" id="{FEF147E2-AF53-4DEA-99C1-B4EAEAD96E6B}"/>
              </a:ext>
            </a:extLst>
          </p:cNvPr>
          <p:cNvSpPr>
            <a:spLocks xmlns:a="http://schemas.openxmlformats.org/drawingml/2006/main" noGrp="1"/>
          </p:cNvSpPr>
          <p:nvPr/>
        </p:nvSpPr>
        <p:spPr>
          <a:xfrm xmlns:a="http://schemas.openxmlformats.org/drawingml/2006/main">
            <a:off x="628650" y="13239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276"/>
                </a:solidFill>
                <a:latin typeface="Aptos"/>
                <a:ea typeface="Aptos"/>
                <a:cs typeface="Aptos"/>
              </a:defRPr>
            </a:defPPr>
          </a:lstStyle>
          <a:p xmlns:a="http://schemas.openxmlformats.org/drawingml/2006/main">
            <a:pPr>
              <a:defRPr sz="1650" b="0">
                <a:solidFill>
                  <a:srgbClr val="526276"/>
                </a:solidFill>
                <a:latin typeface="Aptos"/>
                <a:ea typeface="Aptos"/>
                <a:cs typeface="Aptos"/>
              </a:defRPr>
            </a:pPr>
            <a:r>
              <a:rPr sz="1650" b="0">
                <a:solidFill>
                  <a:srgbClr val="526276"/>
                </a:solidFill>
                <a:latin typeface="Aptos"/>
                <a:ea typeface="Aptos"/>
                <a:cs typeface="Aptos"/>
              </a:rPr>
              <a:t>PAC reduction versus frequency (%)</a:t>
            </a:r>
          </a:p>
        </p:txBody>
      </p:sp>
      <p:sp>
        <p:nvSpPr>
          <p:cNvPr id="6" name="">
            <a:extLst xmlns:a="http://schemas.openxmlformats.org/drawingml/2006/main">
              <a:ext uri="{FF2B5EF4-FFF2-40B4-BE49-F238E27FC236}">
                <a16:creationId xmlns:a16="http://schemas.microsoft.com/office/drawing/2014/main" id="{645C9B31-6C00-41C2-BC88-A8AEBA006D0A}"/>
              </a:ext>
            </a:extLst>
          </p:cNvPr>
          <p:cNvSpPr>
            <a:spLocks xmlns:a="http://schemas.openxmlformats.org/drawingml/2006/main" noGrp="1"/>
          </p:cNvSpPr>
          <p:nvPr/>
        </p:nvSpPr>
        <p:spPr>
          <a:xfrm xmlns:a="http://schemas.openxmlformats.org/drawingml/2006/main">
            <a:off x="609600" y="52673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6283D"/>
                </a:solidFill>
                <a:latin typeface="Aptos"/>
                <a:ea typeface="Aptos"/>
                <a:cs typeface="Aptos"/>
              </a:defRPr>
            </a:defPPr>
          </a:lstStyle>
          <a:p xmlns:a="http://schemas.openxmlformats.org/drawingml/2006/main">
            <a:pPr>
              <a:defRPr sz="2175" b="0">
                <a:solidFill>
                  <a:srgbClr val="16283D"/>
                </a:solidFill>
                <a:latin typeface="Aptos"/>
                <a:ea typeface="Aptos"/>
                <a:cs typeface="Aptos"/>
              </a:defRPr>
            </a:pPr>
            <a:r>
              <a:rPr sz="2175" b="0">
                <a:solidFill>
                  <a:srgbClr val="16283D"/>
                </a:solidFill>
                <a:latin typeface="Aptos"/>
                <a:ea typeface="Aptos"/>
                <a:cs typeface="Aptos"/>
              </a:rPr>
              <a:t>The MLP-1 control ties exactly. Widths 2 and 4 also tie under these policy settings. MLP 8 gives 4.90%, while MLP 16 gives 23.95%.</a:t>
            </a:r>
          </a:p>
        </p:txBody>
      </p:sp>
    </p:spTree>
    <p:extLst>
      <p:ext uri="{BB962C8B-B14F-4D97-AF65-F5344CB8AC3E}">
        <p14:creationId xmlns:p14="http://schemas.microsoft.com/office/powerpoint/2010/main" val="1801008017"/>
      </p:ext>
    </p:extLst>
  </p:cSld>
</p:sld>
</file>

<file path=ppt/slides/slide20.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6F07570-3684-4660-8277-B226B2D7008F}"/>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6283D"/>
                </a:solidFill>
                <a:latin typeface="Aptos"/>
                <a:ea typeface="Aptos"/>
                <a:cs typeface="Aptos"/>
              </a:defRPr>
            </a:defPPr>
          </a:lstStyle>
          <a:p xmlns:a="http://schemas.openxmlformats.org/drawingml/2006/main">
            <a:pPr>
              <a:defRPr sz="3225" b="1">
                <a:solidFill>
                  <a:srgbClr val="16283D"/>
                </a:solidFill>
                <a:latin typeface="Aptos"/>
                <a:ea typeface="Aptos"/>
                <a:cs typeface="Aptos"/>
              </a:defRPr>
            </a:pPr>
            <a:r>
              <a:rPr sz="3225" b="1">
                <a:solidFill>
                  <a:srgbClr val="16283D"/>
                </a:solidFill>
                <a:latin typeface="Aptos"/>
                <a:ea typeface="Aptos"/>
                <a:cs typeface="Aptos"/>
              </a:rPr>
              <a:t>The 23.95% result with equal actual copying</a:t>
            </a:r>
          </a:p>
        </p:txBody>
      </p:sp>
      <p:sp>
        <p:nvSpPr>
          <p:cNvPr id="2" name="">
            <a:extLst xmlns:a="http://schemas.openxmlformats.org/drawingml/2006/main">
              <a:ext uri="{FF2B5EF4-FFF2-40B4-BE49-F238E27FC236}">
                <a16:creationId xmlns:a16="http://schemas.microsoft.com/office/drawing/2014/main" id="{C9878F48-DCC9-449A-9E04-BD3B7B99FC2A}"/>
              </a:ext>
            </a:extLst>
          </p:cNvPr>
          <p:cNvSpPr>
            <a:spLocks xmlns:a="http://schemas.openxmlformats.org/drawingml/2006/main" noGrp="1"/>
          </p:cNvSpPr>
          <p:nvPr/>
        </p:nvSpPr>
        <p:spPr>
          <a:xfrm xmlns:a="http://schemas.openxmlformats.org/drawingml/2006/main">
            <a:off x="11144250" y="63341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276"/>
                </a:solidFill>
                <a:latin typeface="Aptos"/>
                <a:ea typeface="Aptos"/>
                <a:cs typeface="Aptos"/>
              </a:defRPr>
            </a:defPPr>
          </a:lstStyle>
          <a:p xmlns:a="http://schemas.openxmlformats.org/drawingml/2006/main">
            <a:pPr>
              <a:defRPr sz="1200" b="0">
                <a:solidFill>
                  <a:srgbClr val="526276"/>
                </a:solidFill>
                <a:latin typeface="Aptos"/>
                <a:ea typeface="Aptos"/>
                <a:cs typeface="Aptos"/>
              </a:defRPr>
            </a:pPr>
            <a:r>
              <a:rPr sz="1200" b="0">
                <a:solidFill>
                  <a:srgbClr val="526276"/>
                </a:solidFill>
                <a:latin typeface="Aptos"/>
                <a:ea typeface="Aptos"/>
                <a:cs typeface="Aptos"/>
              </a:rPr>
              <a:t>20</a:t>
            </a:r>
          </a:p>
        </p:txBody>
      </p:sp>
      <p:sp>
        <p:nvSpPr>
          <p:cNvPr id="3" name="">
            <a:extLst xmlns:a="http://schemas.openxmlformats.org/drawingml/2006/main">
              <a:ext uri="{FF2B5EF4-FFF2-40B4-BE49-F238E27FC236}">
                <a16:creationId xmlns:a16="http://schemas.microsoft.com/office/drawing/2014/main" id="{3489705F-AA48-4487-8FD4-24E734B6EC77}"/>
              </a:ext>
            </a:extLst>
          </p:cNvPr>
          <p:cNvSpPr>
            <a:spLocks xmlns:a="http://schemas.openxmlformats.org/drawingml/2006/main" noGrp="1"/>
          </p:cNvSpPr>
          <p:nvPr/>
        </p:nvSpPr>
        <p:spPr>
          <a:xfrm xmlns:a="http://schemas.openxmlformats.org/drawingml/2006/main">
            <a:off x="609600" y="6315075"/>
            <a:ext cx="10287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276"/>
                </a:solidFill>
                <a:latin typeface="Aptos"/>
                <a:ea typeface="Aptos"/>
                <a:cs typeface="Aptos"/>
              </a:defRPr>
            </a:defPPr>
          </a:lstStyle>
          <a:p xmlns:a="http://schemas.openxmlformats.org/drawingml/2006/main">
            <a:pPr>
              <a:defRPr sz="1125" b="0">
                <a:solidFill>
                  <a:srgbClr val="526276"/>
                </a:solidFill>
                <a:latin typeface="Aptos"/>
                <a:ea typeface="Aptos"/>
                <a:cs typeface="Aptos"/>
              </a:defRPr>
            </a:pPr>
            <a:r>
              <a:rPr sz="1125" b="0">
                <a:solidFill>
                  <a:srgbClr val="526276"/>
                </a:solidFill>
                <a:latin typeface="Aptos"/>
                <a:ea typeface="Aptos"/>
                <a:cs typeface="Aptos"/>
              </a:rPr>
              <a:t>Source: results/synthetic_streams/REPORT.md</a:t>
            </a:r>
          </a:p>
        </p:txBody>
      </p:sp>
      <p:graphicFrame>
        <p:nvGraphicFramePr>
          <p:cNvPr id="4" name="">
            <a:extLst xmlns:a="http://schemas.openxmlformats.org/drawingml/2006/main">
              <a:ext uri="{FF2B5EF4-FFF2-40B4-BE49-F238E27FC236}">
                <a16:creationId xmlns:a16="http://schemas.microsoft.com/office/drawing/2014/main" id="{E3A93BA8-B7F4-430E-B660-06031C937022}"/>
              </a:ext>
            </a:extLst>
          </p:cNvPr>
          <p:cNvGraphicFramePr/>
          <p:nvPr/>
        </p:nvGraphicFramePr>
        <p:xfrm>
          <a:off xmlns:a="http://schemas.openxmlformats.org/drawingml/2006/main" x="609600" y="1524000"/>
          <a:ext xmlns:a="http://schemas.openxmlformats.org/drawingml/2006/main" cx="10972800" cy="3333750"/>
        </p:xfrm>
        <a:graphic xmlns:a="http://schemas.openxmlformats.org/drawingml/2006/main">
          <a:graphicData uri="http://schemas.openxmlformats.org/drawingml/2006/table">
            <a:tbl>
              <a:tblPr/>
              <a:tblGrid>
                <a:gridCol w="5429250"/>
                <a:gridCol w="2771775"/>
                <a:gridCol w="2771775"/>
              </a:tblGrid>
              <a:tr h="666750">
                <a:tc>
                  <a:txBody>
                    <a:bodyPr/>
                    <a:lstStyle/>
                    <a:p>
                      <a:r>
                        <a:rPr sz="1725" b="1">
                          <a:solidFill>
                            <a:srgbClr val="FFFFFF"/>
                          </a:solidFill>
                          <a:latin typeface="Aptos"/>
                          <a:ea typeface="Aptos"/>
                          <a:cs typeface="Aptos"/>
                        </a:rPr>
                        <a:t>MLP-16 hot-first case</a:t>
                      </a:r>
                    </a:p>
                  </a:txBody>
                  <a:tcPr marL="114300" marR="114300" marT="47625" marB="47625">
                    <a:lnL w="9525">
                      <a:solidFill>
                        <a:srgbClr val="D4DDE4"/>
                      </a:solidFill>
                      <a:prstDash val="solid"/>
                    </a:lnL>
                    <a:lnR w="9525">
                      <a:solidFill>
                        <a:srgbClr val="D4DDE4"/>
                      </a:solidFill>
                      <a:prstDash val="solid"/>
                    </a:lnR>
                    <a:lnT w="9525">
                      <a:solidFill>
                        <a:srgbClr val="D4DDE4"/>
                      </a:solidFill>
                      <a:prstDash val="solid"/>
                    </a:lnT>
                    <a:lnB w="9525">
                      <a:solidFill>
                        <a:srgbClr val="D4DDE4"/>
                      </a:solidFill>
                      <a:prstDash val="solid"/>
                    </a:lnB>
                    <a:solidFill>
                      <a:srgbClr val="006A75"/>
                    </a:solidFill>
                  </a:tcPr>
                </a:tc>
                <a:tc>
                  <a:txBody>
                    <a:bodyPr/>
                    <a:lstStyle/>
                    <a:p>
                      <a:r>
                        <a:rPr sz="1725" b="1">
                          <a:solidFill>
                            <a:srgbClr val="FFFFFF"/>
                          </a:solidFill>
                          <a:latin typeface="Aptos"/>
                          <a:ea typeface="Aptos"/>
                          <a:cs typeface="Aptos"/>
                        </a:rPr>
                        <a:t>Frequency</a:t>
                      </a:r>
                    </a:p>
                  </a:txBody>
                  <a:tcPr marL="114300" marR="114300" marT="47625" marB="47625">
                    <a:lnR w="9525">
                      <a:solidFill>
                        <a:srgbClr val="D4DDE4"/>
                      </a:solidFill>
                      <a:prstDash val="solid"/>
                    </a:lnR>
                    <a:lnT w="9525">
                      <a:solidFill>
                        <a:srgbClr val="D4DDE4"/>
                      </a:solidFill>
                      <a:prstDash val="solid"/>
                    </a:lnT>
                    <a:lnB w="9525">
                      <a:solidFill>
                        <a:srgbClr val="D4DDE4"/>
                      </a:solidFill>
                      <a:prstDash val="solid"/>
                    </a:lnB>
                    <a:solidFill>
                      <a:srgbClr val="006A75"/>
                    </a:solidFill>
                  </a:tcPr>
                </a:tc>
                <a:tc>
                  <a:txBody>
                    <a:bodyPr/>
                    <a:lstStyle/>
                    <a:p>
                      <a:r>
                        <a:rPr sz="1725" b="1">
                          <a:solidFill>
                            <a:srgbClr val="FFFFFF"/>
                          </a:solidFill>
                          <a:latin typeface="Aptos"/>
                          <a:ea typeface="Aptos"/>
                          <a:cs typeface="Aptos"/>
                        </a:rPr>
                        <a:t>PAC</a:t>
                      </a:r>
                    </a:p>
                  </a:txBody>
                  <a:tcPr marL="114300" marR="114300" marT="47625" marB="47625">
                    <a:lnR w="9525">
                      <a:solidFill>
                        <a:srgbClr val="D4DDE4"/>
                      </a:solidFill>
                      <a:prstDash val="solid"/>
                    </a:lnR>
                    <a:lnT w="9525">
                      <a:solidFill>
                        <a:srgbClr val="D4DDE4"/>
                      </a:solidFill>
                      <a:prstDash val="solid"/>
                    </a:lnT>
                    <a:lnB w="9525">
                      <a:solidFill>
                        <a:srgbClr val="D4DDE4"/>
                      </a:solidFill>
                      <a:prstDash val="solid"/>
                    </a:lnB>
                    <a:solidFill>
                      <a:srgbClr val="006A75"/>
                    </a:solidFill>
                  </a:tcPr>
                </a:tc>
              </a:tr>
              <a:tr h="666750">
                <a:tc>
                  <a:txBody>
                    <a:bodyPr/>
                    <a:lstStyle/>
                    <a:p>
                      <a:r>
                        <a:rPr sz="1725">
                          <a:solidFill>
                            <a:srgbClr val="16283D"/>
                          </a:solidFill>
                          <a:latin typeface="Aptos"/>
                          <a:ea typeface="Aptos"/>
                          <a:cs typeface="Aptos"/>
                        </a:rPr>
                        <a:t>Modeled runtime</a:t>
                      </a:r>
                    </a:p>
                  </a:txBody>
                  <a:tcPr marL="114300" marR="114300" marT="47625" marB="47625">
                    <a:lnL w="9525">
                      <a:solidFill>
                        <a:srgbClr val="D4DDE4"/>
                      </a:solidFill>
                      <a:prstDash val="solid"/>
                    </a:lnL>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1,093.201 ms</a:t>
                      </a:r>
                    </a:p>
                  </a:txBody>
                  <a:tcPr marL="114300" marR="114300" marT="47625" marB="47625">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831.416 ms</a:t>
                      </a:r>
                    </a:p>
                  </a:txBody>
                  <a:tcPr marL="114300" marR="114300" marT="47625" marB="47625">
                    <a:lnR w="9525">
                      <a:solidFill>
                        <a:srgbClr val="D4DDE4"/>
                      </a:solidFill>
                      <a:prstDash val="solid"/>
                    </a:lnR>
                    <a:lnB w="9525">
                      <a:solidFill>
                        <a:srgbClr val="D4DDE4"/>
                      </a:solidFill>
                      <a:prstDash val="solid"/>
                    </a:lnB>
                  </a:tcPr>
                </a:tc>
              </a:tr>
              <a:tr h="666750">
                <a:tc>
                  <a:txBody>
                    <a:bodyPr/>
                    <a:lstStyle/>
                    <a:p>
                      <a:r>
                        <a:rPr sz="1725">
                          <a:solidFill>
                            <a:srgbClr val="16283D"/>
                          </a:solidFill>
                          <a:latin typeface="Aptos"/>
                          <a:ea typeface="Aptos"/>
                          <a:cs typeface="Aptos"/>
                        </a:rPr>
                        <a:t>Promotions / demotions</a:t>
                      </a:r>
                    </a:p>
                  </a:txBody>
                  <a:tcPr marL="114300" marR="114300" marT="47625" marB="47625">
                    <a:lnL w="9525">
                      <a:solidFill>
                        <a:srgbClr val="D4DDE4"/>
                      </a:solidFill>
                      <a:prstDash val="solid"/>
                    </a:lnL>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1,024 / 1,024</a:t>
                      </a:r>
                    </a:p>
                  </a:txBody>
                  <a:tcPr marL="114300" marR="114300" marT="47625" marB="47625">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1,024 / 1,024</a:t>
                      </a:r>
                    </a:p>
                  </a:txBody>
                  <a:tcPr marL="114300" marR="114300" marT="47625" marB="47625">
                    <a:lnR w="9525">
                      <a:solidFill>
                        <a:srgbClr val="D4DDE4"/>
                      </a:solidFill>
                      <a:prstDash val="solid"/>
                    </a:lnR>
                    <a:lnB w="9525">
                      <a:solidFill>
                        <a:srgbClr val="D4DDE4"/>
                      </a:solidFill>
                      <a:prstDash val="solid"/>
                    </a:lnB>
                  </a:tcPr>
                </a:tc>
              </a:tr>
              <a:tr h="666750">
                <a:tc>
                  <a:txBody>
                    <a:bodyPr/>
                    <a:lstStyle/>
                    <a:p>
                      <a:r>
                        <a:rPr sz="1725">
                          <a:solidFill>
                            <a:srgbClr val="16283D"/>
                          </a:solidFill>
                          <a:latin typeface="Aptos"/>
                          <a:ea typeface="Aptos"/>
                          <a:cs typeface="Aptos"/>
                        </a:rPr>
                        <a:t>Charged copy time</a:t>
                      </a:r>
                    </a:p>
                  </a:txBody>
                  <a:tcPr marL="114300" marR="114300" marT="47625" marB="47625">
                    <a:lnL w="9525">
                      <a:solidFill>
                        <a:srgbClr val="D4DDE4"/>
                      </a:solidFill>
                      <a:prstDash val="solid"/>
                    </a:lnL>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2.886861 ms</a:t>
                      </a:r>
                    </a:p>
                  </a:txBody>
                  <a:tcPr marL="114300" marR="114300" marT="47625" marB="47625">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2.886861 ms</a:t>
                      </a:r>
                    </a:p>
                  </a:txBody>
                  <a:tcPr marL="114300" marR="114300" marT="47625" marB="47625">
                    <a:lnR w="9525">
                      <a:solidFill>
                        <a:srgbClr val="D4DDE4"/>
                      </a:solidFill>
                      <a:prstDash val="solid"/>
                    </a:lnR>
                    <a:lnB w="9525">
                      <a:solidFill>
                        <a:srgbClr val="D4DDE4"/>
                      </a:solidFill>
                      <a:prstDash val="solid"/>
                    </a:lnB>
                  </a:tcPr>
                </a:tc>
              </a:tr>
              <a:tr h="666750">
                <a:tc>
                  <a:txBody>
                    <a:bodyPr/>
                    <a:lstStyle/>
                    <a:p>
                      <a:r>
                        <a:rPr sz="1725">
                          <a:solidFill>
                            <a:srgbClr val="16283D"/>
                          </a:solidFill>
                          <a:latin typeface="Aptos"/>
                          <a:ea typeface="Aptos"/>
                          <a:cs typeface="Aptos"/>
                        </a:rPr>
                        <a:t>Serial pages finally in DRAM</a:t>
                      </a:r>
                    </a:p>
                  </a:txBody>
                  <a:tcPr marL="114300" marR="114300" marT="47625" marB="47625">
                    <a:lnL w="9525">
                      <a:solidFill>
                        <a:srgbClr val="D4DDE4"/>
                      </a:solidFill>
                      <a:prstDash val="solid"/>
                    </a:lnL>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0 / 1,024</a:t>
                      </a:r>
                    </a:p>
                  </a:txBody>
                  <a:tcPr marL="114300" marR="114300" marT="47625" marB="47625">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768 / 1,024</a:t>
                      </a:r>
                    </a:p>
                  </a:txBody>
                  <a:tcPr marL="114300" marR="114300" marT="47625" marB="47625">
                    <a:lnR w="9525">
                      <a:solidFill>
                        <a:srgbClr val="D4DDE4"/>
                      </a:solidFill>
                      <a:prstDash val="solid"/>
                    </a:lnR>
                    <a:lnB w="9525">
                      <a:solidFill>
                        <a:srgbClr val="D4DDE4"/>
                      </a:solidFill>
                      <a:prstDash val="solid"/>
                    </a:lnB>
                  </a:tcPr>
                </a:tc>
              </a:tr>
            </a:tbl>
          </a:graphicData>
        </a:graphic>
      </p:graphicFrame>
      <p:sp>
        <p:nvSpPr>
          <p:cNvPr id="5" name="">
            <a:extLst xmlns:a="http://schemas.openxmlformats.org/drawingml/2006/main">
              <a:ext uri="{FF2B5EF4-FFF2-40B4-BE49-F238E27FC236}">
                <a16:creationId xmlns:a16="http://schemas.microsoft.com/office/drawing/2014/main" id="{AA27060B-E3FB-4EE9-B8BE-230B49EA0D2E}"/>
              </a:ext>
            </a:extLst>
          </p:cNvPr>
          <p:cNvSpPr>
            <a:spLocks xmlns:a="http://schemas.openxmlformats.org/drawingml/2006/main" noGrp="1"/>
          </p:cNvSpPr>
          <p:nvPr/>
        </p:nvSpPr>
        <p:spPr>
          <a:xfrm xmlns:a="http://schemas.openxmlformats.org/drawingml/2006/main">
            <a:off x="609600" y="5172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006A75"/>
                </a:solidFill>
                <a:latin typeface="Aptos"/>
                <a:ea typeface="Aptos"/>
                <a:cs typeface="Aptos"/>
              </a:defRPr>
            </a:defPPr>
          </a:lstStyle>
          <a:p xmlns:a="http://schemas.openxmlformats.org/drawingml/2006/main">
            <a:pPr>
              <a:defRPr sz="2325" b="1">
                <a:solidFill>
                  <a:srgbClr val="006A75"/>
                </a:solidFill>
                <a:latin typeface="Aptos"/>
                <a:ea typeface="Aptos"/>
                <a:cs typeface="Aptos"/>
              </a:defRPr>
            </a:pPr>
            <a:r>
              <a:rPr sz="2325" b="1">
                <a:solidFill>
                  <a:srgbClr val="006A75"/>
                </a:solidFill>
                <a:latin typeface="Aptos"/>
                <a:ea typeface="Aptos"/>
                <a:cs typeface="Aptos"/>
              </a:rPr>
              <a:t>Reduction = (1,093.201 − 831.416) / 1,093.201 × 100 = 23.95%</a:t>
            </a:r>
          </a:p>
        </p:txBody>
      </p:sp>
      <p:sp>
        <p:nvSpPr>
          <p:cNvPr id="6" name="">
            <a:extLst xmlns:a="http://schemas.openxmlformats.org/drawingml/2006/main">
              <a:ext uri="{FF2B5EF4-FFF2-40B4-BE49-F238E27FC236}">
                <a16:creationId xmlns:a16="http://schemas.microsoft.com/office/drawing/2014/main" id="{388A4919-4094-4EE6-96B3-6EC1D67FE995}"/>
              </a:ext>
            </a:extLst>
          </p:cNvPr>
          <p:cNvSpPr>
            <a:spLocks xmlns:a="http://schemas.openxmlformats.org/drawingml/2006/main" noGrp="1"/>
          </p:cNvSpPr>
          <p:nvPr/>
        </p:nvSpPr>
        <p:spPr>
          <a:xfrm xmlns:a="http://schemas.openxmlformats.org/drawingml/2006/main">
            <a:off x="609600" y="5715000"/>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6283D"/>
                </a:solidFill>
                <a:latin typeface="Aptos"/>
                <a:ea typeface="Aptos"/>
                <a:cs typeface="Aptos"/>
              </a:defRPr>
            </a:defPPr>
          </a:lstStyle>
          <a:p xmlns:a="http://schemas.openxmlformats.org/drawingml/2006/main">
            <a:pPr>
              <a:defRPr sz="1875" b="0">
                <a:solidFill>
                  <a:srgbClr val="16283D"/>
                </a:solidFill>
                <a:latin typeface="Aptos"/>
                <a:ea typeface="Aptos"/>
                <a:cs typeface="Aptos"/>
              </a:defRPr>
            </a:pPr>
            <a:r>
              <a:rPr sz="1875" b="0">
                <a:solidFill>
                  <a:srgbClr val="16283D"/>
                </a:solidFill>
                <a:latin typeface="Aptos"/>
                <a:ea typeface="Aptos"/>
                <a:cs typeface="Aptos"/>
              </a:rPr>
              <a:t>PAC places more serial pages in DRAM. Equal move counts and equal copying costs strengthen the page-selection comparison, while migration timing can still differ.</a:t>
            </a:r>
          </a:p>
        </p:txBody>
      </p:sp>
    </p:spTree>
    <p:extLst>
      <p:ext uri="{BB962C8B-B14F-4D97-AF65-F5344CB8AC3E}">
        <p14:creationId xmlns:p14="http://schemas.microsoft.com/office/powerpoint/2010/main" val="2130454453"/>
      </p:ext>
    </p:extLst>
  </p:cSld>
</p:sld>
</file>

<file path=ppt/slides/slide21.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0B64451-471E-4928-B008-3DC05814FD2C}"/>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6283D"/>
                </a:solidFill>
                <a:latin typeface="Aptos"/>
                <a:ea typeface="Aptos"/>
                <a:cs typeface="Aptos"/>
              </a:defRPr>
            </a:defPPr>
          </a:lstStyle>
          <a:p xmlns:a="http://schemas.openxmlformats.org/drawingml/2006/main">
            <a:pPr>
              <a:defRPr sz="3225" b="1">
                <a:solidFill>
                  <a:srgbClr val="16283D"/>
                </a:solidFill>
                <a:latin typeface="Aptos"/>
                <a:ea typeface="Aptos"/>
                <a:cs typeface="Aptos"/>
              </a:defRPr>
            </a:pPr>
            <a:r>
              <a:rPr sz="3225" b="1">
                <a:solidFill>
                  <a:srgbClr val="16283D"/>
                </a:solidFill>
                <a:latin typeface="Aptos"/>
                <a:ea typeface="Aptos"/>
                <a:cs typeface="Aptos"/>
              </a:rPr>
              <a:t>Phase order and score decay sensitivity</a:t>
            </a:r>
          </a:p>
        </p:txBody>
      </p:sp>
      <p:sp>
        <p:nvSpPr>
          <p:cNvPr id="2" name="">
            <a:extLst xmlns:a="http://schemas.openxmlformats.org/drawingml/2006/main">
              <a:ext uri="{FF2B5EF4-FFF2-40B4-BE49-F238E27FC236}">
                <a16:creationId xmlns:a16="http://schemas.microsoft.com/office/drawing/2014/main" id="{52EF5EC3-4388-4FBB-A18D-F95E8766207D}"/>
              </a:ext>
            </a:extLst>
          </p:cNvPr>
          <p:cNvSpPr>
            <a:spLocks xmlns:a="http://schemas.openxmlformats.org/drawingml/2006/main" noGrp="1"/>
          </p:cNvSpPr>
          <p:nvPr/>
        </p:nvSpPr>
        <p:spPr>
          <a:xfrm xmlns:a="http://schemas.openxmlformats.org/drawingml/2006/main">
            <a:off x="11144250" y="63341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276"/>
                </a:solidFill>
                <a:latin typeface="Aptos"/>
                <a:ea typeface="Aptos"/>
                <a:cs typeface="Aptos"/>
              </a:defRPr>
            </a:defPPr>
          </a:lstStyle>
          <a:p xmlns:a="http://schemas.openxmlformats.org/drawingml/2006/main">
            <a:pPr>
              <a:defRPr sz="1200" b="0">
                <a:solidFill>
                  <a:srgbClr val="526276"/>
                </a:solidFill>
                <a:latin typeface="Aptos"/>
                <a:ea typeface="Aptos"/>
                <a:cs typeface="Aptos"/>
              </a:defRPr>
            </a:pPr>
            <a:r>
              <a:rPr sz="1200" b="0">
                <a:solidFill>
                  <a:srgbClr val="526276"/>
                </a:solidFill>
                <a:latin typeface="Aptos"/>
                <a:ea typeface="Aptos"/>
                <a:cs typeface="Aptos"/>
              </a:rPr>
              <a:t>21</a:t>
            </a:r>
          </a:p>
        </p:txBody>
      </p:sp>
      <p:sp>
        <p:nvSpPr>
          <p:cNvPr id="3" name="">
            <a:extLst xmlns:a="http://schemas.openxmlformats.org/drawingml/2006/main">
              <a:ext uri="{FF2B5EF4-FFF2-40B4-BE49-F238E27FC236}">
                <a16:creationId xmlns:a16="http://schemas.microsoft.com/office/drawing/2014/main" id="{32C44ED3-44C5-4CE3-960E-7FA08F5CE543}"/>
              </a:ext>
            </a:extLst>
          </p:cNvPr>
          <p:cNvSpPr>
            <a:spLocks xmlns:a="http://schemas.openxmlformats.org/drawingml/2006/main" noGrp="1"/>
          </p:cNvSpPr>
          <p:nvPr/>
        </p:nvSpPr>
        <p:spPr>
          <a:xfrm xmlns:a="http://schemas.openxmlformats.org/drawingml/2006/main">
            <a:off x="609600" y="6315075"/>
            <a:ext cx="10287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276"/>
                </a:solidFill>
                <a:latin typeface="Aptos"/>
                <a:ea typeface="Aptos"/>
                <a:cs typeface="Aptos"/>
              </a:defRPr>
            </a:defPPr>
          </a:lstStyle>
          <a:p xmlns:a="http://schemas.openxmlformats.org/drawingml/2006/main">
            <a:pPr>
              <a:defRPr sz="1125" b="0">
                <a:solidFill>
                  <a:srgbClr val="526276"/>
                </a:solidFill>
                <a:latin typeface="Aptos"/>
                <a:ea typeface="Aptos"/>
                <a:cs typeface="Aptos"/>
              </a:defRPr>
            </a:pPr>
            <a:r>
              <a:rPr sz="1125" b="0">
                <a:solidFill>
                  <a:srgbClr val="526276"/>
                </a:solidFill>
                <a:latin typeface="Aptos"/>
                <a:ea typeface="Aptos"/>
                <a:cs typeface="Aptos"/>
              </a:rPr>
              <a:t>Source: results/synthetic_streams/alpha_0_7/REPORT.md</a:t>
            </a:r>
          </a:p>
        </p:txBody>
      </p:sp>
      <p:graphicFrame>
        <p:nvGraphicFramePr>
          <p:cNvPr id="4" name="">
            <a:extLst xmlns:a="http://schemas.openxmlformats.org/drawingml/2006/main">
              <a:ext uri="{FF2B5EF4-FFF2-40B4-BE49-F238E27FC236}">
                <a16:creationId xmlns:a16="http://schemas.microsoft.com/office/drawing/2014/main" id="{90FBDA68-7ECD-4DBC-8549-22CF37CDF831}"/>
              </a:ext>
            </a:extLst>
          </p:cNvPr>
          <p:cNvGraphicFramePr/>
          <p:nvPr/>
        </p:nvGraphicFramePr>
        <p:xfrm>
          <a:off xmlns:a="http://schemas.openxmlformats.org/drawingml/2006/main" x="609600" y="1619250"/>
          <a:ext xmlns:a="http://schemas.openxmlformats.org/drawingml/2006/main" cx="10972800" cy="3067050"/>
        </p:xfrm>
        <a:graphic xmlns:a="http://schemas.openxmlformats.org/drawingml/2006/main">
          <a:graphicData uri="http://schemas.openxmlformats.org/drawingml/2006/table">
            <a:tbl>
              <a:tblPr/>
              <a:tblGrid>
                <a:gridCol w="5429250"/>
                <a:gridCol w="2771775"/>
                <a:gridCol w="2771775"/>
              </a:tblGrid>
              <a:tr h="613410">
                <a:tc>
                  <a:txBody>
                    <a:bodyPr/>
                    <a:lstStyle/>
                    <a:p>
                      <a:r>
                        <a:rPr sz="1725" b="1">
                          <a:solidFill>
                            <a:srgbClr val="FFFFFF"/>
                          </a:solidFill>
                          <a:latin typeface="Aptos"/>
                          <a:ea typeface="Aptos"/>
                          <a:cs typeface="Aptos"/>
                        </a:rPr>
                        <a:t>Configuration</a:t>
                      </a:r>
                    </a:p>
                  </a:txBody>
                  <a:tcPr marL="114300" marR="114300" marT="47625" marB="47625">
                    <a:lnL w="9525">
                      <a:solidFill>
                        <a:srgbClr val="D4DDE4"/>
                      </a:solidFill>
                      <a:prstDash val="solid"/>
                    </a:lnL>
                    <a:lnR w="9525">
                      <a:solidFill>
                        <a:srgbClr val="D4DDE4"/>
                      </a:solidFill>
                      <a:prstDash val="solid"/>
                    </a:lnR>
                    <a:lnT w="9525">
                      <a:solidFill>
                        <a:srgbClr val="D4DDE4"/>
                      </a:solidFill>
                      <a:prstDash val="solid"/>
                    </a:lnT>
                    <a:lnB w="9525">
                      <a:solidFill>
                        <a:srgbClr val="D4DDE4"/>
                      </a:solidFill>
                      <a:prstDash val="solid"/>
                    </a:lnB>
                    <a:solidFill>
                      <a:srgbClr val="006A75"/>
                    </a:solidFill>
                  </a:tcPr>
                </a:tc>
                <a:tc>
                  <a:txBody>
                    <a:bodyPr/>
                    <a:lstStyle/>
                    <a:p>
                      <a:r>
                        <a:rPr sz="1725" b="1">
                          <a:solidFill>
                            <a:srgbClr val="FFFFFF"/>
                          </a:solidFill>
                          <a:latin typeface="Aptos"/>
                          <a:ea typeface="Aptos"/>
                          <a:cs typeface="Aptos"/>
                        </a:rPr>
                        <a:t>MLP 8 reduction</a:t>
                      </a:r>
                    </a:p>
                  </a:txBody>
                  <a:tcPr marL="114300" marR="114300" marT="47625" marB="47625">
                    <a:lnR w="9525">
                      <a:solidFill>
                        <a:srgbClr val="D4DDE4"/>
                      </a:solidFill>
                      <a:prstDash val="solid"/>
                    </a:lnR>
                    <a:lnT w="9525">
                      <a:solidFill>
                        <a:srgbClr val="D4DDE4"/>
                      </a:solidFill>
                      <a:prstDash val="solid"/>
                    </a:lnT>
                    <a:lnB w="9525">
                      <a:solidFill>
                        <a:srgbClr val="D4DDE4"/>
                      </a:solidFill>
                      <a:prstDash val="solid"/>
                    </a:lnB>
                    <a:solidFill>
                      <a:srgbClr val="006A75"/>
                    </a:solidFill>
                  </a:tcPr>
                </a:tc>
                <a:tc>
                  <a:txBody>
                    <a:bodyPr/>
                    <a:lstStyle/>
                    <a:p>
                      <a:r>
                        <a:rPr sz="1725" b="1">
                          <a:solidFill>
                            <a:srgbClr val="FFFFFF"/>
                          </a:solidFill>
                          <a:latin typeface="Aptos"/>
                          <a:ea typeface="Aptos"/>
                          <a:cs typeface="Aptos"/>
                        </a:rPr>
                        <a:t>MLP 16 reduction</a:t>
                      </a:r>
                    </a:p>
                  </a:txBody>
                  <a:tcPr marL="114300" marR="114300" marT="47625" marB="47625">
                    <a:lnR w="9525">
                      <a:solidFill>
                        <a:srgbClr val="D4DDE4"/>
                      </a:solidFill>
                      <a:prstDash val="solid"/>
                    </a:lnR>
                    <a:lnT w="9525">
                      <a:solidFill>
                        <a:srgbClr val="D4DDE4"/>
                      </a:solidFill>
                      <a:prstDash val="solid"/>
                    </a:lnT>
                    <a:lnB w="9525">
                      <a:solidFill>
                        <a:srgbClr val="D4DDE4"/>
                      </a:solidFill>
                      <a:prstDash val="solid"/>
                    </a:lnB>
                    <a:solidFill>
                      <a:srgbClr val="006A75"/>
                    </a:solidFill>
                  </a:tcPr>
                </a:tc>
              </a:tr>
              <a:tr h="613410">
                <a:tc>
                  <a:txBody>
                    <a:bodyPr/>
                    <a:lstStyle/>
                    <a:p>
                      <a:r>
                        <a:rPr sz="1725">
                          <a:solidFill>
                            <a:srgbClr val="16283D"/>
                          </a:solidFill>
                          <a:latin typeface="Aptos"/>
                          <a:ea typeface="Aptos"/>
                          <a:cs typeface="Aptos"/>
                        </a:rPr>
                        <a:t>20 ms, alpha = 1, hot first</a:t>
                      </a:r>
                    </a:p>
                  </a:txBody>
                  <a:tcPr marL="114300" marR="114300" marT="47625" marB="47625">
                    <a:lnL w="9525">
                      <a:solidFill>
                        <a:srgbClr val="D4DDE4"/>
                      </a:solidFill>
                      <a:prstDash val="solid"/>
                    </a:lnL>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4.899%</a:t>
                      </a:r>
                    </a:p>
                  </a:txBody>
                  <a:tcPr marL="114300" marR="114300" marT="47625" marB="47625">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23.947%</a:t>
                      </a:r>
                    </a:p>
                  </a:txBody>
                  <a:tcPr marL="114300" marR="114300" marT="47625" marB="47625">
                    <a:lnR w="9525">
                      <a:solidFill>
                        <a:srgbClr val="D4DDE4"/>
                      </a:solidFill>
                      <a:prstDash val="solid"/>
                    </a:lnR>
                    <a:lnB w="9525">
                      <a:solidFill>
                        <a:srgbClr val="D4DDE4"/>
                      </a:solidFill>
                      <a:prstDash val="solid"/>
                    </a:lnB>
                  </a:tcPr>
                </a:tc>
              </a:tr>
              <a:tr h="613410">
                <a:tc>
                  <a:txBody>
                    <a:bodyPr/>
                    <a:lstStyle/>
                    <a:p>
                      <a:r>
                        <a:rPr sz="1725">
                          <a:solidFill>
                            <a:srgbClr val="16283D"/>
                          </a:solidFill>
                          <a:latin typeface="Aptos"/>
                          <a:ea typeface="Aptos"/>
                          <a:cs typeface="Aptos"/>
                        </a:rPr>
                        <a:t>20 ms, alpha = 0.7, hot first</a:t>
                      </a:r>
                    </a:p>
                  </a:txBody>
                  <a:tcPr marL="114300" marR="114300" marT="47625" marB="47625">
                    <a:lnL w="9525">
                      <a:solidFill>
                        <a:srgbClr val="D4DDE4"/>
                      </a:solidFill>
                      <a:prstDash val="solid"/>
                    </a:lnL>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7.481%</a:t>
                      </a:r>
                    </a:p>
                  </a:txBody>
                  <a:tcPr marL="114300" marR="114300" marT="47625" marB="47625">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24.162%</a:t>
                      </a:r>
                    </a:p>
                  </a:txBody>
                  <a:tcPr marL="114300" marR="114300" marT="47625" marB="47625">
                    <a:lnR w="9525">
                      <a:solidFill>
                        <a:srgbClr val="D4DDE4"/>
                      </a:solidFill>
                      <a:prstDash val="solid"/>
                    </a:lnR>
                    <a:lnB w="9525">
                      <a:solidFill>
                        <a:srgbClr val="D4DDE4"/>
                      </a:solidFill>
                      <a:prstDash val="solid"/>
                    </a:lnB>
                  </a:tcPr>
                </a:tc>
              </a:tr>
              <a:tr h="613410">
                <a:tc>
                  <a:txBody>
                    <a:bodyPr/>
                    <a:lstStyle/>
                    <a:p>
                      <a:r>
                        <a:rPr sz="1725">
                          <a:solidFill>
                            <a:srgbClr val="16283D"/>
                          </a:solidFill>
                          <a:latin typeface="Aptos"/>
                          <a:ea typeface="Aptos"/>
                          <a:cs typeface="Aptos"/>
                        </a:rPr>
                        <a:t>10 ms, alpha = 0.7, hot first</a:t>
                      </a:r>
                    </a:p>
                  </a:txBody>
                  <a:tcPr marL="114300" marR="114300" marT="47625" marB="47625">
                    <a:lnL w="9525">
                      <a:solidFill>
                        <a:srgbClr val="D4DDE4"/>
                      </a:solidFill>
                      <a:prstDash val="solid"/>
                    </a:lnL>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7.933%</a:t>
                      </a:r>
                    </a:p>
                  </a:txBody>
                  <a:tcPr marL="114300" marR="114300" marT="47625" marB="47625">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21.081%</a:t>
                      </a:r>
                    </a:p>
                  </a:txBody>
                  <a:tcPr marL="114300" marR="114300" marT="47625" marB="47625">
                    <a:lnR w="9525">
                      <a:solidFill>
                        <a:srgbClr val="D4DDE4"/>
                      </a:solidFill>
                      <a:prstDash val="solid"/>
                    </a:lnR>
                    <a:lnB w="9525">
                      <a:solidFill>
                        <a:srgbClr val="D4DDE4"/>
                      </a:solidFill>
                      <a:prstDash val="solid"/>
                    </a:lnB>
                  </a:tcPr>
                </a:tc>
              </a:tr>
              <a:tr h="613410">
                <a:tc>
                  <a:txBody>
                    <a:bodyPr/>
                    <a:lstStyle/>
                    <a:p>
                      <a:r>
                        <a:rPr sz="1725">
                          <a:solidFill>
                            <a:srgbClr val="16283D"/>
                          </a:solidFill>
                          <a:latin typeface="Aptos"/>
                          <a:ea typeface="Aptos"/>
                          <a:cs typeface="Aptos"/>
                        </a:rPr>
                        <a:t>20 ms, alpha = 1, serial first</a:t>
                      </a:r>
                    </a:p>
                  </a:txBody>
                  <a:tcPr marL="114300" marR="114300" marT="47625" marB="47625">
                    <a:lnL w="9525">
                      <a:solidFill>
                        <a:srgbClr val="D4DDE4"/>
                      </a:solidFill>
                      <a:prstDash val="solid"/>
                    </a:lnL>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Not run in this comparison</a:t>
                      </a:r>
                    </a:p>
                  </a:txBody>
                  <a:tcPr marL="114300" marR="114300" marT="47625" marB="47625">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21.428%</a:t>
                      </a:r>
                    </a:p>
                  </a:txBody>
                  <a:tcPr marL="114300" marR="114300" marT="47625" marB="47625">
                    <a:lnR w="9525">
                      <a:solidFill>
                        <a:srgbClr val="D4DDE4"/>
                      </a:solidFill>
                      <a:prstDash val="solid"/>
                    </a:lnR>
                    <a:lnB w="9525">
                      <a:solidFill>
                        <a:srgbClr val="D4DDE4"/>
                      </a:solidFill>
                      <a:prstDash val="solid"/>
                    </a:lnB>
                  </a:tcPr>
                </a:tc>
              </a:tr>
            </a:tbl>
          </a:graphicData>
        </a:graphic>
      </p:graphicFrame>
      <p:sp>
        <p:nvSpPr>
          <p:cNvPr id="5" name="">
            <a:extLst xmlns:a="http://schemas.openxmlformats.org/drawingml/2006/main">
              <a:ext uri="{FF2B5EF4-FFF2-40B4-BE49-F238E27FC236}">
                <a16:creationId xmlns:a16="http://schemas.microsoft.com/office/drawing/2014/main" id="{CC3DBFD4-140A-48E9-8A3A-1FF98E5D0836}"/>
              </a:ext>
            </a:extLst>
          </p:cNvPr>
          <p:cNvSpPr>
            <a:spLocks xmlns:a="http://schemas.openxmlformats.org/drawingml/2006/main" noGrp="1"/>
          </p:cNvSpPr>
          <p:nvPr/>
        </p:nvSpPr>
        <p:spPr>
          <a:xfrm xmlns:a="http://schemas.openxmlformats.org/drawingml/2006/main">
            <a:off x="609600" y="50101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83D"/>
                </a:solidFill>
                <a:latin typeface="Aptos"/>
                <a:ea typeface="Aptos"/>
                <a:cs typeface="Aptos"/>
              </a:defRPr>
            </a:defPPr>
          </a:lstStyle>
          <a:p xmlns:a="http://schemas.openxmlformats.org/drawingml/2006/main">
            <a:pPr>
              <a:defRPr sz="2100" b="0">
                <a:solidFill>
                  <a:srgbClr val="16283D"/>
                </a:solidFill>
                <a:latin typeface="Aptos"/>
                <a:ea typeface="Aptos"/>
                <a:cs typeface="Aptos"/>
              </a:defRPr>
            </a:pPr>
            <a:r>
              <a:rPr sz="2100" b="0">
                <a:solidFill>
                  <a:srgbClr val="16283D"/>
                </a:solidFill>
                <a:latin typeface="Aptos"/>
                <a:ea typeface="Aptos"/>
                <a:cs typeface="Aptos"/>
              </a:rPr>
              <a:t>The MLP-1 control ties at both window sizes. Reversing phase order retains a 20%+ MLP-16 gain, but the magnitude depends on startup and migration decisions.</a:t>
            </a:r>
          </a:p>
        </p:txBody>
      </p:sp>
      <p:sp>
        <p:nvSpPr>
          <p:cNvPr id="6" name="">
            <a:extLst xmlns:a="http://schemas.openxmlformats.org/drawingml/2006/main">
              <a:ext uri="{FF2B5EF4-FFF2-40B4-BE49-F238E27FC236}">
                <a16:creationId xmlns:a16="http://schemas.microsoft.com/office/drawing/2014/main" id="{D37B7011-A90D-4E0B-9320-485E50BD89AA}"/>
              </a:ext>
            </a:extLst>
          </p:cNvPr>
          <p:cNvSpPr>
            <a:spLocks xmlns:a="http://schemas.openxmlformats.org/drawingml/2006/main" noGrp="1"/>
          </p:cNvSpPr>
          <p:nvPr/>
        </p:nvSpPr>
        <p:spPr>
          <a:xfrm xmlns:a="http://schemas.openxmlformats.org/drawingml/2006/main">
            <a:off x="609600" y="58102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6283D"/>
                </a:solidFill>
                <a:latin typeface="Aptos"/>
                <a:ea typeface="Aptos"/>
                <a:cs typeface="Aptos"/>
              </a:defRPr>
            </a:defPPr>
          </a:lstStyle>
          <a:p xmlns:a="http://schemas.openxmlformats.org/drawingml/2006/main">
            <a:pPr>
              <a:defRPr sz="1725" b="0">
                <a:solidFill>
                  <a:srgbClr val="16283D"/>
                </a:solidFill>
                <a:latin typeface="Aptos"/>
                <a:ea typeface="Aptos"/>
                <a:cs typeface="Aptos"/>
              </a:defRPr>
            </a:pPr>
            <a:r>
              <a:rPr sz="1725" b="0">
                <a:solidFill>
                  <a:srgbClr val="16283D"/>
                </a:solidFill>
                <a:latin typeface="Aptos"/>
                <a:ea typeface="Aptos"/>
                <a:cs typeface="Aptos"/>
              </a:rPr>
              <a:t>At 10 ms, alpha = 0.7 decays twice as often per modeled second and offers twice as many batch opportunities. This changes more than observation granularity.</a:t>
            </a:r>
          </a:p>
        </p:txBody>
      </p:sp>
    </p:spTree>
    <p:extLst>
      <p:ext uri="{BB962C8B-B14F-4D97-AF65-F5344CB8AC3E}">
        <p14:creationId xmlns:p14="http://schemas.microsoft.com/office/powerpoint/2010/main" val="1401906571"/>
      </p:ext>
    </p:extLst>
  </p:cSld>
</p:sld>
</file>

<file path=ppt/slides/slide2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7623560-18B4-4960-9112-5C304C3FD89D}"/>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6283D"/>
                </a:solidFill>
                <a:latin typeface="Aptos"/>
                <a:ea typeface="Aptos"/>
                <a:cs typeface="Aptos"/>
              </a:defRPr>
            </a:defPPr>
          </a:lstStyle>
          <a:p xmlns:a="http://schemas.openxmlformats.org/drawingml/2006/main">
            <a:pPr>
              <a:defRPr sz="3225" b="1">
                <a:solidFill>
                  <a:srgbClr val="16283D"/>
                </a:solidFill>
                <a:latin typeface="Aptos"/>
                <a:ea typeface="Aptos"/>
                <a:cs typeface="Aptos"/>
              </a:defRPr>
            </a:pPr>
            <a:r>
              <a:rPr sz="3225" b="1">
                <a:solidFill>
                  <a:srgbClr val="16283D"/>
                </a:solidFill>
                <a:latin typeface="Aptos"/>
                <a:ea typeface="Aptos"/>
                <a:cs typeface="Aptos"/>
              </a:rPr>
              <a:t>The full additional decay sweep</a:t>
            </a:r>
          </a:p>
        </p:txBody>
      </p:sp>
      <p:sp>
        <p:nvSpPr>
          <p:cNvPr id="2" name="">
            <a:extLst xmlns:a="http://schemas.openxmlformats.org/drawingml/2006/main">
              <a:ext uri="{FF2B5EF4-FFF2-40B4-BE49-F238E27FC236}">
                <a16:creationId xmlns:a16="http://schemas.microsoft.com/office/drawing/2014/main" id="{2960050E-CBC2-4302-8C41-F7F00BBA093C}"/>
              </a:ext>
            </a:extLst>
          </p:cNvPr>
          <p:cNvSpPr>
            <a:spLocks xmlns:a="http://schemas.openxmlformats.org/drawingml/2006/main" noGrp="1"/>
          </p:cNvSpPr>
          <p:nvPr/>
        </p:nvSpPr>
        <p:spPr>
          <a:xfrm xmlns:a="http://schemas.openxmlformats.org/drawingml/2006/main">
            <a:off x="11144250" y="63341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276"/>
                </a:solidFill>
                <a:latin typeface="Aptos"/>
                <a:ea typeface="Aptos"/>
                <a:cs typeface="Aptos"/>
              </a:defRPr>
            </a:defPPr>
          </a:lstStyle>
          <a:p xmlns:a="http://schemas.openxmlformats.org/drawingml/2006/main">
            <a:pPr>
              <a:defRPr sz="1200" b="0">
                <a:solidFill>
                  <a:srgbClr val="526276"/>
                </a:solidFill>
                <a:latin typeface="Aptos"/>
                <a:ea typeface="Aptos"/>
                <a:cs typeface="Aptos"/>
              </a:defRPr>
            </a:pPr>
            <a:r>
              <a:rPr sz="1200" b="0">
                <a:solidFill>
                  <a:srgbClr val="526276"/>
                </a:solidFill>
                <a:latin typeface="Aptos"/>
                <a:ea typeface="Aptos"/>
                <a:cs typeface="Aptos"/>
              </a:rPr>
              <a:t>22</a:t>
            </a:r>
          </a:p>
        </p:txBody>
      </p:sp>
      <p:sp>
        <p:nvSpPr>
          <p:cNvPr id="3" name="">
            <a:extLst xmlns:a="http://schemas.openxmlformats.org/drawingml/2006/main">
              <a:ext uri="{FF2B5EF4-FFF2-40B4-BE49-F238E27FC236}">
                <a16:creationId xmlns:a16="http://schemas.microsoft.com/office/drawing/2014/main" id="{4586A020-787D-472D-8BA1-6D9F68152AA1}"/>
              </a:ext>
            </a:extLst>
          </p:cNvPr>
          <p:cNvSpPr>
            <a:spLocks xmlns:a="http://schemas.openxmlformats.org/drawingml/2006/main" noGrp="1"/>
          </p:cNvSpPr>
          <p:nvPr/>
        </p:nvSpPr>
        <p:spPr>
          <a:xfrm xmlns:a="http://schemas.openxmlformats.org/drawingml/2006/main">
            <a:off x="609600" y="6315075"/>
            <a:ext cx="10287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276"/>
                </a:solidFill>
                <a:latin typeface="Aptos"/>
                <a:ea typeface="Aptos"/>
                <a:cs typeface="Aptos"/>
              </a:defRPr>
            </a:defPPr>
          </a:lstStyle>
          <a:p xmlns:a="http://schemas.openxmlformats.org/drawingml/2006/main">
            <a:pPr>
              <a:defRPr sz="1125" b="0">
                <a:solidFill>
                  <a:srgbClr val="526276"/>
                </a:solidFill>
                <a:latin typeface="Aptos"/>
                <a:ea typeface="Aptos"/>
                <a:cs typeface="Aptos"/>
              </a:defRPr>
            </a:pPr>
            <a:r>
              <a:rPr sz="1125" b="0">
                <a:solidFill>
                  <a:srgbClr val="526276"/>
                </a:solidFill>
                <a:latin typeface="Aptos"/>
                <a:ea typeface="Aptos"/>
                <a:cs typeface="Aptos"/>
              </a:rPr>
              <a:t>Source: results/synthetic_streams/random_decay_20ms/summary.csv</a:t>
            </a:r>
          </a:p>
        </p:txBody>
      </p:sp>
      <p:graphicFrame>
        <p:nvGraphicFramePr>
          <p:cNvPr id="4" name="">
            <a:extLst xmlns:a="http://schemas.openxmlformats.org/drawingml/2006/main">
              <a:ext uri="{FF2B5EF4-FFF2-40B4-BE49-F238E27FC236}">
                <a16:creationId xmlns:a16="http://schemas.microsoft.com/office/drawing/2014/main" id="{C9ECF724-5525-41D9-9015-5FF6B02B503B}"/>
              </a:ext>
            </a:extLst>
          </p:cNvPr>
          <p:cNvGraphicFramePr/>
          <p:nvPr/>
        </p:nvGraphicFramePr>
        <p:xfrm>
          <a:off xmlns:a="http://schemas.openxmlformats.org/drawingml/2006/main" x="609600" y="1352550"/>
          <a:ext xmlns:a="http://schemas.openxmlformats.org/drawingml/2006/main" cx="10972800" cy="3905250"/>
        </p:xfrm>
        <a:graphic xmlns:a="http://schemas.openxmlformats.org/drawingml/2006/main">
          <a:graphicData uri="http://schemas.openxmlformats.org/drawingml/2006/table">
            <a:tbl>
              <a:tblPr/>
              <a:tblGrid>
                <a:gridCol w="5429250"/>
                <a:gridCol w="2771775"/>
                <a:gridCol w="2771775"/>
              </a:tblGrid>
              <a:tr h="433917">
                <a:tc>
                  <a:txBody>
                    <a:bodyPr/>
                    <a:lstStyle/>
                    <a:p>
                      <a:r>
                        <a:rPr sz="1725" b="1">
                          <a:solidFill>
                            <a:srgbClr val="FFFFFF"/>
                          </a:solidFill>
                          <a:latin typeface="Aptos"/>
                          <a:ea typeface="Aptos"/>
                          <a:cs typeface="Aptos"/>
                        </a:rPr>
                        <a:t>Alpha, 20 ms windows</a:t>
                      </a:r>
                    </a:p>
                  </a:txBody>
                  <a:tcPr marL="114300" marR="114300" marT="47625" marB="47625">
                    <a:lnL w="9525">
                      <a:solidFill>
                        <a:srgbClr val="D4DDE4"/>
                      </a:solidFill>
                      <a:prstDash val="solid"/>
                    </a:lnL>
                    <a:lnR w="9525">
                      <a:solidFill>
                        <a:srgbClr val="D4DDE4"/>
                      </a:solidFill>
                      <a:prstDash val="solid"/>
                    </a:lnR>
                    <a:lnT w="9525">
                      <a:solidFill>
                        <a:srgbClr val="D4DDE4"/>
                      </a:solidFill>
                      <a:prstDash val="solid"/>
                    </a:lnT>
                    <a:lnB w="9525">
                      <a:solidFill>
                        <a:srgbClr val="D4DDE4"/>
                      </a:solidFill>
                      <a:prstDash val="solid"/>
                    </a:lnB>
                    <a:solidFill>
                      <a:srgbClr val="006A75"/>
                    </a:solidFill>
                  </a:tcPr>
                </a:tc>
                <a:tc>
                  <a:txBody>
                    <a:bodyPr/>
                    <a:lstStyle/>
                    <a:p>
                      <a:r>
                        <a:rPr sz="1725" b="1">
                          <a:solidFill>
                            <a:srgbClr val="FFFFFF"/>
                          </a:solidFill>
                          <a:latin typeface="Aptos"/>
                          <a:ea typeface="Aptos"/>
                          <a:cs typeface="Aptos"/>
                        </a:rPr>
                        <a:t>MLP 8 reduction</a:t>
                      </a:r>
                    </a:p>
                  </a:txBody>
                  <a:tcPr marL="114300" marR="114300" marT="47625" marB="47625">
                    <a:lnR w="9525">
                      <a:solidFill>
                        <a:srgbClr val="D4DDE4"/>
                      </a:solidFill>
                      <a:prstDash val="solid"/>
                    </a:lnR>
                    <a:lnT w="9525">
                      <a:solidFill>
                        <a:srgbClr val="D4DDE4"/>
                      </a:solidFill>
                      <a:prstDash val="solid"/>
                    </a:lnT>
                    <a:lnB w="9525">
                      <a:solidFill>
                        <a:srgbClr val="D4DDE4"/>
                      </a:solidFill>
                      <a:prstDash val="solid"/>
                    </a:lnB>
                    <a:solidFill>
                      <a:srgbClr val="006A75"/>
                    </a:solidFill>
                  </a:tcPr>
                </a:tc>
                <a:tc>
                  <a:txBody>
                    <a:bodyPr/>
                    <a:lstStyle/>
                    <a:p>
                      <a:r>
                        <a:rPr sz="1725" b="1">
                          <a:solidFill>
                            <a:srgbClr val="FFFFFF"/>
                          </a:solidFill>
                          <a:latin typeface="Aptos"/>
                          <a:ea typeface="Aptos"/>
                          <a:cs typeface="Aptos"/>
                        </a:rPr>
                        <a:t>MLP 16 reduction</a:t>
                      </a:r>
                    </a:p>
                  </a:txBody>
                  <a:tcPr marL="114300" marR="114300" marT="47625" marB="47625">
                    <a:lnR w="9525">
                      <a:solidFill>
                        <a:srgbClr val="D4DDE4"/>
                      </a:solidFill>
                      <a:prstDash val="solid"/>
                    </a:lnR>
                    <a:lnT w="9525">
                      <a:solidFill>
                        <a:srgbClr val="D4DDE4"/>
                      </a:solidFill>
                      <a:prstDash val="solid"/>
                    </a:lnT>
                    <a:lnB w="9525">
                      <a:solidFill>
                        <a:srgbClr val="D4DDE4"/>
                      </a:solidFill>
                      <a:prstDash val="solid"/>
                    </a:lnB>
                    <a:solidFill>
                      <a:srgbClr val="006A75"/>
                    </a:solidFill>
                  </a:tcPr>
                </a:tc>
              </a:tr>
              <a:tr h="433917">
                <a:tc>
                  <a:txBody>
                    <a:bodyPr/>
                    <a:lstStyle/>
                    <a:p>
                      <a:r>
                        <a:rPr sz="1725">
                          <a:solidFill>
                            <a:srgbClr val="16283D"/>
                          </a:solidFill>
                          <a:latin typeface="Aptos"/>
                          <a:ea typeface="Aptos"/>
                          <a:cs typeface="Aptos"/>
                        </a:rPr>
                        <a:t>0.264</a:t>
                      </a:r>
                    </a:p>
                  </a:txBody>
                  <a:tcPr marL="114300" marR="114300" marT="47625" marB="47625">
                    <a:lnL w="9525">
                      <a:solidFill>
                        <a:srgbClr val="D4DDE4"/>
                      </a:solidFill>
                      <a:prstDash val="solid"/>
                    </a:lnL>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2.789%</a:t>
                      </a:r>
                    </a:p>
                  </a:txBody>
                  <a:tcPr marL="114300" marR="114300" marT="47625" marB="47625">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9.230%</a:t>
                      </a:r>
                    </a:p>
                  </a:txBody>
                  <a:tcPr marL="114300" marR="114300" marT="47625" marB="47625">
                    <a:lnR w="9525">
                      <a:solidFill>
                        <a:srgbClr val="D4DDE4"/>
                      </a:solidFill>
                      <a:prstDash val="solid"/>
                    </a:lnR>
                    <a:lnB w="9525">
                      <a:solidFill>
                        <a:srgbClr val="D4DDE4"/>
                      </a:solidFill>
                      <a:prstDash val="solid"/>
                    </a:lnB>
                  </a:tcPr>
                </a:tc>
              </a:tr>
              <a:tr h="433917">
                <a:tc>
                  <a:txBody>
                    <a:bodyPr/>
                    <a:lstStyle/>
                    <a:p>
                      <a:r>
                        <a:rPr sz="1725">
                          <a:solidFill>
                            <a:srgbClr val="16283D"/>
                          </a:solidFill>
                          <a:latin typeface="Aptos"/>
                          <a:ea typeface="Aptos"/>
                          <a:cs typeface="Aptos"/>
                        </a:rPr>
                        <a:t>0.379</a:t>
                      </a:r>
                    </a:p>
                  </a:txBody>
                  <a:tcPr marL="114300" marR="114300" marT="47625" marB="47625">
                    <a:lnL w="9525">
                      <a:solidFill>
                        <a:srgbClr val="D4DDE4"/>
                      </a:solidFill>
                      <a:prstDash val="solid"/>
                    </a:lnL>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2.947%</a:t>
                      </a:r>
                    </a:p>
                  </a:txBody>
                  <a:tcPr marL="114300" marR="114300" marT="47625" marB="47625">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13.161%</a:t>
                      </a:r>
                    </a:p>
                  </a:txBody>
                  <a:tcPr marL="114300" marR="114300" marT="47625" marB="47625">
                    <a:lnR w="9525">
                      <a:solidFill>
                        <a:srgbClr val="D4DDE4"/>
                      </a:solidFill>
                      <a:prstDash val="solid"/>
                    </a:lnR>
                    <a:lnB w="9525">
                      <a:solidFill>
                        <a:srgbClr val="D4DDE4"/>
                      </a:solidFill>
                      <a:prstDash val="solid"/>
                    </a:lnB>
                  </a:tcPr>
                </a:tc>
              </a:tr>
              <a:tr h="433917">
                <a:tc>
                  <a:txBody>
                    <a:bodyPr/>
                    <a:lstStyle/>
                    <a:p>
                      <a:r>
                        <a:rPr sz="1725">
                          <a:solidFill>
                            <a:srgbClr val="16283D"/>
                          </a:solidFill>
                          <a:latin typeface="Aptos"/>
                          <a:ea typeface="Aptos"/>
                          <a:cs typeface="Aptos"/>
                        </a:rPr>
                        <a:t>0.503</a:t>
                      </a:r>
                    </a:p>
                  </a:txBody>
                  <a:tcPr marL="114300" marR="114300" marT="47625" marB="47625">
                    <a:lnL w="9525">
                      <a:solidFill>
                        <a:srgbClr val="D4DDE4"/>
                      </a:solidFill>
                      <a:prstDash val="solid"/>
                    </a:lnL>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7.857%</a:t>
                      </a:r>
                    </a:p>
                  </a:txBody>
                  <a:tcPr marL="114300" marR="114300" marT="47625" marB="47625">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21.018%</a:t>
                      </a:r>
                    </a:p>
                  </a:txBody>
                  <a:tcPr marL="114300" marR="114300" marT="47625" marB="47625">
                    <a:lnR w="9525">
                      <a:solidFill>
                        <a:srgbClr val="D4DDE4"/>
                      </a:solidFill>
                      <a:prstDash val="solid"/>
                    </a:lnR>
                    <a:lnB w="9525">
                      <a:solidFill>
                        <a:srgbClr val="D4DDE4"/>
                      </a:solidFill>
                      <a:prstDash val="solid"/>
                    </a:lnB>
                  </a:tcPr>
                </a:tc>
              </a:tr>
              <a:tr h="433917">
                <a:tc>
                  <a:txBody>
                    <a:bodyPr/>
                    <a:lstStyle/>
                    <a:p>
                      <a:r>
                        <a:rPr sz="1725">
                          <a:solidFill>
                            <a:srgbClr val="16283D"/>
                          </a:solidFill>
                          <a:latin typeface="Aptos"/>
                          <a:ea typeface="Aptos"/>
                          <a:cs typeface="Aptos"/>
                        </a:rPr>
                        <a:t>0.619</a:t>
                      </a:r>
                    </a:p>
                  </a:txBody>
                  <a:tcPr marL="114300" marR="114300" marT="47625" marB="47625">
                    <a:lnL w="9525">
                      <a:solidFill>
                        <a:srgbClr val="D4DDE4"/>
                      </a:solidFill>
                      <a:prstDash val="solid"/>
                    </a:lnL>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7.481%</a:t>
                      </a:r>
                    </a:p>
                  </a:txBody>
                  <a:tcPr marL="114300" marR="114300" marT="47625" marB="47625">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24.162%</a:t>
                      </a:r>
                    </a:p>
                  </a:txBody>
                  <a:tcPr marL="114300" marR="114300" marT="47625" marB="47625">
                    <a:lnR w="9525">
                      <a:solidFill>
                        <a:srgbClr val="D4DDE4"/>
                      </a:solidFill>
                      <a:prstDash val="solid"/>
                    </a:lnR>
                    <a:lnB w="9525">
                      <a:solidFill>
                        <a:srgbClr val="D4DDE4"/>
                      </a:solidFill>
                      <a:prstDash val="solid"/>
                    </a:lnB>
                  </a:tcPr>
                </a:tc>
              </a:tr>
              <a:tr h="433917">
                <a:tc>
                  <a:txBody>
                    <a:bodyPr/>
                    <a:lstStyle/>
                    <a:p>
                      <a:r>
                        <a:rPr sz="1725">
                          <a:solidFill>
                            <a:srgbClr val="16283D"/>
                          </a:solidFill>
                          <a:latin typeface="Aptos"/>
                          <a:ea typeface="Aptos"/>
                          <a:cs typeface="Aptos"/>
                        </a:rPr>
                        <a:t>0.700 reference</a:t>
                      </a:r>
                    </a:p>
                  </a:txBody>
                  <a:tcPr marL="114300" marR="114300" marT="47625" marB="47625">
                    <a:lnL w="9525">
                      <a:solidFill>
                        <a:srgbClr val="D4DDE4"/>
                      </a:solidFill>
                      <a:prstDash val="solid"/>
                    </a:lnL>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7.481%</a:t>
                      </a:r>
                    </a:p>
                  </a:txBody>
                  <a:tcPr marL="114300" marR="114300" marT="47625" marB="47625">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24.162%</a:t>
                      </a:r>
                    </a:p>
                  </a:txBody>
                  <a:tcPr marL="114300" marR="114300" marT="47625" marB="47625">
                    <a:lnR w="9525">
                      <a:solidFill>
                        <a:srgbClr val="D4DDE4"/>
                      </a:solidFill>
                      <a:prstDash val="solid"/>
                    </a:lnR>
                    <a:lnB w="9525">
                      <a:solidFill>
                        <a:srgbClr val="D4DDE4"/>
                      </a:solidFill>
                      <a:prstDash val="solid"/>
                    </a:lnB>
                  </a:tcPr>
                </a:tc>
              </a:tr>
              <a:tr h="433917">
                <a:tc>
                  <a:txBody>
                    <a:bodyPr/>
                    <a:lstStyle/>
                    <a:p>
                      <a:r>
                        <a:rPr sz="1725">
                          <a:solidFill>
                            <a:srgbClr val="16283D"/>
                          </a:solidFill>
                          <a:latin typeface="Aptos"/>
                          <a:ea typeface="Aptos"/>
                          <a:cs typeface="Aptos"/>
                        </a:rPr>
                        <a:t>0.847</a:t>
                      </a:r>
                    </a:p>
                  </a:txBody>
                  <a:tcPr marL="114300" marR="114300" marT="47625" marB="47625">
                    <a:lnL w="9525">
                      <a:solidFill>
                        <a:srgbClr val="D4DDE4"/>
                      </a:solidFill>
                      <a:prstDash val="solid"/>
                    </a:lnL>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7.481%</a:t>
                      </a:r>
                    </a:p>
                  </a:txBody>
                  <a:tcPr marL="114300" marR="114300" marT="47625" marB="47625">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28.141%</a:t>
                      </a:r>
                    </a:p>
                  </a:txBody>
                  <a:tcPr marL="114300" marR="114300" marT="47625" marB="47625">
                    <a:lnR w="9525">
                      <a:solidFill>
                        <a:srgbClr val="D4DDE4"/>
                      </a:solidFill>
                      <a:prstDash val="solid"/>
                    </a:lnR>
                    <a:lnB w="9525">
                      <a:solidFill>
                        <a:srgbClr val="D4DDE4"/>
                      </a:solidFill>
                      <a:prstDash val="solid"/>
                    </a:lnB>
                  </a:tcPr>
                </a:tc>
              </a:tr>
              <a:tr h="433917">
                <a:tc>
                  <a:txBody>
                    <a:bodyPr/>
                    <a:lstStyle/>
                    <a:p>
                      <a:r>
                        <a:rPr sz="1725">
                          <a:solidFill>
                            <a:srgbClr val="16283D"/>
                          </a:solidFill>
                          <a:latin typeface="Aptos"/>
                          <a:ea typeface="Aptos"/>
                          <a:cs typeface="Aptos"/>
                        </a:rPr>
                        <a:t>0.874</a:t>
                      </a:r>
                    </a:p>
                  </a:txBody>
                  <a:tcPr marL="114300" marR="114300" marT="47625" marB="47625">
                    <a:lnL w="9525">
                      <a:solidFill>
                        <a:srgbClr val="D4DDE4"/>
                      </a:solidFill>
                      <a:prstDash val="solid"/>
                    </a:lnL>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7.481%</a:t>
                      </a:r>
                    </a:p>
                  </a:txBody>
                  <a:tcPr marL="114300" marR="114300" marT="47625" marB="47625">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28.141%</a:t>
                      </a:r>
                    </a:p>
                  </a:txBody>
                  <a:tcPr marL="114300" marR="114300" marT="47625" marB="47625">
                    <a:lnR w="9525">
                      <a:solidFill>
                        <a:srgbClr val="D4DDE4"/>
                      </a:solidFill>
                      <a:prstDash val="solid"/>
                    </a:lnR>
                    <a:lnB w="9525">
                      <a:solidFill>
                        <a:srgbClr val="D4DDE4"/>
                      </a:solidFill>
                      <a:prstDash val="solid"/>
                    </a:lnB>
                  </a:tcPr>
                </a:tc>
              </a:tr>
              <a:tr h="433917">
                <a:tc>
                  <a:txBody>
                    <a:bodyPr/>
                    <a:lstStyle/>
                    <a:p>
                      <a:r>
                        <a:rPr sz="1725">
                          <a:solidFill>
                            <a:srgbClr val="16283D"/>
                          </a:solidFill>
                          <a:latin typeface="Aptos"/>
                          <a:ea typeface="Aptos"/>
                          <a:cs typeface="Aptos"/>
                        </a:rPr>
                        <a:t>1.000 reference</a:t>
                      </a:r>
                    </a:p>
                  </a:txBody>
                  <a:tcPr marL="114300" marR="114300" marT="47625" marB="47625">
                    <a:lnL w="9525">
                      <a:solidFill>
                        <a:srgbClr val="D4DDE4"/>
                      </a:solidFill>
                      <a:prstDash val="solid"/>
                    </a:lnL>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4.899%</a:t>
                      </a:r>
                    </a:p>
                  </a:txBody>
                  <a:tcPr marL="114300" marR="114300" marT="47625" marB="47625">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23.947%</a:t>
                      </a:r>
                    </a:p>
                  </a:txBody>
                  <a:tcPr marL="114300" marR="114300" marT="47625" marB="47625">
                    <a:lnR w="9525">
                      <a:solidFill>
                        <a:srgbClr val="D4DDE4"/>
                      </a:solidFill>
                      <a:prstDash val="solid"/>
                    </a:lnR>
                    <a:lnB w="9525">
                      <a:solidFill>
                        <a:srgbClr val="D4DDE4"/>
                      </a:solidFill>
                      <a:prstDash val="solid"/>
                    </a:lnB>
                  </a:tcPr>
                </a:tc>
              </a:tr>
            </a:tbl>
          </a:graphicData>
        </a:graphic>
      </p:graphicFrame>
      <p:sp>
        <p:nvSpPr>
          <p:cNvPr id="5" name="">
            <a:extLst xmlns:a="http://schemas.openxmlformats.org/drawingml/2006/main">
              <a:ext uri="{FF2B5EF4-FFF2-40B4-BE49-F238E27FC236}">
                <a16:creationId xmlns:a16="http://schemas.microsoft.com/office/drawing/2014/main" id="{D92FE0CE-952A-4CFB-9E42-FC2F96470BB8}"/>
              </a:ext>
            </a:extLst>
          </p:cNvPr>
          <p:cNvSpPr>
            <a:spLocks xmlns:a="http://schemas.openxmlformats.org/drawingml/2006/main" noGrp="1"/>
          </p:cNvSpPr>
          <p:nvPr/>
        </p:nvSpPr>
        <p:spPr>
          <a:xfrm xmlns:a="http://schemas.openxmlformats.org/drawingml/2006/main">
            <a:off x="609600" y="540067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6283D"/>
                </a:solidFill>
                <a:latin typeface="Aptos"/>
                <a:ea typeface="Aptos"/>
                <a:cs typeface="Aptos"/>
              </a:defRPr>
            </a:defPPr>
          </a:lstStyle>
          <a:p xmlns:a="http://schemas.openxmlformats.org/drawingml/2006/main">
            <a:pPr>
              <a:defRPr sz="1875" b="0">
                <a:solidFill>
                  <a:srgbClr val="16283D"/>
                </a:solidFill>
                <a:latin typeface="Aptos"/>
                <a:ea typeface="Aptos"/>
                <a:cs typeface="Aptos"/>
              </a:defRPr>
            </a:pPr>
            <a:r>
              <a:rPr sz="1875" b="0">
                <a:solidFill>
                  <a:srgbClr val="16283D"/>
                </a:solidFill>
                <a:latin typeface="Aptos"/>
                <a:ea typeface="Aptos"/>
                <a:cs typeface="Aptos"/>
              </a:rPr>
              <a:t>The fresh sweep decays reservoir values and page scores consistently. Its MLP-1 controls tie. These are parameter sensitivity runs, without independent stochastic trials.</a:t>
            </a:r>
          </a:p>
        </p:txBody>
      </p:sp>
      <p:sp>
        <p:nvSpPr>
          <p:cNvPr id="6" name="">
            <a:extLst xmlns:a="http://schemas.openxmlformats.org/drawingml/2006/main">
              <a:ext uri="{FF2B5EF4-FFF2-40B4-BE49-F238E27FC236}">
                <a16:creationId xmlns:a16="http://schemas.microsoft.com/office/drawing/2014/main" id="{5A259F10-5A64-47B1-B0A1-E26B7E0FC64B}"/>
              </a:ext>
            </a:extLst>
          </p:cNvPr>
          <p:cNvSpPr>
            <a:spLocks xmlns:a="http://schemas.openxmlformats.org/drawingml/2006/main" noGrp="1"/>
          </p:cNvSpPr>
          <p:nvPr/>
        </p:nvSpPr>
        <p:spPr>
          <a:xfrm xmlns:a="http://schemas.openxmlformats.org/drawingml/2006/main">
            <a:off x="609600" y="60102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6A75"/>
                </a:solidFill>
                <a:latin typeface="Aptos"/>
                <a:ea typeface="Aptos"/>
                <a:cs typeface="Aptos"/>
              </a:defRPr>
            </a:defPPr>
          </a:lstStyle>
          <a:p xmlns:a="http://schemas.openxmlformats.org/drawingml/2006/main">
            <a:pPr>
              <a:defRPr sz="1725" b="1">
                <a:solidFill>
                  <a:srgbClr val="006A75"/>
                </a:solidFill>
                <a:latin typeface="Aptos"/>
                <a:ea typeface="Aptos"/>
                <a:cs typeface="Aptos"/>
              </a:defRPr>
            </a:pPr>
            <a:r>
              <a:rPr sz="1725" b="1">
                <a:solidFill>
                  <a:srgbClr val="006A75"/>
                </a:solidFill>
                <a:latin typeface="Aptos"/>
                <a:ea typeface="Aptos"/>
                <a:cs typeface="Aptos"/>
              </a:rPr>
              <a:t>Best case: 28.14%. Range: 9.23–28.14%. Historical alpha &lt; 1 runs use earlier reservoir behavior.</a:t>
            </a:r>
          </a:p>
        </p:txBody>
      </p:sp>
    </p:spTree>
    <p:extLst>
      <p:ext uri="{BB962C8B-B14F-4D97-AF65-F5344CB8AC3E}">
        <p14:creationId xmlns:p14="http://schemas.microsoft.com/office/powerpoint/2010/main" val="1053178662"/>
      </p:ext>
    </p:extLst>
  </p:cSld>
</p:sld>
</file>

<file path=ppt/slides/slide2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FB98B03-F2A7-4AD6-B9C9-EF1992DC012F}"/>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6283D"/>
                </a:solidFill>
                <a:latin typeface="Aptos"/>
                <a:ea typeface="Aptos"/>
                <a:cs typeface="Aptos"/>
              </a:defRPr>
            </a:defPPr>
          </a:lstStyle>
          <a:p xmlns:a="http://schemas.openxmlformats.org/drawingml/2006/main">
            <a:pPr>
              <a:defRPr sz="3225" b="1">
                <a:solidFill>
                  <a:srgbClr val="16283D"/>
                </a:solidFill>
                <a:latin typeface="Aptos"/>
                <a:ea typeface="Aptos"/>
                <a:cs typeface="Aptos"/>
              </a:defRPr>
            </a:pPr>
            <a:r>
              <a:rPr sz="3225" b="1">
                <a:solidFill>
                  <a:srgbClr val="16283D"/>
                </a:solidFill>
                <a:latin typeface="Aptos"/>
                <a:ea typeface="Aptos"/>
                <a:cs typeface="Aptos"/>
              </a:rPr>
              <a:t>Checks supporting the comparison</a:t>
            </a:r>
          </a:p>
        </p:txBody>
      </p:sp>
      <p:sp>
        <p:nvSpPr>
          <p:cNvPr id="2" name="">
            <a:extLst xmlns:a="http://schemas.openxmlformats.org/drawingml/2006/main">
              <a:ext uri="{FF2B5EF4-FFF2-40B4-BE49-F238E27FC236}">
                <a16:creationId xmlns:a16="http://schemas.microsoft.com/office/drawing/2014/main" id="{AF5B5EC2-44AC-4307-9593-EA379F476194}"/>
              </a:ext>
            </a:extLst>
          </p:cNvPr>
          <p:cNvSpPr>
            <a:spLocks xmlns:a="http://schemas.openxmlformats.org/drawingml/2006/main" noGrp="1"/>
          </p:cNvSpPr>
          <p:nvPr/>
        </p:nvSpPr>
        <p:spPr>
          <a:xfrm xmlns:a="http://schemas.openxmlformats.org/drawingml/2006/main">
            <a:off x="11144250" y="63341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276"/>
                </a:solidFill>
                <a:latin typeface="Aptos"/>
                <a:ea typeface="Aptos"/>
                <a:cs typeface="Aptos"/>
              </a:defRPr>
            </a:defPPr>
          </a:lstStyle>
          <a:p xmlns:a="http://schemas.openxmlformats.org/drawingml/2006/main">
            <a:pPr>
              <a:defRPr sz="1200" b="0">
                <a:solidFill>
                  <a:srgbClr val="526276"/>
                </a:solidFill>
                <a:latin typeface="Aptos"/>
                <a:ea typeface="Aptos"/>
                <a:cs typeface="Aptos"/>
              </a:defRPr>
            </a:pPr>
            <a:r>
              <a:rPr sz="1200" b="0">
                <a:solidFill>
                  <a:srgbClr val="526276"/>
                </a:solidFill>
                <a:latin typeface="Aptos"/>
                <a:ea typeface="Aptos"/>
                <a:cs typeface="Aptos"/>
              </a:rPr>
              <a:t>23</a:t>
            </a:r>
          </a:p>
        </p:txBody>
      </p:sp>
      <p:sp>
        <p:nvSpPr>
          <p:cNvPr id="3" name="">
            <a:extLst xmlns:a="http://schemas.openxmlformats.org/drawingml/2006/main">
              <a:ext uri="{FF2B5EF4-FFF2-40B4-BE49-F238E27FC236}">
                <a16:creationId xmlns:a16="http://schemas.microsoft.com/office/drawing/2014/main" id="{89823044-C50F-4C4A-997E-44B5EE503E63}"/>
              </a:ext>
            </a:extLst>
          </p:cNvPr>
          <p:cNvSpPr>
            <a:spLocks xmlns:a="http://schemas.openxmlformats.org/drawingml/2006/main" noGrp="1"/>
          </p:cNvSpPr>
          <p:nvPr/>
        </p:nvSpPr>
        <p:spPr>
          <a:xfrm xmlns:a="http://schemas.openxmlformats.org/drawingml/2006/main">
            <a:off x="609600" y="6315075"/>
            <a:ext cx="10287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276"/>
                </a:solidFill>
                <a:latin typeface="Aptos"/>
                <a:ea typeface="Aptos"/>
                <a:cs typeface="Aptos"/>
              </a:defRPr>
            </a:defPPr>
          </a:lstStyle>
          <a:p xmlns:a="http://schemas.openxmlformats.org/drawingml/2006/main">
            <a:pPr>
              <a:defRPr sz="1125" b="0">
                <a:solidFill>
                  <a:srgbClr val="526276"/>
                </a:solidFill>
                <a:latin typeface="Aptos"/>
                <a:ea typeface="Aptos"/>
                <a:cs typeface="Aptos"/>
              </a:defRPr>
            </a:pPr>
            <a:r>
              <a:rPr sz="1125" b="0">
                <a:solidFill>
                  <a:srgbClr val="526276"/>
                </a:solidFill>
                <a:latin typeface="Aptos"/>
                <a:ea typeface="Aptos"/>
                <a:cs typeface="Aptos"/>
              </a:rPr>
              <a:t>Source: SYNTHETIC_STREAMS.md</a:t>
            </a:r>
          </a:p>
        </p:txBody>
      </p:sp>
      <p:sp>
        <p:nvSpPr>
          <p:cNvPr id="4" name="">
            <a:extLst xmlns:a="http://schemas.openxmlformats.org/drawingml/2006/main">
              <a:ext uri="{FF2B5EF4-FFF2-40B4-BE49-F238E27FC236}">
                <a16:creationId xmlns:a16="http://schemas.microsoft.com/office/drawing/2014/main" id="{27DA532C-2153-4EAC-AD30-DD5233CBB798}"/>
              </a:ext>
            </a:extLst>
          </p:cNvPr>
          <p:cNvSpPr>
            <a:spLocks xmlns:a="http://schemas.openxmlformats.org/drawingml/2006/main" noGrp="1"/>
          </p:cNvSpPr>
          <p:nvPr/>
        </p:nvSpPr>
        <p:spPr>
          <a:xfrm xmlns:a="http://schemas.openxmlformats.org/drawingml/2006/main">
            <a:off x="628650" y="150495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6A75"/>
                </a:solidFill>
                <a:latin typeface="Aptos"/>
                <a:ea typeface="Aptos"/>
                <a:cs typeface="Aptos"/>
              </a:defRPr>
            </a:defPPr>
          </a:lstStyle>
          <a:p xmlns:a="http://schemas.openxmlformats.org/drawingml/2006/main">
            <a:pPr>
              <a:defRPr sz="1725" b="1">
                <a:solidFill>
                  <a:srgbClr val="006A75"/>
                </a:solidFill>
                <a:latin typeface="Aptos"/>
                <a:ea typeface="Aptos"/>
                <a:cs typeface="Aptos"/>
              </a:defRPr>
            </a:pPr>
            <a:r>
              <a:rPr sz="1725" b="1">
                <a:solidFill>
                  <a:srgbClr val="006A75"/>
                </a:solidFill>
                <a:latin typeface="Aptos"/>
                <a:ea typeface="Aptos"/>
                <a:cs typeface="Aptos"/>
              </a:rPr>
              <a:t>01</a:t>
            </a:r>
          </a:p>
        </p:txBody>
      </p:sp>
      <p:sp>
        <p:nvSpPr>
          <p:cNvPr id="5" name="">
            <a:extLst xmlns:a="http://schemas.openxmlformats.org/drawingml/2006/main">
              <a:ext uri="{FF2B5EF4-FFF2-40B4-BE49-F238E27FC236}">
                <a16:creationId xmlns:a16="http://schemas.microsoft.com/office/drawing/2014/main" id="{13E2D7EB-ACE8-4FB0-B91C-E1DD2A1F9B25}"/>
              </a:ext>
            </a:extLst>
          </p:cNvPr>
          <p:cNvSpPr>
            <a:spLocks xmlns:a="http://schemas.openxmlformats.org/drawingml/2006/main" noGrp="1"/>
          </p:cNvSpPr>
          <p:nvPr/>
        </p:nvSpPr>
        <p:spPr>
          <a:xfrm xmlns:a="http://schemas.openxmlformats.org/drawingml/2006/main">
            <a:off x="1200150" y="148590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83D"/>
                </a:solidFill>
                <a:latin typeface="Aptos"/>
                <a:ea typeface="Aptos"/>
                <a:cs typeface="Aptos"/>
              </a:defRPr>
            </a:defPPr>
          </a:lstStyle>
          <a:p xmlns:a="http://schemas.openxmlformats.org/drawingml/2006/main">
            <a:pPr>
              <a:defRPr sz="2100" b="0">
                <a:solidFill>
                  <a:srgbClr val="16283D"/>
                </a:solidFill>
                <a:latin typeface="Aptos"/>
                <a:ea typeface="Aptos"/>
                <a:cs typeface="Aptos"/>
              </a:defRPr>
            </a:pPr>
            <a:r>
              <a:rPr sz="2100" b="0">
                <a:solidFill>
                  <a:srgbClr val="16283D"/>
                </a:solidFill>
                <a:latin typeface="Aptos"/>
                <a:ea typeface="Aptos"/>
                <a:cs typeface="Aptos"/>
              </a:rPr>
              <a:t>Every scenario preserves load-request count and DRAM capacity. Both policies must actually complete 1,024 promotions and 1,024 demotions, with equal copy costs.</a:t>
            </a:r>
          </a:p>
        </p:txBody>
      </p:sp>
      <p:sp>
        <p:nvSpPr>
          <p:cNvPr id="6" name="">
            <a:extLst xmlns:a="http://schemas.openxmlformats.org/drawingml/2006/main">
              <a:ext uri="{FF2B5EF4-FFF2-40B4-BE49-F238E27FC236}">
                <a16:creationId xmlns:a16="http://schemas.microsoft.com/office/drawing/2014/main" id="{08DE7BF1-26B3-4B07-9EE4-846380AB5917}"/>
              </a:ext>
            </a:extLst>
          </p:cNvPr>
          <p:cNvSpPr>
            <a:spLocks xmlns:a="http://schemas.openxmlformats.org/drawingml/2006/main" noGrp="1"/>
          </p:cNvSpPr>
          <p:nvPr/>
        </p:nvSpPr>
        <p:spPr>
          <a:xfrm xmlns:a="http://schemas.openxmlformats.org/drawingml/2006/main">
            <a:off x="628650" y="260985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6A75"/>
                </a:solidFill>
                <a:latin typeface="Aptos"/>
                <a:ea typeface="Aptos"/>
                <a:cs typeface="Aptos"/>
              </a:defRPr>
            </a:defPPr>
          </a:lstStyle>
          <a:p xmlns:a="http://schemas.openxmlformats.org/drawingml/2006/main">
            <a:pPr>
              <a:defRPr sz="1725" b="1">
                <a:solidFill>
                  <a:srgbClr val="006A75"/>
                </a:solidFill>
                <a:latin typeface="Aptos"/>
                <a:ea typeface="Aptos"/>
                <a:cs typeface="Aptos"/>
              </a:defRPr>
            </a:pPr>
            <a:r>
              <a:rPr sz="1725" b="1">
                <a:solidFill>
                  <a:srgbClr val="006A75"/>
                </a:solidFill>
                <a:latin typeface="Aptos"/>
                <a:ea typeface="Aptos"/>
                <a:cs typeface="Aptos"/>
              </a:rPr>
              <a:t>02</a:t>
            </a:r>
          </a:p>
        </p:txBody>
      </p:sp>
      <p:sp>
        <p:nvSpPr>
          <p:cNvPr id="7" name="">
            <a:extLst xmlns:a="http://schemas.openxmlformats.org/drawingml/2006/main">
              <a:ext uri="{FF2B5EF4-FFF2-40B4-BE49-F238E27FC236}">
                <a16:creationId xmlns:a16="http://schemas.microsoft.com/office/drawing/2014/main" id="{C9C40438-2DE7-46C0-B17E-BECAFC7BA2F7}"/>
              </a:ext>
            </a:extLst>
          </p:cNvPr>
          <p:cNvSpPr>
            <a:spLocks xmlns:a="http://schemas.openxmlformats.org/drawingml/2006/main" noGrp="1"/>
          </p:cNvSpPr>
          <p:nvPr/>
        </p:nvSpPr>
        <p:spPr>
          <a:xfrm xmlns:a="http://schemas.openxmlformats.org/drawingml/2006/main">
            <a:off x="1200150" y="259080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83D"/>
                </a:solidFill>
                <a:latin typeface="Aptos"/>
                <a:ea typeface="Aptos"/>
                <a:cs typeface="Aptos"/>
              </a:defRPr>
            </a:defPPr>
          </a:lstStyle>
          <a:p xmlns:a="http://schemas.openxmlformats.org/drawingml/2006/main">
            <a:pPr>
              <a:defRPr sz="2100" b="0">
                <a:solidFill>
                  <a:srgbClr val="16283D"/>
                </a:solidFill>
                <a:latin typeface="Aptos"/>
                <a:ea typeface="Aptos"/>
                <a:cs typeface="Aptos"/>
              </a:defRPr>
            </a:pPr>
            <a:r>
              <a:rPr sz="2100" b="0">
                <a:solidFill>
                  <a:srgbClr val="16283D"/>
                </a:solidFill>
                <a:latin typeface="Aptos"/>
                <a:ea typeface="Aptos"/>
                <a:cs typeface="Aptos"/>
              </a:rPr>
              <a:t>The synthetic timing checks cover serial execution, independent batches, repeated cycles, partial batches and mixed-tier requests. Constant-MLP scoring must tie frequency.</a:t>
            </a:r>
          </a:p>
        </p:txBody>
      </p:sp>
      <p:sp>
        <p:nvSpPr>
          <p:cNvPr id="8" name="">
            <a:extLst xmlns:a="http://schemas.openxmlformats.org/drawingml/2006/main">
              <a:ext uri="{FF2B5EF4-FFF2-40B4-BE49-F238E27FC236}">
                <a16:creationId xmlns:a16="http://schemas.microsoft.com/office/drawing/2014/main" id="{77C03AC3-E094-4C73-8973-0FA85B8805C7}"/>
              </a:ext>
            </a:extLst>
          </p:cNvPr>
          <p:cNvSpPr>
            <a:spLocks xmlns:a="http://schemas.openxmlformats.org/drawingml/2006/main" noGrp="1"/>
          </p:cNvSpPr>
          <p:nvPr/>
        </p:nvSpPr>
        <p:spPr>
          <a:xfrm xmlns:a="http://schemas.openxmlformats.org/drawingml/2006/main">
            <a:off x="628650" y="371475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6A75"/>
                </a:solidFill>
                <a:latin typeface="Aptos"/>
                <a:ea typeface="Aptos"/>
                <a:cs typeface="Aptos"/>
              </a:defRPr>
            </a:defPPr>
          </a:lstStyle>
          <a:p xmlns:a="http://schemas.openxmlformats.org/drawingml/2006/main">
            <a:pPr>
              <a:defRPr sz="1725" b="1">
                <a:solidFill>
                  <a:srgbClr val="006A75"/>
                </a:solidFill>
                <a:latin typeface="Aptos"/>
                <a:ea typeface="Aptos"/>
                <a:cs typeface="Aptos"/>
              </a:defRPr>
            </a:pPr>
            <a:r>
              <a:rPr sz="1725" b="1">
                <a:solidFill>
                  <a:srgbClr val="006A75"/>
                </a:solidFill>
                <a:latin typeface="Aptos"/>
                <a:ea typeface="Aptos"/>
                <a:cs typeface="Aptos"/>
              </a:rPr>
              <a:t>03</a:t>
            </a:r>
          </a:p>
        </p:txBody>
      </p:sp>
      <p:sp>
        <p:nvSpPr>
          <p:cNvPr id="9" name="">
            <a:extLst xmlns:a="http://schemas.openxmlformats.org/drawingml/2006/main">
              <a:ext uri="{FF2B5EF4-FFF2-40B4-BE49-F238E27FC236}">
                <a16:creationId xmlns:a16="http://schemas.microsoft.com/office/drawing/2014/main" id="{B287128C-C304-4E47-B977-DAFE37969A0A}"/>
              </a:ext>
            </a:extLst>
          </p:cNvPr>
          <p:cNvSpPr>
            <a:spLocks xmlns:a="http://schemas.openxmlformats.org/drawingml/2006/main" noGrp="1"/>
          </p:cNvSpPr>
          <p:nvPr/>
        </p:nvSpPr>
        <p:spPr>
          <a:xfrm xmlns:a="http://schemas.openxmlformats.org/drawingml/2006/main">
            <a:off x="1200150" y="369570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83D"/>
                </a:solidFill>
                <a:latin typeface="Aptos"/>
                <a:ea typeface="Aptos"/>
                <a:cs typeface="Aptos"/>
              </a:defRPr>
            </a:defPPr>
          </a:lstStyle>
          <a:p xmlns:a="http://schemas.openxmlformats.org/drawingml/2006/main">
            <a:pPr>
              <a:defRPr sz="2100" b="0">
                <a:solidFill>
                  <a:srgbClr val="16283D"/>
                </a:solidFill>
                <a:latin typeface="Aptos"/>
                <a:ea typeface="Aptos"/>
                <a:cs typeface="Aptos"/>
              </a:defRPr>
            </a:pPr>
            <a:r>
              <a:rPr sz="2100" b="0">
                <a:solidFill>
                  <a:srgbClr val="16283D"/>
                </a:solidFill>
                <a:latin typeface="Aptos"/>
                <a:ea typeface="Aptos"/>
                <a:cs typeface="Aptos"/>
              </a:rPr>
              <a:t>The trace engines check cache filtering, demand-load attribution, store exclusion, causal dependency handling and decision timestamps. Streaming and full replay have equivalence checks.</a:t>
            </a:r>
          </a:p>
        </p:txBody>
      </p:sp>
      <p:sp>
        <p:nvSpPr>
          <p:cNvPr id="10" name="">
            <a:extLst xmlns:a="http://schemas.openxmlformats.org/drawingml/2006/main">
              <a:ext uri="{FF2B5EF4-FFF2-40B4-BE49-F238E27FC236}">
                <a16:creationId xmlns:a16="http://schemas.microsoft.com/office/drawing/2014/main" id="{9B2B9037-4FF7-41A2-B0B6-2FEC7E46D5CE}"/>
              </a:ext>
            </a:extLst>
          </p:cNvPr>
          <p:cNvSpPr>
            <a:spLocks xmlns:a="http://schemas.openxmlformats.org/drawingml/2006/main" noGrp="1"/>
          </p:cNvSpPr>
          <p:nvPr/>
        </p:nvSpPr>
        <p:spPr>
          <a:xfrm xmlns:a="http://schemas.openxmlformats.org/drawingml/2006/main">
            <a:off x="628650" y="481965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6A75"/>
                </a:solidFill>
                <a:latin typeface="Aptos"/>
                <a:ea typeface="Aptos"/>
                <a:cs typeface="Aptos"/>
              </a:defRPr>
            </a:defPPr>
          </a:lstStyle>
          <a:p xmlns:a="http://schemas.openxmlformats.org/drawingml/2006/main">
            <a:pPr>
              <a:defRPr sz="1725" b="1">
                <a:solidFill>
                  <a:srgbClr val="006A75"/>
                </a:solidFill>
                <a:latin typeface="Aptos"/>
                <a:ea typeface="Aptos"/>
                <a:cs typeface="Aptos"/>
              </a:defRPr>
            </a:pPr>
            <a:r>
              <a:rPr sz="1725" b="1">
                <a:solidFill>
                  <a:srgbClr val="006A75"/>
                </a:solidFill>
                <a:latin typeface="Aptos"/>
                <a:ea typeface="Aptos"/>
                <a:cs typeface="Aptos"/>
              </a:rPr>
              <a:t>04</a:t>
            </a:r>
          </a:p>
        </p:txBody>
      </p:sp>
      <p:sp>
        <p:nvSpPr>
          <p:cNvPr id="11" name="">
            <a:extLst xmlns:a="http://schemas.openxmlformats.org/drawingml/2006/main">
              <a:ext uri="{FF2B5EF4-FFF2-40B4-BE49-F238E27FC236}">
                <a16:creationId xmlns:a16="http://schemas.microsoft.com/office/drawing/2014/main" id="{BEFC0731-469A-4721-866E-4B519837F2B1}"/>
              </a:ext>
            </a:extLst>
          </p:cNvPr>
          <p:cNvSpPr>
            <a:spLocks xmlns:a="http://schemas.openxmlformats.org/drawingml/2006/main" noGrp="1"/>
          </p:cNvSpPr>
          <p:nvPr/>
        </p:nvSpPr>
        <p:spPr>
          <a:xfrm xmlns:a="http://schemas.openxmlformats.org/drawingml/2006/main">
            <a:off x="1200150" y="480060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83D"/>
                </a:solidFill>
                <a:latin typeface="Aptos"/>
                <a:ea typeface="Aptos"/>
                <a:cs typeface="Aptos"/>
              </a:defRPr>
            </a:defPPr>
          </a:lstStyle>
          <a:p xmlns:a="http://schemas.openxmlformats.org/drawingml/2006/main">
            <a:pPr>
              <a:defRPr sz="2100" b="0">
                <a:solidFill>
                  <a:srgbClr val="16283D"/>
                </a:solidFill>
                <a:latin typeface="Aptos"/>
                <a:ea typeface="Aptos"/>
                <a:cs typeface="Aptos"/>
              </a:defRPr>
            </a:pPr>
            <a:r>
              <a:rPr sz="2100" b="0">
                <a:solidFill>
                  <a:srgbClr val="16283D"/>
                </a:solidFill>
                <a:latin typeface="Aptos"/>
                <a:ea typeface="Aptos"/>
                <a:cs typeface="Aptos"/>
              </a:rPr>
              <a:t>We retain window MLP, per-page scores, final residency, migrations, configuration and all fixed scenarios. These records explain the mechanism behind the reported percentage.</a:t>
            </a:r>
          </a:p>
        </p:txBody>
      </p:sp>
    </p:spTree>
    <p:extLst>
      <p:ext uri="{BB962C8B-B14F-4D97-AF65-F5344CB8AC3E}">
        <p14:creationId xmlns:p14="http://schemas.microsoft.com/office/powerpoint/2010/main" val="852556734"/>
      </p:ext>
    </p:extLst>
  </p:cSld>
</p:sld>
</file>

<file path=ppt/slides/slide2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BCCF4D3-DC61-4CD9-B223-FBDDBFAA3377}"/>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6283D"/>
                </a:solidFill>
                <a:latin typeface="Aptos"/>
                <a:ea typeface="Aptos"/>
                <a:cs typeface="Aptos"/>
              </a:defRPr>
            </a:defPPr>
          </a:lstStyle>
          <a:p xmlns:a="http://schemas.openxmlformats.org/drawingml/2006/main">
            <a:pPr>
              <a:defRPr sz="3225" b="1">
                <a:solidFill>
                  <a:srgbClr val="16283D"/>
                </a:solidFill>
                <a:latin typeface="Aptos"/>
                <a:ea typeface="Aptos"/>
                <a:cs typeface="Aptos"/>
              </a:defRPr>
            </a:pPr>
            <a:r>
              <a:rPr sz="3225" b="1">
                <a:solidFill>
                  <a:srgbClr val="16283D"/>
                </a:solidFill>
                <a:latin typeface="Aptos"/>
                <a:ea typeface="Aptos"/>
                <a:cs typeface="Aptos"/>
              </a:rPr>
              <a:t>Implemented architecture and remaining deployment work</a:t>
            </a:r>
          </a:p>
        </p:txBody>
      </p:sp>
      <p:sp>
        <p:nvSpPr>
          <p:cNvPr id="2" name="">
            <a:extLst xmlns:a="http://schemas.openxmlformats.org/drawingml/2006/main">
              <a:ext uri="{FF2B5EF4-FFF2-40B4-BE49-F238E27FC236}">
                <a16:creationId xmlns:a16="http://schemas.microsoft.com/office/drawing/2014/main" id="{E4BF74CC-459F-4D3D-90DB-3127D19BC52E}"/>
              </a:ext>
            </a:extLst>
          </p:cNvPr>
          <p:cNvSpPr>
            <a:spLocks xmlns:a="http://schemas.openxmlformats.org/drawingml/2006/main" noGrp="1"/>
          </p:cNvSpPr>
          <p:nvPr/>
        </p:nvSpPr>
        <p:spPr>
          <a:xfrm xmlns:a="http://schemas.openxmlformats.org/drawingml/2006/main">
            <a:off x="11144250" y="63341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276"/>
                </a:solidFill>
                <a:latin typeface="Aptos"/>
                <a:ea typeface="Aptos"/>
                <a:cs typeface="Aptos"/>
              </a:defRPr>
            </a:defPPr>
          </a:lstStyle>
          <a:p xmlns:a="http://schemas.openxmlformats.org/drawingml/2006/main">
            <a:pPr>
              <a:defRPr sz="1200" b="0">
                <a:solidFill>
                  <a:srgbClr val="526276"/>
                </a:solidFill>
                <a:latin typeface="Aptos"/>
                <a:ea typeface="Aptos"/>
                <a:cs typeface="Aptos"/>
              </a:defRPr>
            </a:pPr>
            <a:r>
              <a:rPr sz="1200" b="0">
                <a:solidFill>
                  <a:srgbClr val="526276"/>
                </a:solidFill>
                <a:latin typeface="Aptos"/>
                <a:ea typeface="Aptos"/>
                <a:cs typeface="Aptos"/>
              </a:rPr>
              <a:t>24</a:t>
            </a:r>
          </a:p>
        </p:txBody>
      </p:sp>
      <p:sp>
        <p:nvSpPr>
          <p:cNvPr id="3" name="">
            <a:extLst xmlns:a="http://schemas.openxmlformats.org/drawingml/2006/main">
              <a:ext uri="{FF2B5EF4-FFF2-40B4-BE49-F238E27FC236}">
                <a16:creationId xmlns:a16="http://schemas.microsoft.com/office/drawing/2014/main" id="{50D4D3C8-A208-446E-9C34-B462B1D36F30}"/>
              </a:ext>
            </a:extLst>
          </p:cNvPr>
          <p:cNvSpPr>
            <a:spLocks xmlns:a="http://schemas.openxmlformats.org/drawingml/2006/main" noGrp="1"/>
          </p:cNvSpPr>
          <p:nvPr/>
        </p:nvSpPr>
        <p:spPr>
          <a:xfrm xmlns:a="http://schemas.openxmlformats.org/drawingml/2006/main">
            <a:off x="609600" y="6315075"/>
            <a:ext cx="10287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276"/>
                </a:solidFill>
                <a:latin typeface="Aptos"/>
                <a:ea typeface="Aptos"/>
                <a:cs typeface="Aptos"/>
              </a:defRPr>
            </a:defPPr>
          </a:lstStyle>
          <a:p xmlns:a="http://schemas.openxmlformats.org/drawingml/2006/main">
            <a:pPr>
              <a:defRPr sz="1125" b="0">
                <a:solidFill>
                  <a:srgbClr val="526276"/>
                </a:solidFill>
                <a:latin typeface="Aptos"/>
                <a:ea typeface="Aptos"/>
                <a:cs typeface="Aptos"/>
              </a:defRPr>
            </a:pPr>
            <a:r>
              <a:rPr sz="1125" b="0">
                <a:solidFill>
                  <a:srgbClr val="526276"/>
                </a:solidFill>
                <a:latin typeface="Aptos"/>
                <a:ea typeface="Aptos"/>
                <a:cs typeface="Aptos"/>
              </a:rPr>
              <a:t>Source: COMPACT_MODEL.md</a:t>
            </a:r>
          </a:p>
        </p:txBody>
      </p:sp>
      <p:sp>
        <p:nvSpPr>
          <p:cNvPr id="4" name="">
            <a:extLst xmlns:a="http://schemas.openxmlformats.org/drawingml/2006/main">
              <a:ext uri="{FF2B5EF4-FFF2-40B4-BE49-F238E27FC236}">
                <a16:creationId xmlns:a16="http://schemas.microsoft.com/office/drawing/2014/main" id="{E4DB8063-BF1F-49F7-8BCD-E0EA53C33D5C}"/>
              </a:ext>
            </a:extLst>
          </p:cNvPr>
          <p:cNvSpPr>
            <a:spLocks xmlns:a="http://schemas.openxmlformats.org/drawingml/2006/main" noGrp="1"/>
          </p:cNvSpPr>
          <p:nvPr/>
        </p:nvSpPr>
        <p:spPr>
          <a:xfrm xmlns:a="http://schemas.openxmlformats.org/drawingml/2006/main">
            <a:off x="628650" y="150495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6A75"/>
                </a:solidFill>
                <a:latin typeface="Aptos"/>
                <a:ea typeface="Aptos"/>
                <a:cs typeface="Aptos"/>
              </a:defRPr>
            </a:defPPr>
          </a:lstStyle>
          <a:p xmlns:a="http://schemas.openxmlformats.org/drawingml/2006/main">
            <a:pPr>
              <a:defRPr sz="1725" b="1">
                <a:solidFill>
                  <a:srgbClr val="006A75"/>
                </a:solidFill>
                <a:latin typeface="Aptos"/>
                <a:ea typeface="Aptos"/>
                <a:cs typeface="Aptos"/>
              </a:defRPr>
            </a:pPr>
            <a:r>
              <a:rPr sz="1725" b="1">
                <a:solidFill>
                  <a:srgbClr val="006A75"/>
                </a:solidFill>
                <a:latin typeface="Aptos"/>
                <a:ea typeface="Aptos"/>
                <a:cs typeface="Aptos"/>
              </a:rPr>
              <a:t>01</a:t>
            </a:r>
          </a:p>
        </p:txBody>
      </p:sp>
      <p:sp>
        <p:nvSpPr>
          <p:cNvPr id="5" name="">
            <a:extLst xmlns:a="http://schemas.openxmlformats.org/drawingml/2006/main">
              <a:ext uri="{FF2B5EF4-FFF2-40B4-BE49-F238E27FC236}">
                <a16:creationId xmlns:a16="http://schemas.microsoft.com/office/drawing/2014/main" id="{76F2FD59-3524-4770-9E8F-D5D10474FC96}"/>
              </a:ext>
            </a:extLst>
          </p:cNvPr>
          <p:cNvSpPr>
            <a:spLocks xmlns:a="http://schemas.openxmlformats.org/drawingml/2006/main" noGrp="1"/>
          </p:cNvSpPr>
          <p:nvPr/>
        </p:nvSpPr>
        <p:spPr>
          <a:xfrm xmlns:a="http://schemas.openxmlformats.org/drawingml/2006/main">
            <a:off x="1200150" y="148590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83D"/>
                </a:solidFill>
                <a:latin typeface="Aptos"/>
                <a:ea typeface="Aptos"/>
                <a:cs typeface="Aptos"/>
              </a:defRPr>
            </a:defPPr>
          </a:lstStyle>
          <a:p xmlns:a="http://schemas.openxmlformats.org/drawingml/2006/main">
            <a:pPr>
              <a:defRPr sz="2100" b="0">
                <a:solidFill>
                  <a:srgbClr val="16283D"/>
                </a:solidFill>
                <a:latin typeface="Aptos"/>
                <a:ea typeface="Aptos"/>
                <a:cs typeface="Aptos"/>
              </a:defRPr>
            </a:pPr>
            <a:r>
              <a:rPr sz="2100" b="0">
                <a:solidFill>
                  <a:srgbClr val="16283D"/>
                </a:solidFill>
                <a:latin typeface="Aptos"/>
                <a:ea typeface="Aptos"/>
                <a:cs typeface="Aptos"/>
              </a:rPr>
              <a:t>Implemented today: an analytical execution and policy stack with native archives, trace processing, causal score updates, migration accounting and controlled workload generation.</a:t>
            </a:r>
          </a:p>
        </p:txBody>
      </p:sp>
      <p:sp>
        <p:nvSpPr>
          <p:cNvPr id="6" name="">
            <a:extLst xmlns:a="http://schemas.openxmlformats.org/drawingml/2006/main">
              <a:ext uri="{FF2B5EF4-FFF2-40B4-BE49-F238E27FC236}">
                <a16:creationId xmlns:a16="http://schemas.microsoft.com/office/drawing/2014/main" id="{ED4D2770-95FE-413C-8AB8-4BFA324C94F8}"/>
              </a:ext>
            </a:extLst>
          </p:cNvPr>
          <p:cNvSpPr>
            <a:spLocks xmlns:a="http://schemas.openxmlformats.org/drawingml/2006/main" noGrp="1"/>
          </p:cNvSpPr>
          <p:nvPr/>
        </p:nvSpPr>
        <p:spPr>
          <a:xfrm xmlns:a="http://schemas.openxmlformats.org/drawingml/2006/main">
            <a:off x="628650" y="260985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6A75"/>
                </a:solidFill>
                <a:latin typeface="Aptos"/>
                <a:ea typeface="Aptos"/>
                <a:cs typeface="Aptos"/>
              </a:defRPr>
            </a:defPPr>
          </a:lstStyle>
          <a:p xmlns:a="http://schemas.openxmlformats.org/drawingml/2006/main">
            <a:pPr>
              <a:defRPr sz="1725" b="1">
                <a:solidFill>
                  <a:srgbClr val="006A75"/>
                </a:solidFill>
                <a:latin typeface="Aptos"/>
                <a:ea typeface="Aptos"/>
                <a:cs typeface="Aptos"/>
              </a:defRPr>
            </a:pPr>
            <a:r>
              <a:rPr sz="1725" b="1">
                <a:solidFill>
                  <a:srgbClr val="006A75"/>
                </a:solidFill>
                <a:latin typeface="Aptos"/>
                <a:ea typeface="Aptos"/>
                <a:cs typeface="Aptos"/>
              </a:rPr>
              <a:t>02</a:t>
            </a:r>
          </a:p>
        </p:txBody>
      </p:sp>
      <p:sp>
        <p:nvSpPr>
          <p:cNvPr id="7" name="">
            <a:extLst xmlns:a="http://schemas.openxmlformats.org/drawingml/2006/main">
              <a:ext uri="{FF2B5EF4-FFF2-40B4-BE49-F238E27FC236}">
                <a16:creationId xmlns:a16="http://schemas.microsoft.com/office/drawing/2014/main" id="{DB8B4174-EAAB-4D49-9A17-B44EE63F9691}"/>
              </a:ext>
            </a:extLst>
          </p:cNvPr>
          <p:cNvSpPr>
            <a:spLocks xmlns:a="http://schemas.openxmlformats.org/drawingml/2006/main" noGrp="1"/>
          </p:cNvSpPr>
          <p:nvPr/>
        </p:nvSpPr>
        <p:spPr>
          <a:xfrm xmlns:a="http://schemas.openxmlformats.org/drawingml/2006/main">
            <a:off x="1200150" y="259080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83D"/>
                </a:solidFill>
                <a:latin typeface="Aptos"/>
                <a:ea typeface="Aptos"/>
                <a:cs typeface="Aptos"/>
              </a:defRPr>
            </a:defPPr>
          </a:lstStyle>
          <a:p xmlns:a="http://schemas.openxmlformats.org/drawingml/2006/main">
            <a:pPr>
              <a:defRPr sz="2100" b="0">
                <a:solidFill>
                  <a:srgbClr val="16283D"/>
                </a:solidFill>
                <a:latin typeface="Aptos"/>
                <a:ea typeface="Aptos"/>
                <a:cs typeface="Aptos"/>
              </a:defRPr>
            </a:pPr>
            <a:r>
              <a:rPr sz="2100" b="0">
                <a:solidFill>
                  <a:srgbClr val="16283D"/>
                </a:solidFill>
                <a:latin typeface="Aptos"/>
                <a:ea typeface="Aptos"/>
                <a:cs typeface="Aptos"/>
              </a:rPr>
              <a:t>The synthetic result shows that MLP-weighted scoring can choose more useful pages under the declared assumptions. The available real-trace experiments show much smaller gains or ties.</a:t>
            </a:r>
          </a:p>
        </p:txBody>
      </p:sp>
      <p:sp>
        <p:nvSpPr>
          <p:cNvPr id="8" name="">
            <a:extLst xmlns:a="http://schemas.openxmlformats.org/drawingml/2006/main">
              <a:ext uri="{FF2B5EF4-FFF2-40B4-BE49-F238E27FC236}">
                <a16:creationId xmlns:a16="http://schemas.microsoft.com/office/drawing/2014/main" id="{4663D90A-5299-49C1-9527-7588EB81F484}"/>
              </a:ext>
            </a:extLst>
          </p:cNvPr>
          <p:cNvSpPr>
            <a:spLocks xmlns:a="http://schemas.openxmlformats.org/drawingml/2006/main" noGrp="1"/>
          </p:cNvSpPr>
          <p:nvPr/>
        </p:nvSpPr>
        <p:spPr>
          <a:xfrm xmlns:a="http://schemas.openxmlformats.org/drawingml/2006/main">
            <a:off x="628650" y="371475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6A75"/>
                </a:solidFill>
                <a:latin typeface="Aptos"/>
                <a:ea typeface="Aptos"/>
                <a:cs typeface="Aptos"/>
              </a:defRPr>
            </a:defPPr>
          </a:lstStyle>
          <a:p xmlns:a="http://schemas.openxmlformats.org/drawingml/2006/main">
            <a:pPr>
              <a:defRPr sz="1725" b="1">
                <a:solidFill>
                  <a:srgbClr val="006A75"/>
                </a:solidFill>
                <a:latin typeface="Aptos"/>
                <a:ea typeface="Aptos"/>
                <a:cs typeface="Aptos"/>
              </a:defRPr>
            </a:pPr>
            <a:r>
              <a:rPr sz="1725" b="1">
                <a:solidFill>
                  <a:srgbClr val="006A75"/>
                </a:solidFill>
                <a:latin typeface="Aptos"/>
                <a:ea typeface="Aptos"/>
                <a:cs typeface="Aptos"/>
              </a:rPr>
              <a:t>03</a:t>
            </a:r>
          </a:p>
        </p:txBody>
      </p:sp>
      <p:sp>
        <p:nvSpPr>
          <p:cNvPr id="9" name="">
            <a:extLst xmlns:a="http://schemas.openxmlformats.org/drawingml/2006/main">
              <a:ext uri="{FF2B5EF4-FFF2-40B4-BE49-F238E27FC236}">
                <a16:creationId xmlns:a16="http://schemas.microsoft.com/office/drawing/2014/main" id="{BF395879-8ABC-45F2-B623-175F0999CABB}"/>
              </a:ext>
            </a:extLst>
          </p:cNvPr>
          <p:cNvSpPr>
            <a:spLocks xmlns:a="http://schemas.openxmlformats.org/drawingml/2006/main" noGrp="1"/>
          </p:cNvSpPr>
          <p:nvPr/>
        </p:nvSpPr>
        <p:spPr>
          <a:xfrm xmlns:a="http://schemas.openxmlformats.org/drawingml/2006/main">
            <a:off x="1200150" y="369570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83D"/>
                </a:solidFill>
                <a:latin typeface="Aptos"/>
                <a:ea typeface="Aptos"/>
                <a:cs typeface="Aptos"/>
              </a:defRPr>
            </a:defPPr>
          </a:lstStyle>
          <a:p xmlns:a="http://schemas.openxmlformats.org/drawingml/2006/main">
            <a:pPr>
              <a:defRPr sz="2100" b="0">
                <a:solidFill>
                  <a:srgbClr val="16283D"/>
                </a:solidFill>
                <a:latin typeface="Aptos"/>
                <a:ea typeface="Aptos"/>
                <a:cs typeface="Aptos"/>
              </a:defRPr>
            </a:pPr>
            <a:r>
              <a:rPr sz="2100" b="0">
                <a:solidFill>
                  <a:srgbClr val="16283D"/>
                </a:solidFill>
                <a:latin typeface="Aptos"/>
                <a:ea typeface="Aptos"/>
                <a:cs typeface="Aptos"/>
              </a:rPr>
              <a:t>A hardware deployment still needs verified tier counters, reliable per-page observations, real service and migration measurements, and a memory path that truly reaches CXL.</a:t>
            </a:r>
          </a:p>
        </p:txBody>
      </p:sp>
      <p:sp>
        <p:nvSpPr>
          <p:cNvPr id="10" name="">
            <a:extLst xmlns:a="http://schemas.openxmlformats.org/drawingml/2006/main">
              <a:ext uri="{FF2B5EF4-FFF2-40B4-BE49-F238E27FC236}">
                <a16:creationId xmlns:a16="http://schemas.microsoft.com/office/drawing/2014/main" id="{19DEF581-5440-4843-98C4-371DE47BBD97}"/>
              </a:ext>
            </a:extLst>
          </p:cNvPr>
          <p:cNvSpPr>
            <a:spLocks xmlns:a="http://schemas.openxmlformats.org/drawingml/2006/main" noGrp="1"/>
          </p:cNvSpPr>
          <p:nvPr/>
        </p:nvSpPr>
        <p:spPr>
          <a:xfrm xmlns:a="http://schemas.openxmlformats.org/drawingml/2006/main">
            <a:off x="628650" y="481965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6A75"/>
                </a:solidFill>
                <a:latin typeface="Aptos"/>
                <a:ea typeface="Aptos"/>
                <a:cs typeface="Aptos"/>
              </a:defRPr>
            </a:defPPr>
          </a:lstStyle>
          <a:p xmlns:a="http://schemas.openxmlformats.org/drawingml/2006/main">
            <a:pPr>
              <a:defRPr sz="1725" b="1">
                <a:solidFill>
                  <a:srgbClr val="006A75"/>
                </a:solidFill>
                <a:latin typeface="Aptos"/>
                <a:ea typeface="Aptos"/>
                <a:cs typeface="Aptos"/>
              </a:defRPr>
            </a:pPr>
            <a:r>
              <a:rPr sz="1725" b="1">
                <a:solidFill>
                  <a:srgbClr val="006A75"/>
                </a:solidFill>
                <a:latin typeface="Aptos"/>
                <a:ea typeface="Aptos"/>
                <a:cs typeface="Aptos"/>
              </a:rPr>
              <a:t>04</a:t>
            </a:r>
          </a:p>
        </p:txBody>
      </p:sp>
      <p:sp>
        <p:nvSpPr>
          <p:cNvPr id="11" name="">
            <a:extLst xmlns:a="http://schemas.openxmlformats.org/drawingml/2006/main">
              <a:ext uri="{FF2B5EF4-FFF2-40B4-BE49-F238E27FC236}">
                <a16:creationId xmlns:a16="http://schemas.microsoft.com/office/drawing/2014/main" id="{00C4AC34-5494-4AD8-A3A3-5C705D434698}"/>
              </a:ext>
            </a:extLst>
          </p:cNvPr>
          <p:cNvSpPr>
            <a:spLocks xmlns:a="http://schemas.openxmlformats.org/drawingml/2006/main" noGrp="1"/>
          </p:cNvSpPr>
          <p:nvPr/>
        </p:nvSpPr>
        <p:spPr>
          <a:xfrm xmlns:a="http://schemas.openxmlformats.org/drawingml/2006/main">
            <a:off x="1200150" y="480060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83D"/>
                </a:solidFill>
                <a:latin typeface="Aptos"/>
                <a:ea typeface="Aptos"/>
                <a:cs typeface="Aptos"/>
              </a:defRPr>
            </a:defPPr>
          </a:lstStyle>
          <a:p xmlns:a="http://schemas.openxmlformats.org/drawingml/2006/main">
            <a:pPr>
              <a:defRPr sz="2100" b="0">
                <a:solidFill>
                  <a:srgbClr val="16283D"/>
                </a:solidFill>
                <a:latin typeface="Aptos"/>
                <a:ea typeface="Aptos"/>
                <a:cs typeface="Aptos"/>
              </a:defRPr>
            </a:pPr>
            <a:r>
              <a:rPr sz="2100" b="0">
                <a:solidFill>
                  <a:srgbClr val="16283D"/>
                </a:solidFill>
                <a:latin typeface="Aptos"/>
                <a:ea typeface="Aptos"/>
                <a:cs typeface="Aptos"/>
              </a:rPr>
              <a:t>The next evaluation should compare an integrated runtime with frequency using representative applications, equal-resource controls and actual end-to-end timing, including profiling overhead.</a:t>
            </a:r>
          </a:p>
        </p:txBody>
      </p:sp>
    </p:spTree>
    <p:extLst>
      <p:ext uri="{BB962C8B-B14F-4D97-AF65-F5344CB8AC3E}">
        <p14:creationId xmlns:p14="http://schemas.microsoft.com/office/powerpoint/2010/main" val="237339140"/>
      </p:ext>
    </p:extLst>
  </p:cSld>
</p:sld>
</file>

<file path=ppt/slides/slide2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0D15F62-1503-44BF-8465-A24883C465CF}"/>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6283D"/>
                </a:solidFill>
                <a:latin typeface="Aptos"/>
                <a:ea typeface="Aptos"/>
                <a:cs typeface="Aptos"/>
              </a:defRPr>
            </a:defPPr>
          </a:lstStyle>
          <a:p xmlns:a="http://schemas.openxmlformats.org/drawingml/2006/main">
            <a:pPr>
              <a:defRPr sz="3225" b="1">
                <a:solidFill>
                  <a:srgbClr val="16283D"/>
                </a:solidFill>
                <a:latin typeface="Aptos"/>
                <a:ea typeface="Aptos"/>
                <a:cs typeface="Aptos"/>
              </a:defRPr>
            </a:pPr>
            <a:r>
              <a:rPr sz="3225" b="1">
                <a:solidFill>
                  <a:srgbClr val="16283D"/>
                </a:solidFill>
                <a:latin typeface="Aptos"/>
                <a:ea typeface="Aptos"/>
                <a:cs typeface="Aptos"/>
              </a:rPr>
              <a:t>Progress and the result we can defend</a:t>
            </a:r>
          </a:p>
        </p:txBody>
      </p:sp>
      <p:sp>
        <p:nvSpPr>
          <p:cNvPr id="2" name="">
            <a:extLst xmlns:a="http://schemas.openxmlformats.org/drawingml/2006/main">
              <a:ext uri="{FF2B5EF4-FFF2-40B4-BE49-F238E27FC236}">
                <a16:creationId xmlns:a16="http://schemas.microsoft.com/office/drawing/2014/main" id="{2FA0FB30-F764-4DEB-A13B-EBDDC30B556D}"/>
              </a:ext>
            </a:extLst>
          </p:cNvPr>
          <p:cNvSpPr>
            <a:spLocks xmlns:a="http://schemas.openxmlformats.org/drawingml/2006/main" noGrp="1"/>
          </p:cNvSpPr>
          <p:nvPr/>
        </p:nvSpPr>
        <p:spPr>
          <a:xfrm xmlns:a="http://schemas.openxmlformats.org/drawingml/2006/main">
            <a:off x="11144250" y="63341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276"/>
                </a:solidFill>
                <a:latin typeface="Aptos"/>
                <a:ea typeface="Aptos"/>
                <a:cs typeface="Aptos"/>
              </a:defRPr>
            </a:defPPr>
          </a:lstStyle>
          <a:p xmlns:a="http://schemas.openxmlformats.org/drawingml/2006/main">
            <a:pPr>
              <a:defRPr sz="1200" b="0">
                <a:solidFill>
                  <a:srgbClr val="526276"/>
                </a:solidFill>
                <a:latin typeface="Aptos"/>
                <a:ea typeface="Aptos"/>
                <a:cs typeface="Aptos"/>
              </a:defRPr>
            </a:pPr>
            <a:r>
              <a:rPr sz="1200" b="0">
                <a:solidFill>
                  <a:srgbClr val="526276"/>
                </a:solidFill>
                <a:latin typeface="Aptos"/>
                <a:ea typeface="Aptos"/>
                <a:cs typeface="Aptos"/>
              </a:rPr>
              <a:t>25</a:t>
            </a:r>
          </a:p>
        </p:txBody>
      </p:sp>
      <p:sp>
        <p:nvSpPr>
          <p:cNvPr id="3" name="">
            <a:extLst xmlns:a="http://schemas.openxmlformats.org/drawingml/2006/main">
              <a:ext uri="{FF2B5EF4-FFF2-40B4-BE49-F238E27FC236}">
                <a16:creationId xmlns:a16="http://schemas.microsoft.com/office/drawing/2014/main" id="{4766382E-BC9B-4339-9A3F-6E1B03D06C6F}"/>
              </a:ext>
            </a:extLst>
          </p:cNvPr>
          <p:cNvSpPr>
            <a:spLocks xmlns:a="http://schemas.openxmlformats.org/drawingml/2006/main" noGrp="1"/>
          </p:cNvSpPr>
          <p:nvPr/>
        </p:nvSpPr>
        <p:spPr>
          <a:xfrm xmlns:a="http://schemas.openxmlformats.org/drawingml/2006/main">
            <a:off x="609600" y="6315075"/>
            <a:ext cx="10287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276"/>
                </a:solidFill>
                <a:latin typeface="Aptos"/>
                <a:ea typeface="Aptos"/>
                <a:cs typeface="Aptos"/>
              </a:defRPr>
            </a:defPPr>
          </a:lstStyle>
          <a:p xmlns:a="http://schemas.openxmlformats.org/drawingml/2006/main">
            <a:pPr>
              <a:defRPr sz="1125" b="0">
                <a:solidFill>
                  <a:srgbClr val="526276"/>
                </a:solidFill>
                <a:latin typeface="Aptos"/>
                <a:ea typeface="Aptos"/>
                <a:cs typeface="Aptos"/>
              </a:defRPr>
            </a:pPr>
            <a:r>
              <a:rPr sz="1125" b="0">
                <a:solidFill>
                  <a:srgbClr val="526276"/>
                </a:solidFill>
                <a:latin typeface="Aptos"/>
                <a:ea typeface="Aptos"/>
                <a:cs typeface="Aptos"/>
              </a:rPr>
              <a:t>Source: results/synthetic_streams/REPORT.md</a:t>
            </a:r>
          </a:p>
        </p:txBody>
      </p:sp>
      <p:sp>
        <p:nvSpPr>
          <p:cNvPr id="4" name="">
            <a:extLst xmlns:a="http://schemas.openxmlformats.org/drawingml/2006/main">
              <a:ext uri="{FF2B5EF4-FFF2-40B4-BE49-F238E27FC236}">
                <a16:creationId xmlns:a16="http://schemas.microsoft.com/office/drawing/2014/main" id="{AAFA1C64-8D0C-4654-BAF4-7EA63D12A1EA}"/>
              </a:ext>
            </a:extLst>
          </p:cNvPr>
          <p:cNvSpPr>
            <a:spLocks xmlns:a="http://schemas.openxmlformats.org/drawingml/2006/main" noGrp="1"/>
          </p:cNvSpPr>
          <p:nvPr/>
        </p:nvSpPr>
        <p:spPr>
          <a:xfrm xmlns:a="http://schemas.openxmlformats.org/drawingml/2006/main">
            <a:off x="628650" y="150495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6A75"/>
                </a:solidFill>
                <a:latin typeface="Aptos"/>
                <a:ea typeface="Aptos"/>
                <a:cs typeface="Aptos"/>
              </a:defRPr>
            </a:defPPr>
          </a:lstStyle>
          <a:p xmlns:a="http://schemas.openxmlformats.org/drawingml/2006/main">
            <a:pPr>
              <a:defRPr sz="1725" b="1">
                <a:solidFill>
                  <a:srgbClr val="006A75"/>
                </a:solidFill>
                <a:latin typeface="Aptos"/>
                <a:ea typeface="Aptos"/>
                <a:cs typeface="Aptos"/>
              </a:defRPr>
            </a:pPr>
            <a:r>
              <a:rPr sz="1725" b="1">
                <a:solidFill>
                  <a:srgbClr val="006A75"/>
                </a:solidFill>
                <a:latin typeface="Aptos"/>
                <a:ea typeface="Aptos"/>
                <a:cs typeface="Aptos"/>
              </a:rPr>
              <a:t>01</a:t>
            </a:r>
          </a:p>
        </p:txBody>
      </p:sp>
      <p:sp>
        <p:nvSpPr>
          <p:cNvPr id="5" name="">
            <a:extLst xmlns:a="http://schemas.openxmlformats.org/drawingml/2006/main">
              <a:ext uri="{FF2B5EF4-FFF2-40B4-BE49-F238E27FC236}">
                <a16:creationId xmlns:a16="http://schemas.microsoft.com/office/drawing/2014/main" id="{2990E183-2599-4898-AB81-C477F926F8F7}"/>
              </a:ext>
            </a:extLst>
          </p:cNvPr>
          <p:cNvSpPr>
            <a:spLocks xmlns:a="http://schemas.openxmlformats.org/drawingml/2006/main" noGrp="1"/>
          </p:cNvSpPr>
          <p:nvPr/>
        </p:nvSpPr>
        <p:spPr>
          <a:xfrm xmlns:a="http://schemas.openxmlformats.org/drawingml/2006/main">
            <a:off x="1200150" y="148590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83D"/>
                </a:solidFill>
                <a:latin typeface="Aptos"/>
                <a:ea typeface="Aptos"/>
                <a:cs typeface="Aptos"/>
              </a:defRPr>
            </a:defPPr>
          </a:lstStyle>
          <a:p xmlns:a="http://schemas.openxmlformats.org/drawingml/2006/main">
            <a:pPr>
              <a:defRPr sz="2100" b="0">
                <a:solidFill>
                  <a:srgbClr val="16283D"/>
                </a:solidFill>
                <a:latin typeface="Aptos"/>
                <a:ea typeface="Aptos"/>
                <a:cs typeface="Aptos"/>
              </a:defRPr>
            </a:pPr>
            <a:r>
              <a:rPr sz="2100" b="0">
                <a:solidFill>
                  <a:srgbClr val="16283D"/>
                </a:solidFill>
                <a:latin typeface="Aptos"/>
                <a:ea typeface="Aptos"/>
                <a:cs typeface="Aptos"/>
              </a:rPr>
              <a:t>We have a reproducible profiling workflow spanning native counters, multiple analytical profilers, public SPEC/GAP traces and designed workloads with explicit overlap.</a:t>
            </a:r>
          </a:p>
        </p:txBody>
      </p:sp>
      <p:sp>
        <p:nvSpPr>
          <p:cNvPr id="6" name="">
            <a:extLst xmlns:a="http://schemas.openxmlformats.org/drawingml/2006/main">
              <a:ext uri="{FF2B5EF4-FFF2-40B4-BE49-F238E27FC236}">
                <a16:creationId xmlns:a16="http://schemas.microsoft.com/office/drawing/2014/main" id="{CBBB3ED5-3C84-4FA8-AEA4-AF63E805CCF4}"/>
              </a:ext>
            </a:extLst>
          </p:cNvPr>
          <p:cNvSpPr>
            <a:spLocks xmlns:a="http://schemas.openxmlformats.org/drawingml/2006/main" noGrp="1"/>
          </p:cNvSpPr>
          <p:nvPr/>
        </p:nvSpPr>
        <p:spPr>
          <a:xfrm xmlns:a="http://schemas.openxmlformats.org/drawingml/2006/main">
            <a:off x="628650" y="260985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6A75"/>
                </a:solidFill>
                <a:latin typeface="Aptos"/>
                <a:ea typeface="Aptos"/>
                <a:cs typeface="Aptos"/>
              </a:defRPr>
            </a:defPPr>
          </a:lstStyle>
          <a:p xmlns:a="http://schemas.openxmlformats.org/drawingml/2006/main">
            <a:pPr>
              <a:defRPr sz="1725" b="1">
                <a:solidFill>
                  <a:srgbClr val="006A75"/>
                </a:solidFill>
                <a:latin typeface="Aptos"/>
                <a:ea typeface="Aptos"/>
                <a:cs typeface="Aptos"/>
              </a:defRPr>
            </a:pPr>
            <a:r>
              <a:rPr sz="1725" b="1">
                <a:solidFill>
                  <a:srgbClr val="006A75"/>
                </a:solidFill>
                <a:latin typeface="Aptos"/>
                <a:ea typeface="Aptos"/>
                <a:cs typeface="Aptos"/>
              </a:rPr>
              <a:t>02</a:t>
            </a:r>
          </a:p>
        </p:txBody>
      </p:sp>
      <p:sp>
        <p:nvSpPr>
          <p:cNvPr id="7" name="">
            <a:extLst xmlns:a="http://schemas.openxmlformats.org/drawingml/2006/main">
              <a:ext uri="{FF2B5EF4-FFF2-40B4-BE49-F238E27FC236}">
                <a16:creationId xmlns:a16="http://schemas.microsoft.com/office/drawing/2014/main" id="{1ABA06AF-4DF2-4B45-97FF-05E3B4FA0C31}"/>
              </a:ext>
            </a:extLst>
          </p:cNvPr>
          <p:cNvSpPr>
            <a:spLocks xmlns:a="http://schemas.openxmlformats.org/drawingml/2006/main" noGrp="1"/>
          </p:cNvSpPr>
          <p:nvPr/>
        </p:nvSpPr>
        <p:spPr>
          <a:xfrm xmlns:a="http://schemas.openxmlformats.org/drawingml/2006/main">
            <a:off x="1200150" y="259080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83D"/>
                </a:solidFill>
                <a:latin typeface="Aptos"/>
                <a:ea typeface="Aptos"/>
                <a:cs typeface="Aptos"/>
              </a:defRPr>
            </a:defPPr>
          </a:lstStyle>
          <a:p xmlns:a="http://schemas.openxmlformats.org/drawingml/2006/main">
            <a:pPr>
              <a:defRPr sz="2100" b="0">
                <a:solidFill>
                  <a:srgbClr val="16283D"/>
                </a:solidFill>
                <a:latin typeface="Aptos"/>
                <a:ea typeface="Aptos"/>
                <a:cs typeface="Aptos"/>
              </a:defRPr>
            </a:pPr>
            <a:r>
              <a:rPr sz="2100" b="0">
                <a:solidFill>
                  <a:srgbClr val="16283D"/>
                </a:solidFill>
                <a:latin typeface="Aptos"/>
                <a:ea typeface="Aptos"/>
                <a:cs typeface="Aptos"/>
              </a:rPr>
              <a:t>The final analytical architecture combines observation, PAC scoring and shared promotion/demotion policy. It records the decisions and costs needed to explain each result.</a:t>
            </a:r>
          </a:p>
        </p:txBody>
      </p:sp>
      <p:sp>
        <p:nvSpPr>
          <p:cNvPr id="8" name="">
            <a:extLst xmlns:a="http://schemas.openxmlformats.org/drawingml/2006/main">
              <a:ext uri="{FF2B5EF4-FFF2-40B4-BE49-F238E27FC236}">
                <a16:creationId xmlns:a16="http://schemas.microsoft.com/office/drawing/2014/main" id="{C9D7CD33-7850-4F44-9D1B-7F84F9F51E7C}"/>
              </a:ext>
            </a:extLst>
          </p:cNvPr>
          <p:cNvSpPr>
            <a:spLocks xmlns:a="http://schemas.openxmlformats.org/drawingml/2006/main" noGrp="1"/>
          </p:cNvSpPr>
          <p:nvPr/>
        </p:nvSpPr>
        <p:spPr>
          <a:xfrm xmlns:a="http://schemas.openxmlformats.org/drawingml/2006/main">
            <a:off x="628650" y="371475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6A75"/>
                </a:solidFill>
                <a:latin typeface="Aptos"/>
                <a:ea typeface="Aptos"/>
                <a:cs typeface="Aptos"/>
              </a:defRPr>
            </a:defPPr>
          </a:lstStyle>
          <a:p xmlns:a="http://schemas.openxmlformats.org/drawingml/2006/main">
            <a:pPr>
              <a:defRPr sz="1725" b="1">
                <a:solidFill>
                  <a:srgbClr val="006A75"/>
                </a:solidFill>
                <a:latin typeface="Aptos"/>
                <a:ea typeface="Aptos"/>
                <a:cs typeface="Aptos"/>
              </a:defRPr>
            </a:pPr>
            <a:r>
              <a:rPr sz="1725" b="1">
                <a:solidFill>
                  <a:srgbClr val="006A75"/>
                </a:solidFill>
                <a:latin typeface="Aptos"/>
                <a:ea typeface="Aptos"/>
                <a:cs typeface="Aptos"/>
              </a:rPr>
              <a:t>03</a:t>
            </a:r>
          </a:p>
        </p:txBody>
      </p:sp>
      <p:sp>
        <p:nvSpPr>
          <p:cNvPr id="9" name="">
            <a:extLst xmlns:a="http://schemas.openxmlformats.org/drawingml/2006/main">
              <a:ext uri="{FF2B5EF4-FFF2-40B4-BE49-F238E27FC236}">
                <a16:creationId xmlns:a16="http://schemas.microsoft.com/office/drawing/2014/main" id="{4C9D9DFC-F55B-4B96-B812-D26BDE2A0B07}"/>
              </a:ext>
            </a:extLst>
          </p:cNvPr>
          <p:cNvSpPr>
            <a:spLocks xmlns:a="http://schemas.openxmlformats.org/drawingml/2006/main" noGrp="1"/>
          </p:cNvSpPr>
          <p:nvPr/>
        </p:nvSpPr>
        <p:spPr>
          <a:xfrm xmlns:a="http://schemas.openxmlformats.org/drawingml/2006/main">
            <a:off x="1200150" y="369570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83D"/>
                </a:solidFill>
                <a:latin typeface="Aptos"/>
                <a:ea typeface="Aptos"/>
                <a:cs typeface="Aptos"/>
              </a:defRPr>
            </a:defPPr>
          </a:lstStyle>
          <a:p xmlns:a="http://schemas.openxmlformats.org/drawingml/2006/main">
            <a:pPr>
              <a:defRPr sz="2100" b="0">
                <a:solidFill>
                  <a:srgbClr val="16283D"/>
                </a:solidFill>
                <a:latin typeface="Aptos"/>
                <a:ea typeface="Aptos"/>
                <a:cs typeface="Aptos"/>
              </a:defRPr>
            </a:pPr>
            <a:r>
              <a:rPr sz="2100" b="0">
                <a:solidFill>
                  <a:srgbClr val="16283D"/>
                </a:solidFill>
                <a:latin typeface="Aptos"/>
                <a:ea typeface="Aptos"/>
                <a:cs typeface="Aptos"/>
              </a:rPr>
              <a:t>Our central result is 23.95% less modeled runtime on the MLP-16 synthetic case, or 24.16% with alpha = 0.7. The reversed-order case gives 21.43%.</a:t>
            </a:r>
          </a:p>
        </p:txBody>
      </p:sp>
      <p:sp>
        <p:nvSpPr>
          <p:cNvPr id="10" name="">
            <a:extLst xmlns:a="http://schemas.openxmlformats.org/drawingml/2006/main">
              <a:ext uri="{FF2B5EF4-FFF2-40B4-BE49-F238E27FC236}">
                <a16:creationId xmlns:a16="http://schemas.microsoft.com/office/drawing/2014/main" id="{E1E1582A-F52E-43C1-A86C-B5CE8F2173F4}"/>
              </a:ext>
            </a:extLst>
          </p:cNvPr>
          <p:cNvSpPr>
            <a:spLocks xmlns:a="http://schemas.openxmlformats.org/drawingml/2006/main" noGrp="1"/>
          </p:cNvSpPr>
          <p:nvPr/>
        </p:nvSpPr>
        <p:spPr>
          <a:xfrm xmlns:a="http://schemas.openxmlformats.org/drawingml/2006/main">
            <a:off x="628650" y="481965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6A75"/>
                </a:solidFill>
                <a:latin typeface="Aptos"/>
                <a:ea typeface="Aptos"/>
                <a:cs typeface="Aptos"/>
              </a:defRPr>
            </a:defPPr>
          </a:lstStyle>
          <a:p xmlns:a="http://schemas.openxmlformats.org/drawingml/2006/main">
            <a:pPr>
              <a:defRPr sz="1725" b="1">
                <a:solidFill>
                  <a:srgbClr val="006A75"/>
                </a:solidFill>
                <a:latin typeface="Aptos"/>
                <a:ea typeface="Aptos"/>
                <a:cs typeface="Aptos"/>
              </a:defRPr>
            </a:pPr>
            <a:r>
              <a:rPr sz="1725" b="1">
                <a:solidFill>
                  <a:srgbClr val="006A75"/>
                </a:solidFill>
                <a:latin typeface="Aptos"/>
                <a:ea typeface="Aptos"/>
                <a:cs typeface="Aptos"/>
              </a:rPr>
              <a:t>04</a:t>
            </a:r>
          </a:p>
        </p:txBody>
      </p:sp>
      <p:sp>
        <p:nvSpPr>
          <p:cNvPr id="11" name="">
            <a:extLst xmlns:a="http://schemas.openxmlformats.org/drawingml/2006/main">
              <a:ext uri="{FF2B5EF4-FFF2-40B4-BE49-F238E27FC236}">
                <a16:creationId xmlns:a16="http://schemas.microsoft.com/office/drawing/2014/main" id="{C92682A4-3670-45D8-BC6E-C4116F5C6694}"/>
              </a:ext>
            </a:extLst>
          </p:cNvPr>
          <p:cNvSpPr>
            <a:spLocks xmlns:a="http://schemas.openxmlformats.org/drawingml/2006/main" noGrp="1"/>
          </p:cNvSpPr>
          <p:nvPr/>
        </p:nvSpPr>
        <p:spPr>
          <a:xfrm xmlns:a="http://schemas.openxmlformats.org/drawingml/2006/main">
            <a:off x="1200150" y="480060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83D"/>
                </a:solidFill>
                <a:latin typeface="Aptos"/>
                <a:ea typeface="Aptos"/>
                <a:cs typeface="Aptos"/>
              </a:defRPr>
            </a:defPPr>
          </a:lstStyle>
          <a:p xmlns:a="http://schemas.openxmlformats.org/drawingml/2006/main">
            <a:pPr>
              <a:defRPr sz="2100" b="0">
                <a:solidFill>
                  <a:srgbClr val="16283D"/>
                </a:solidFill>
                <a:latin typeface="Aptos"/>
                <a:ea typeface="Aptos"/>
                <a:cs typeface="Aptos"/>
              </a:defRPr>
            </a:pPr>
            <a:r>
              <a:rPr sz="2100" b="0">
                <a:solidFill>
                  <a:srgbClr val="16283D"/>
                </a:solidFill>
                <a:latin typeface="Aptos"/>
                <a:ea typeface="Aptos"/>
                <a:cs typeface="Aptos"/>
              </a:rPr>
              <a:t>This establishes the scoring mechanism and motivates the next hardware experiment. It does not yet establish a 20% gain for the native ML applications or a complete PACT/PIPM deployment.</a:t>
            </a:r>
          </a:p>
        </p:txBody>
      </p:sp>
    </p:spTree>
    <p:extLst>
      <p:ext uri="{BB962C8B-B14F-4D97-AF65-F5344CB8AC3E}">
        <p14:creationId xmlns:p14="http://schemas.microsoft.com/office/powerpoint/2010/main" val="5715518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2026-10-13T13:00:18.5570000Z</dcterms:created>
  <dcterms:modified xsi:type="dcterms:W3CDTF">2026-10-13T13:00:18.5570000Z</dcterms:modified>
</coreProperties>
</file>