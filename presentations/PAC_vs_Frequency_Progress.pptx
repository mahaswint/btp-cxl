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7352b334c7f4934" /><Relationship Type="http://schemas.openxmlformats.org/officeDocument/2006/relationships/extended-properties" Target="/docProps/app.xml" Id="R5e379e5137f344b0" /><Relationship Type="http://schemas.openxmlformats.org/officeDocument/2006/relationships/officeDocument" Target="/ppt/presentation.xml" Id="R7b3f38aaecd04592" /></Relationships>
</file>

<file path=ppt/presentation.xml><?xml version="1.0" encoding="utf-8"?>
<p:presentation xmlns:p="http://schemas.openxmlformats.org/presentationml/2006/main">
  <p:sldMasterIdLst>
    <p:sldMasterId xmlns:r="http://schemas.openxmlformats.org/officeDocument/2006/relationships" id="2147483648" r:id="R91633559d98f4a72"/>
  </p:sldMasterIdLst>
  <p:notesMasterIdLst>
    <p:notesMasterId xmlns:r="http://schemas.openxmlformats.org/officeDocument/2006/relationships" r:id="R86ef425554f24fe2"/>
  </p:notesMasterIdLst>
  <p:sldIdLst>
    <p:sldId xmlns:r="http://schemas.openxmlformats.org/officeDocument/2006/relationships" id="256" r:id="Raa50f69901de44cb"/>
    <p:sldId xmlns:r="http://schemas.openxmlformats.org/officeDocument/2006/relationships" id="257" r:id="R45cad80370b14115"/>
    <p:sldId xmlns:r="http://schemas.openxmlformats.org/officeDocument/2006/relationships" id="258" r:id="R1cda0052de49493f"/>
    <p:sldId xmlns:r="http://schemas.openxmlformats.org/officeDocument/2006/relationships" id="259" r:id="Rc6dd6aaa165948fb"/>
    <p:sldId xmlns:r="http://schemas.openxmlformats.org/officeDocument/2006/relationships" id="260" r:id="Rcc44157551f64faf"/>
    <p:sldId xmlns:r="http://schemas.openxmlformats.org/officeDocument/2006/relationships" id="261" r:id="Rba18221d2f5e4420"/>
    <p:sldId xmlns:r="http://schemas.openxmlformats.org/officeDocument/2006/relationships" id="262" r:id="Rf35fc1abd6384170"/>
    <p:sldId xmlns:r="http://schemas.openxmlformats.org/officeDocument/2006/relationships" id="263" r:id="R968adfabd5f84493"/>
    <p:sldId xmlns:r="http://schemas.openxmlformats.org/officeDocument/2006/relationships" id="264" r:id="R670f3c3b6b4f4bd9"/>
    <p:sldId xmlns:r="http://schemas.openxmlformats.org/officeDocument/2006/relationships" id="265" r:id="R2accc13e3c2748d0"/>
    <p:sldId xmlns:r="http://schemas.openxmlformats.org/officeDocument/2006/relationships" id="266" r:id="R5260491ae75746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97931f2816a4cb7" /><Relationship Type="http://schemas.openxmlformats.org/officeDocument/2006/relationships/slideMaster" Target="/ppt/slideMasters/slideMaster1.xml" Id="R91633559d98f4a72" /><Relationship Type="http://schemas.openxmlformats.org/officeDocument/2006/relationships/notesMaster" Target="/ppt/notesMasters/notesMaster1.xml" Id="R86ef425554f24fe2" /><Relationship Type="http://schemas.openxmlformats.org/officeDocument/2006/relationships/presProps" Target="/ppt/presProps.xml" Id="R9a8d4f2488254293" /><Relationship Type="http://schemas.openxmlformats.org/officeDocument/2006/relationships/tableStyles" Target="/ppt/tableStyles.xml" Id="R8c1e3f298a894ddf" /><Relationship Type="http://schemas.openxmlformats.org/officeDocument/2006/relationships/slide" Target="/ppt/slides/slide1.xml" Id="Raa50f69901de44cb" /><Relationship Type="http://schemas.openxmlformats.org/officeDocument/2006/relationships/slide" Target="/ppt/slides/slide2.xml" Id="R45cad80370b14115" /><Relationship Type="http://schemas.openxmlformats.org/officeDocument/2006/relationships/slide" Target="/ppt/slides/slide3.xml" Id="R1cda0052de49493f" /><Relationship Type="http://schemas.openxmlformats.org/officeDocument/2006/relationships/slide" Target="/ppt/slides/slide4.xml" Id="Rc6dd6aaa165948fb" /><Relationship Type="http://schemas.openxmlformats.org/officeDocument/2006/relationships/slide" Target="/ppt/slides/slide5.xml" Id="Rcc44157551f64faf" /><Relationship Type="http://schemas.openxmlformats.org/officeDocument/2006/relationships/slide" Target="/ppt/slides/slide6.xml" Id="Rba18221d2f5e4420" /><Relationship Type="http://schemas.openxmlformats.org/officeDocument/2006/relationships/slide" Target="/ppt/slides/slide7.xml" Id="Rf35fc1abd6384170" /><Relationship Type="http://schemas.openxmlformats.org/officeDocument/2006/relationships/slide" Target="/ppt/slides/slide8.xml" Id="R968adfabd5f84493" /><Relationship Type="http://schemas.openxmlformats.org/officeDocument/2006/relationships/slide" Target="/ppt/slides/slide9.xml" Id="R670f3c3b6b4f4bd9" /><Relationship Type="http://schemas.openxmlformats.org/officeDocument/2006/relationships/slide" Target="/ppt/slides/slide10.xml" Id="R2accc13e3c2748d0" /><Relationship Type="http://schemas.openxmlformats.org/officeDocument/2006/relationships/slide" Target="/ppt/slides/slide11.xml" Id="R5260491ae75746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4b32f4351e441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08ee9d2f9b2451e" /><Relationship Type="http://schemas.openxmlformats.org/officeDocument/2006/relationships/notesMaster" Target="/ppt/notesMasters/notesMaster1.xml" Id="R8c1ffbb68f5745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64d2660732466a" /><Relationship Type="http://schemas.openxmlformats.org/officeDocument/2006/relationships/notesMaster" Target="/ppt/notesMasters/notesMaster1.xml" Id="R0c08a16ba9f742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84df0fc3be474ab2" /><Relationship Type="http://schemas.openxmlformats.org/officeDocument/2006/relationships/notesMaster" Target="/ppt/notesMasters/notesMaster1.xml" Id="R9c1e453f1a694f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cdf8fc53a22a4af3" /><Relationship Type="http://schemas.openxmlformats.org/officeDocument/2006/relationships/notesMaster" Target="/ppt/notesMasters/notesMaster1.xml" Id="R563a44c730e34a7b" /></Relationships>
</file>

<file path=ppt/notesSlides/_rels/notesSlide5.xml.rels>&#65279;<?xml version="1.0" encoding="utf-8"?><Relationships xmlns="http://schemas.openxmlformats.org/package/2006/relationships"><Relationship Type="http://schemas.openxmlformats.org/officeDocument/2006/relationships/slide" Target="/ppt/slides/slide5.xml" Id="Rfbafeabfdab54121" /><Relationship Type="http://schemas.openxmlformats.org/officeDocument/2006/relationships/notesMaster" Target="/ppt/notesMasters/notesMaster1.xml" Id="R09634e2c3a6e423c" /></Relationships>
</file>

<file path=ppt/notesSlides/_rels/notesSlide6.xml.rels>&#65279;<?xml version="1.0" encoding="utf-8"?><Relationships xmlns="http://schemas.openxmlformats.org/package/2006/relationships"><Relationship Type="http://schemas.openxmlformats.org/officeDocument/2006/relationships/slide" Target="/ppt/slides/slide6.xml" Id="Rf4e98af777964173" /><Relationship Type="http://schemas.openxmlformats.org/officeDocument/2006/relationships/notesMaster" Target="/ppt/notesMasters/notesMaster1.xml" Id="Re99f1ff6a40b4620"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fff3c74b964673" /><Relationship Type="http://schemas.openxmlformats.org/officeDocument/2006/relationships/notesMaster" Target="/ppt/notesMasters/notesMaster1.xml" Id="R6d1977904a5742ee" /></Relationships>
</file>

<file path=ppt/notesSlides/_rels/notesSlide8.xml.rels>&#65279;<?xml version="1.0" encoding="utf-8"?><Relationships xmlns="http://schemas.openxmlformats.org/package/2006/relationships"><Relationship Type="http://schemas.openxmlformats.org/officeDocument/2006/relationships/slide" Target="/ppt/slides/slide8.xml" Id="R5a583243c82547c8" /><Relationship Type="http://schemas.openxmlformats.org/officeDocument/2006/relationships/notesMaster" Target="/ppt/notesMasters/notesMaster1.xml" Id="Rc66e3db438df4c22" /></Relationships>
</file>

<file path=ppt/notesSlides/_rels/notesSlide9.xml.rels>&#65279;<?xml version="1.0" encoding="utf-8"?><Relationships xmlns="http://schemas.openxmlformats.org/package/2006/relationships"><Relationship Type="http://schemas.openxmlformats.org/officeDocument/2006/relationships/slide" Target="/ppt/slides/slide9.xml" Id="R4c435851e5814b77" /><Relationship Type="http://schemas.openxmlformats.org/officeDocument/2006/relationships/notesMaster" Target="/ppt/notesMasters/notesMaster1.xml" Id="Rda0615ad6a864f5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9a408e91fb64eec" /><Relationship Type="http://schemas.openxmlformats.org/officeDocument/2006/relationships/notesMaster" Target="/ppt/notesMasters/notesMaster1.xml" Id="Rf464d4ca80ac4e2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8908cb6b51e45c1" /><Relationship Type="http://schemas.openxmlformats.org/officeDocument/2006/relationships/notesMaster" Target="/ppt/notesMasters/notesMaster1.xml" Id="Rf85efb99809e4ad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set out to compare two ways of choosing pages for limited DRAM capacity: access frequency and criticality-based access profiling using PAC.</a:t>
            </a:r>
          </a:p>
          <a:p xmlns:a="http://schemas.openxmlformats.org/drawingml/2006/main">
            <a:r>
              <a:t/>
            </a:r>
          </a:p>
          <a:p xmlns:a="http://schemas.openxmlformats.org/drawingml/2006/main">
            <a:r>
              <a:t>Frequency ranks pages by how many slow-tier load misses they generate. PAC estimates how much those misses contribute to exposed memory stalls.</a:t>
            </a:r>
          </a:p>
          <a:p xmlns:a="http://schemas.openxmlformats.org/drawingml/2006/main">
            <a:r>
              <a:t/>
            </a:r>
          </a:p>
          <a:p xmlns:a="http://schemas.openxmlformats.org/drawingml/2006/main">
            <a:r>
              <a:t>The question is whether PAC can keep the pages that matter most to execution in DRAM, especially when frequent accesses overlap through high memory-level parallelism.</a:t>
            </a:r>
          </a:p>
          <a:p xmlns:a="http://schemas.openxmlformats.org/drawingml/2006/main">
            <a:r>
              <a:t/>
            </a:r>
          </a:p>
          <a:p xmlns:a="http://schemas.openxmlformats.org/drawingml/2006/main">
            <a:r>
              <a:t>We compare both policies with the same workload, memory capacity and migration rules. The current results come from our analytical simulator.</a:t>
            </a:r>
          </a:p>
          <a:p xmlns:a="http://schemas.openxmlformats.org/drawingml/2006/main">
            <a:r>
              <a:t/>
            </a:r>
          </a:p>
          <a:p xmlns:a="http://schemas.openxmlformats.org/drawingml/2006/main">
            <a:r>
              <a:t>Source: https://github.com/mahaswint/btp-cxl/blob/main/criticality-profiler/PACT_MODEL.md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MLP is memory-level parallelism, the average number of outstanding demand-load requests during active memory time. Think of a serial group and an independent group. The hot group accesses each page four times as often, but at MLP sixteen those accesses overlap. Its relative stall contribution is four divided by sixteen, or one quarter. A serial page contributes one divided by one, or one. Frequency favors the hot page, while PAC can prioritize the serial page. PAC benefits from differences across observed windows, rather than from high MLP alone.</a:t>
            </a:r>
          </a:p>
          <a:p xmlns:a="http://schemas.openxmlformats.org/drawingml/2006/main">
            <a:r>
              <a:t/>
            </a:r>
          </a:p>
          <a:p xmlns:a="http://schemas.openxmlformats.org/drawingml/2006/main">
            <a:r>
              <a:t>Source: https://github.com/mahaswint/btp-cxl/blob/main/criticality-profiler/SYNTHETIC_STREAMS.md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have two execution paths. Public traces pass through cache filtering and dependency construction, then the compact scheduler reuses those events. Our synthetic path generates known serial and independent miss batches. Both feed a shared policy. The observation layer measures demand-load misses, outstanding occupancy and active time. Frequency accumulates misses, while PAC weights them by observed MLP. The policy selects promotions, demotes cold pages and charges copies. Decisions only use observations available at the current time. This is our analytical architecture, with PIPM integration as the next implementation stage.</a:t>
            </a:r>
          </a:p>
          <a:p xmlns:a="http://schemas.openxmlformats.org/drawingml/2006/main">
            <a:r>
              <a:t/>
            </a:r>
          </a:p>
          <a:p xmlns:a="http://schemas.openxmlformats.org/drawingml/2006/main">
            <a:r>
              <a:t>Source: https://github.com/mahaswint/btp-cxl/blob/main/criticality-profiler/COMPACT_MODEL.md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these commands from the repository root in a shell with a C++17 compiler and Python available. First enter criticality-profiler and compile the synthetic engine. The next two commands run the initial alpha-one cases for MLP eight and sixteen into separate demonstration folders. The third case demonstrates alpha 0.7. The Python script runs the complete fixed-seed decay sweep and generates its report. Running the script replaces its recorded sweep outputs, so copy any outputs you want to preserve first. No external trace download is necessary for these designed streams.</a:t>
            </a:r>
          </a:p>
          <a:p xmlns:a="http://schemas.openxmlformats.org/drawingml/2006/main">
            <a:r>
              <a:t/>
            </a:r>
          </a:p>
          <a:p xmlns:a="http://schemas.openxmlformats.org/drawingml/2006/main">
            <a:r>
              <a:t>Source: https://github.com/mahaswint/btp-cxl/blob/main/criticality-profiler/SYNTHETIC_STREAMS.md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earlier trace experiments help us identify where PAC adds useful information. The short SPEC training segments fit into one twenty-millisecond window and tie frequency. A longer mcf run gives only a small difference at the displayed capacity. The full BC-kron matched-count comparison is also nearly a tie. BC-twitter offers changing overlap, but gains depend on policy and migration behavior. We can say PAC does not really shine in these recorded regions. That motivates a controlled experiment with much stronger differences in MLP across phases. These rows use different experiments and are not a common aggregate benchmark score.</a:t>
            </a:r>
          </a:p>
          <a:p xmlns:a="http://schemas.openxmlformats.org/drawingml/2006/main">
            <a:r>
              <a:t>Additional sources: https://github.com/mahaswint/btp-cxl/blob/main/criticality-profiler/results/paper_aligned/REPORT.md</a:t>
            </a:r>
          </a:p>
          <a:p xmlns:a="http://schemas.openxmlformats.org/drawingml/2006/main">
            <a:r>
              <a:t>https://github.com/mahaswint/btp-cxl/blob/main/criticality-profiler/results/decay_07/REPORT.md</a:t>
            </a:r>
          </a:p>
          <a:p xmlns:a="http://schemas.openxmlformats.org/drawingml/2006/main">
            <a:r>
              <a:t/>
            </a:r>
          </a:p>
          <a:p xmlns:a="http://schemas.openxmlformats.org/drawingml/2006/main">
            <a:r>
              <a:t>Source: https://github.com/mahaswint/btp-cxl/blob/main/criticality-profiler/results/pac/REPORT.md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alternate two 4 MiB groups: a dependent pointer chain at MLP 1 and a hot group with four times as many misses, issued in independent batches of 8 or 16.</a:t>
            </a:r>
          </a:p>
          <a:p xmlns:a="http://schemas.openxmlformats.org/drawingml/2006/main">
            <a:r>
              <a:t/>
            </a:r>
          </a:p>
          <a:p xmlns:a="http://schemas.openxmlformats.org/drawingml/2006/main">
            <a:r>
              <a:t>DRAM holds 4 MiB, while the active data totals 8 MiB. Both policies begin with the same cold pages in DRAM, so active pages initially access CXL.</a:t>
            </a:r>
          </a:p>
          <a:p xmlns:a="http://schemas.openxmlformats.org/drawingml/2006/main">
            <a:r>
              <a:t/>
            </a:r>
          </a:p>
          <a:p xmlns:a="http://schemas.openxmlformats.org/drawingml/2006/main">
            <a:r>
              <a:t>Each case runs 12 rounds and 25,313,280 load misses. Service times are 90 ns for DRAM and 190 ns for CXL, with a 20 ms observation interval.</a:t>
            </a:r>
          </a:p>
          <a:p xmlns:a="http://schemas.openxmlformats.org/drawingml/2006/main">
            <a:r>
              <a:t/>
            </a:r>
          </a:p>
          <a:p xmlns:a="http://schemas.openxmlformats.org/drawingml/2006/main">
            <a:r>
              <a:t>Both policies actually perform 1,024 promotions and 1,024 demotions and pay the same 2.886861 ms copy cost. Placement freezes after that budget is exhausted.</a:t>
            </a:r>
          </a:p>
          <a:p xmlns:a="http://schemas.openxmlformats.org/drawingml/2006/main">
            <a:r>
              <a:t/>
            </a:r>
          </a:p>
          <a:p xmlns:a="http://schemas.openxmlformats.org/drawingml/2006/main">
            <a:r>
              <a:t>Requests are synthetic LLC misses. The model does not simulate CPU pipelines, prefetching or bandwidth contention. MLP is calculated from outstanding request occupancy, rather than supplied as a page criticality label.</a:t>
            </a:r>
          </a:p>
          <a:p xmlns:a="http://schemas.openxmlformats.org/drawingml/2006/main">
            <a:r>
              <a:t/>
            </a:r>
          </a:p>
          <a:p xmlns:a="http://schemas.openxmlformats.org/drawingml/2006/main">
            <a:r>
              <a:t>Source: https://github.com/mahaswint/btp-cxl/blob/main/criticality-profiler/SYNTHETIC_STREAMS.md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alpha one, frequency takes 1217.408 milliseconds in the MLP-eight case, while PAC takes 1157.765, giving 4.90% less modeled runtime. At MLP sixteen, frequency takes 1093.201 milliseconds, while PAC takes 831.416, giving 23.95%. Frequency ends with zero serial pages in DRAM in either case. PAC ends with 256 in the first case and 768 in the second. Both use equal actual moves and identical copy charges. The MLP-one control ties exactly. Reversing phase order at MLP sixteen retains a 21.43% gain. These are synthetic modeled results, not measured application speedups.</a:t>
            </a:r>
          </a:p>
          <a:p xmlns:a="http://schemas.openxmlformats.org/drawingml/2006/main">
            <a:r>
              <a:t/>
            </a:r>
          </a:p>
          <a:p xmlns:a="http://schemas.openxmlformats.org/drawingml/2006/main">
            <a:r>
              <a:t>Source: https://github.com/mahaswint/btp-cxl/blob/main/criticality-profiler/results/synthetic_streams/REPORT.md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Alpha is the fraction of the previous score retained at each twenty-millisecond update. We apply the same alpha to PAC and frequency. The fixed-seed sweep selected six random alpha values before seeing outcomes and added fresh alpha 0.7 and alpha-one references. With consistent decay of page scores and reservoir history, MLP sixteen reaches 24.16% at alpha 0.7 and 28.14% at alpha 0.847 or 0.874. Stronger forgetting at alpha 0.264 gives only 9.23%, so more aggressive decay is not automatically better. Actual copying remains equal in every row, and MLP-one controls tie. All displayed results come from this one sweep implementation.</a:t>
            </a:r>
          </a:p>
          <a:p xmlns:a="http://schemas.openxmlformats.org/drawingml/2006/main">
            <a:r>
              <a:t/>
            </a:r>
          </a:p>
          <a:p xmlns:a="http://schemas.openxmlformats.org/drawingml/2006/main">
            <a:r>
              <a:t>Source: https://github.com/mahaswint/btp-cxl/blob/main/criticality-profiler/results/synthetic_streams/random_decay_20ms/REPORT.md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candidates for the next application-level evaluation, not already measured high-MLP results from our project. Multiple independent pointer chains can overlap misses, unlike one dependent chain. Batched hash-table or tree lookups can interleave independent queries. Parallel graph processing can expose independent work across frontier vertices or edges, although dependency chains can limit actual MLP. Batched embedding gathers can issue independent row accesses across samples and tables. That final entry is a proposed implementation test, not a claim that all DLRM implementations have high MLP. For every candidate, measure outstanding occupancy and active time, and check for differences across page groups and phases.</a:t>
            </a:r>
          </a:p>
          <a:p xmlns:a="http://schemas.openxmlformats.org/drawingml/2006/main">
            <a:r>
              <a:t>Sources: https://github.com/google/multichase/blob/master/multiload.c</a:t>
            </a:r>
          </a:p>
          <a:p xmlns:a="http://schemas.openxmlformats.org/drawingml/2006/main">
            <a:r>
              <a:t>https://arxiv.org/abs/1807.01624</a:t>
            </a:r>
          </a:p>
          <a:p xmlns:a="http://schemas.openxmlformats.org/drawingml/2006/main">
            <a:r>
              <a:t>https://arxiv.org/abs/1906.00091</a:t>
            </a:r>
          </a:p>
          <a:p xmlns:a="http://schemas.openxmlformats.org/drawingml/2006/main">
            <a:r>
              <a:t/>
            </a:r>
          </a:p>
          <a:p xmlns:a="http://schemas.openxmlformats.org/drawingml/2006/main">
            <a:r>
              <a:t>Source: Repository work through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plan has four stages. Stage one validates our PACT-inspired scoring and policy behavior. We check the equations, occupancy accounting, decay, page selection and migration costs against the paper and artifact, using serial controls and high-MLP cases. Its completion gate is a documented validated baseline and an explicit list of model differences. Stage two integrates that baseline with PIPM over two weeks after validation. In week one we connect observations, page identity and tier decisions. In week two we debug correctness, run the integrated PAC and frequency comparisons and record migration and timing effects. The gate is a working integrated prototype with repeatable results. These are tentative durations, not calendar deadlines.</a:t>
            </a:r>
          </a:p>
          <a:p xmlns:a="http://schemas.openxmlformats.org/drawingml/2006/main">
            <a:r>
              <a:t/>
            </a:r>
          </a:p>
          <a:p xmlns:a="http://schemas.openxmlformats.org/drawingml/2006/main">
            <a:r>
              <a:t>Source: Repository work through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three identifies a suitable simulator after the integrated behavior is defined. It needs to represent CPU memory overlap, DRAM and CXL behavior, contention and the cost of moving pages. We evaluate candidate compatibility with PIPM, workload support and feasible execution time. There is no deadline for this stage. Stage four performs the full simulation campaign and completes the project. We include high-MLP application candidates, serial controls, capacities, latencies and decay sensitivity, with consistent frequency comparisons. We record end-to-end performance and all profiling and migration overheads, then analyze results and prepare the final report. There is no deadline for this stage either.</a:t>
            </a:r>
          </a:p>
          <a:p xmlns:a="http://schemas.openxmlformats.org/drawingml/2006/main">
            <a:r>
              <a:t/>
            </a:r>
          </a:p>
          <a:p xmlns:a="http://schemas.openxmlformats.org/drawingml/2006/main">
            <a:r>
              <a:t>Source: Repository work through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656e21d9e04b7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867c026c1e14a8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0fd466338c8439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43c9bd7dea6484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d625ebcb1a246c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08465fe6fe344e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51C11FA-5B7F-4865-ABB6-0E352FE2A76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86D7FDB-704E-4857-BE27-14488300A63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3539AD4-59A7-47AB-9614-1CCB4A99B3B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801CFC-35B4-4829-97A3-6644F28A1C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5A5E0B0-10B5-4932-98CE-1C3CDC7E9BF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8222F66-3DFE-48BB-81AD-DB6CC71056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C458EBB-CAEA-46A4-88D6-B917FE3B36B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0ED2CC9-8416-45ED-904B-8EC89A17B9D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77BF01-2BD5-413D-BF57-5AA44272512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C719864-FA08-4D3B-98D4-D362BC65E8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d93d32598b4498" /><Relationship Type="http://schemas.openxmlformats.org/officeDocument/2006/relationships/slideLayout" Target="/ppt/slideLayouts/slideLayout1.xml" Id="R912f50dfcef344cb" /><Relationship Type="http://schemas.openxmlformats.org/officeDocument/2006/relationships/slideLayout" Target="/ppt/slideLayouts/slideLayout2.xml" Id="R8075f4be8fe7447d" /><Relationship Type="http://schemas.openxmlformats.org/officeDocument/2006/relationships/slideLayout" Target="/ppt/slideLayouts/slideLayout3.xml" Id="R2b774543b2e94ae6" /><Relationship Type="http://schemas.openxmlformats.org/officeDocument/2006/relationships/slideLayout" Target="/ppt/slideLayouts/slideLayout4.xml" Id="R82d7e857c6884a21" /><Relationship Type="http://schemas.openxmlformats.org/officeDocument/2006/relationships/slideLayout" Target="/ppt/slideLayouts/slideLayout5.xml" Id="R70a39454e4e945d6" /><Relationship Type="http://schemas.openxmlformats.org/officeDocument/2006/relationships/slideLayout" Target="/ppt/slideLayouts/slideLayout6.xml" Id="Rb5d31d39543246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12f50dfcef344cb"/>
    <p:sldLayoutId xmlns:r="http://schemas.openxmlformats.org/officeDocument/2006/relationships" id="2147483650" r:id="R8075f4be8fe7447d"/>
    <p:sldLayoutId xmlns:r="http://schemas.openxmlformats.org/officeDocument/2006/relationships" id="2147483651" r:id="R2b774543b2e94ae6"/>
    <p:sldLayoutId xmlns:r="http://schemas.openxmlformats.org/officeDocument/2006/relationships" id="2147483652" r:id="R82d7e857c6884a21"/>
    <p:sldLayoutId xmlns:r="http://schemas.openxmlformats.org/officeDocument/2006/relationships" id="2147483653" r:id="R70a39454e4e945d6"/>
    <p:sldLayoutId xmlns:r="http://schemas.openxmlformats.org/officeDocument/2006/relationships" id="2147483654" r:id="Rb5d31d39543246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bf20fa8de064e3a" /><Relationship Type="http://schemas.openxmlformats.org/officeDocument/2006/relationships/notesSlide" Target="/ppt/notesSlides/notesSlide1.xml" Id="Rde612cf1886847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5ee0a6e28624f63" /><Relationship Type="http://schemas.openxmlformats.org/officeDocument/2006/relationships/notesSlide" Target="/ppt/notesSlides/notesSlide2.xml" Id="Rfb3c7e89de1f40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c2eb91595184858" /><Relationship Type="http://schemas.openxmlformats.org/officeDocument/2006/relationships/notesSlide" Target="/ppt/notesSlides/notesSlide3.xml" Id="R20c5a4211b4d44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200eb8595af4b04" /><Relationship Type="http://schemas.openxmlformats.org/officeDocument/2006/relationships/notesSlide" Target="/ppt/notesSlides/notesSlide4.xml" Id="Rd1db9aa285b64a1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256cac772fa42aa" /><Relationship Type="http://schemas.openxmlformats.org/officeDocument/2006/relationships/notesSlide" Target="/ppt/notesSlides/notesSlide5.xml" Id="R1117367eb190441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5e0f99fc3b949bc" /><Relationship Type="http://schemas.openxmlformats.org/officeDocument/2006/relationships/notesSlide" Target="/ppt/notesSlides/notesSlide6.xml" Id="R7541b99b682b4df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45e1362793a456c" /><Relationship Type="http://schemas.openxmlformats.org/officeDocument/2006/relationships/chart" Target="/ppt/slides/charts/chart1.xml" Id="R21f6a80379404a29" /><Relationship Type="http://schemas.openxmlformats.org/officeDocument/2006/relationships/notesSlide" Target="/ppt/notesSlides/notesSlide7.xml" Id="Rf7ec4ddc4b0845c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b434952940e4f31" /><Relationship Type="http://schemas.openxmlformats.org/officeDocument/2006/relationships/notesSlide" Target="/ppt/notesSlides/notesSlide8.xml" Id="R4ae94d4326ae451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c8ee3796f414e20" /><Relationship Type="http://schemas.openxmlformats.org/officeDocument/2006/relationships/notesSlide" Target="/ppt/notesSlides/notesSlide9.xml" Id="Raaaa5c04acdb431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8ea97f467994f2c" /><Relationship Type="http://schemas.openxmlformats.org/officeDocument/2006/relationships/notesSlide" Target="/ppt/notesSlides/notesSlide10.xml" Id="R65dab7acb3fc4f5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5c60c8847134623" /><Relationship Type="http://schemas.openxmlformats.org/officeDocument/2006/relationships/notesSlide" Target="/ppt/notesSlides/notesSlide11.xml" Id="Rbd9b1c47a73a4e7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Runtime reduction (%)</c:v>
          </c:tx>
          <c:spPr>
            <a:solidFill xmlns:a="http://schemas.openxmlformats.org/drawingml/2006/main">
              <a:srgbClr val="006A75"/>
            </a:solidFill>
          </c:spPr>
          <c:invertIfNegative val="0"/>
          <c:cat>
            <c:strRef>
              <c:f>'Chart Data'!$A$2:$A$3</c:f>
              <c:strCache>
                <c:ptCount val="2"/>
                <c:pt idx="0">
                  <c:v>MLP 8</c:v>
                </c:pt>
                <c:pt idx="1">
                  <c:v>MLP 16</c:v>
                </c:pt>
              </c:strCache>
            </c:strRef>
          </c:cat>
          <c:val>
            <c:numRef>
              <c:f>'Chart Data'!$B$2:$B$3</c:f>
              <c:numCache>
                <c:formatCode>0.0</c:formatCode>
                <c:ptCount val="2"/>
                <c:pt idx="0">
                  <c:v>4.899196</c:v>
                </c:pt>
                <c:pt idx="1">
                  <c:v>23.946698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a:solidFill>
                    <a:srgbClr val="16283D"/>
                  </a:solidFill>
                  <a:latin typeface="Aptos"/>
                  <a:ea typeface="Aptos"/>
                  <a:cs typeface="Aptos"/>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6283D"/>
                </a:solidFill>
                <a:latin typeface="Aptos"/>
                <a:ea typeface="Aptos"/>
                <a:cs typeface="Aptos"/>
              </a:defRPr>
            </a:pPr>
          </a:p>
        </c:txPr>
        <c:crossAx val="48672768"/>
      </c:catAx>
      <c:valAx>
        <c:axId val="48672768"/>
        <c:scaling>
          <c:orientation val="minMax"/>
          <c:max val="30"/>
          <c:min val="0"/>
        </c:scaling>
        <c:delete val="0"/>
        <c:axPos val="l"/>
        <c:majorGridlines>
          <c:spPr>
            <a:ln xmlns:a="http://schemas.openxmlformats.org/drawingml/2006/main" w="9525">
              <a:solidFill>
                <a:srgbClr val="D4DDE4"/>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276"/>
                </a:solidFill>
                <a:latin typeface="Aptos"/>
                <a:ea typeface="Aptos"/>
                <a:cs typeface="Aptos"/>
              </a:defRPr>
            </a:pPr>
          </a:p>
        </c:txPr>
        <c:crossAx val="48650112"/>
        <c:crossBetween val="between"/>
      </c:valAx>
      <c:spPr>
        <a:solidFill xmlns:a="http://schemas.openxmlformats.org/drawingml/2006/main">
          <a:srgbClr val="F7F8FA"/>
        </a:solidFill>
      </c:spPr>
    </c:plotArea>
    <c:plotVisOnly val="1"/>
  </c:chart>
  <c:spPr>
    <a:solidFill xmlns:a="http://schemas.openxmlformats.org/drawingml/2006/main">
      <a:srgbClr val="F7F8FA"/>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CD09794-0DBE-40CB-AE90-10AE611841CA}"/>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Our task: criticality versus frequency profiling</a:t>
            </a:r>
          </a:p>
        </p:txBody>
      </p:sp>
      <p:sp>
        <p:nvSpPr>
          <p:cNvPr id="2" name="">
            <a:extLst xmlns:a="http://schemas.openxmlformats.org/drawingml/2006/main">
              <a:ext uri="{FF2B5EF4-FFF2-40B4-BE49-F238E27FC236}">
                <a16:creationId xmlns:a16="http://schemas.microsoft.com/office/drawing/2014/main" id="{43DB9B94-5C7B-4D12-97DC-307BB7C94704}"/>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01</a:t>
            </a:r>
          </a:p>
        </p:txBody>
      </p:sp>
      <p:sp>
        <p:nvSpPr>
          <p:cNvPr id="3" name="">
            <a:extLst xmlns:a="http://schemas.openxmlformats.org/drawingml/2006/main">
              <a:ext uri="{FF2B5EF4-FFF2-40B4-BE49-F238E27FC236}">
                <a16:creationId xmlns:a16="http://schemas.microsoft.com/office/drawing/2014/main" id="{20E45678-4EA1-4B1C-81A2-72CE99A9BD3E}"/>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defRPr sz="1125" b="0">
                <a:solidFill>
                  <a:srgbClr val="526276"/>
                </a:solidFill>
                <a:latin typeface="Aptos"/>
                <a:ea typeface="Aptos"/>
                <a:cs typeface="Aptos"/>
              </a:defRPr>
            </a:pPr>
            <a:r>
              <a:rPr sz="1125" b="0">
                <a:solidFill>
                  <a:srgbClr val="526276"/>
                </a:solidFill>
                <a:latin typeface="Aptos"/>
                <a:ea typeface="Aptos"/>
                <a:cs typeface="Aptos"/>
              </a:rPr>
              <a:t>Source: PACT_MODEL.md</a:t>
            </a:r>
          </a:p>
        </p:txBody>
      </p:sp>
      <p:sp>
        <p:nvSpPr>
          <p:cNvPr id="4" name="">
            <a:extLst xmlns:a="http://schemas.openxmlformats.org/drawingml/2006/main">
              <a:ext uri="{FF2B5EF4-FFF2-40B4-BE49-F238E27FC236}">
                <a16:creationId xmlns:a16="http://schemas.microsoft.com/office/drawing/2014/main" id="{38131F32-65EC-4E85-8009-1CF28E662554}"/>
              </a:ext>
            </a:extLst>
          </p:cNvPr>
          <p:cNvSpPr>
            <a:spLocks xmlns:a="http://schemas.openxmlformats.org/drawingml/2006/main" noGrp="1"/>
          </p:cNvSpPr>
          <p:nvPr/>
        </p:nvSpPr>
        <p:spPr>
          <a:xfrm xmlns:a="http://schemas.openxmlformats.org/drawingml/2006/main">
            <a:off x="628650" y="15049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25923962-F0E1-4E21-B95A-31F7724180D1}"/>
              </a:ext>
            </a:extLst>
          </p:cNvPr>
          <p:cNvSpPr>
            <a:spLocks xmlns:a="http://schemas.openxmlformats.org/drawingml/2006/main" noGrp="1"/>
          </p:cNvSpPr>
          <p:nvPr/>
        </p:nvSpPr>
        <p:spPr>
          <a:xfrm xmlns:a="http://schemas.openxmlformats.org/drawingml/2006/main">
            <a:off x="1200150" y="14859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We set out to compare two ways of choosing pages for limited DRAM capacity: access frequency and criticality-based access profiling using PAC.</a:t>
            </a:r>
          </a:p>
        </p:txBody>
      </p:sp>
      <p:sp>
        <p:nvSpPr>
          <p:cNvPr id="6" name="">
            <a:extLst xmlns:a="http://schemas.openxmlformats.org/drawingml/2006/main">
              <a:ext uri="{FF2B5EF4-FFF2-40B4-BE49-F238E27FC236}">
                <a16:creationId xmlns:a16="http://schemas.microsoft.com/office/drawing/2014/main" id="{7B47A5AF-81F0-48A4-981D-18AA86D97317}"/>
              </a:ext>
            </a:extLst>
          </p:cNvPr>
          <p:cNvSpPr>
            <a:spLocks xmlns:a="http://schemas.openxmlformats.org/drawingml/2006/main" noGrp="1"/>
          </p:cNvSpPr>
          <p:nvPr/>
        </p:nvSpPr>
        <p:spPr>
          <a:xfrm xmlns:a="http://schemas.openxmlformats.org/drawingml/2006/main">
            <a:off x="628650" y="26098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F055A2C2-C3FB-4AAC-9958-A7D85813A70D}"/>
              </a:ext>
            </a:extLst>
          </p:cNvPr>
          <p:cNvSpPr>
            <a:spLocks xmlns:a="http://schemas.openxmlformats.org/drawingml/2006/main" noGrp="1"/>
          </p:cNvSpPr>
          <p:nvPr/>
        </p:nvSpPr>
        <p:spPr>
          <a:xfrm xmlns:a="http://schemas.openxmlformats.org/drawingml/2006/main">
            <a:off x="1200150" y="25908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Frequency ranks pages by how many slow-tier load misses they generate. PAC estimates how much those misses contribute to exposed memory stalls.</a:t>
            </a:r>
          </a:p>
        </p:txBody>
      </p:sp>
      <p:sp>
        <p:nvSpPr>
          <p:cNvPr id="8" name="">
            <a:extLst xmlns:a="http://schemas.openxmlformats.org/drawingml/2006/main">
              <a:ext uri="{FF2B5EF4-FFF2-40B4-BE49-F238E27FC236}">
                <a16:creationId xmlns:a16="http://schemas.microsoft.com/office/drawing/2014/main" id="{F00F568C-DC41-4260-A557-0C189154CA2F}"/>
              </a:ext>
            </a:extLst>
          </p:cNvPr>
          <p:cNvSpPr>
            <a:spLocks xmlns:a="http://schemas.openxmlformats.org/drawingml/2006/main" noGrp="1"/>
          </p:cNvSpPr>
          <p:nvPr/>
        </p:nvSpPr>
        <p:spPr>
          <a:xfrm xmlns:a="http://schemas.openxmlformats.org/drawingml/2006/main">
            <a:off x="628650" y="37147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03</a:t>
            </a:r>
          </a:p>
        </p:txBody>
      </p:sp>
      <p:sp>
        <p:nvSpPr>
          <p:cNvPr id="9" name="">
            <a:extLst xmlns:a="http://schemas.openxmlformats.org/drawingml/2006/main">
              <a:ext uri="{FF2B5EF4-FFF2-40B4-BE49-F238E27FC236}">
                <a16:creationId xmlns:a16="http://schemas.microsoft.com/office/drawing/2014/main" id="{90D3998F-B3D1-4C2F-9100-62D1907C57B6}"/>
              </a:ext>
            </a:extLst>
          </p:cNvPr>
          <p:cNvSpPr>
            <a:spLocks xmlns:a="http://schemas.openxmlformats.org/drawingml/2006/main" noGrp="1"/>
          </p:cNvSpPr>
          <p:nvPr/>
        </p:nvSpPr>
        <p:spPr>
          <a:xfrm xmlns:a="http://schemas.openxmlformats.org/drawingml/2006/main">
            <a:off x="1200150" y="36957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The question is whether PAC can keep the pages that matter most to execution in DRAM, especially when frequent accesses overlap through high memory-level parallelism.</a:t>
            </a:r>
          </a:p>
        </p:txBody>
      </p:sp>
      <p:sp>
        <p:nvSpPr>
          <p:cNvPr id="10" name="">
            <a:extLst xmlns:a="http://schemas.openxmlformats.org/drawingml/2006/main">
              <a:ext uri="{FF2B5EF4-FFF2-40B4-BE49-F238E27FC236}">
                <a16:creationId xmlns:a16="http://schemas.microsoft.com/office/drawing/2014/main" id="{3A9CC25C-6EFF-4138-A560-F21C9675ED7E}"/>
              </a:ext>
            </a:extLst>
          </p:cNvPr>
          <p:cNvSpPr>
            <a:spLocks xmlns:a="http://schemas.openxmlformats.org/drawingml/2006/main" noGrp="1"/>
          </p:cNvSpPr>
          <p:nvPr/>
        </p:nvSpPr>
        <p:spPr>
          <a:xfrm xmlns:a="http://schemas.openxmlformats.org/drawingml/2006/main">
            <a:off x="628650" y="48196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04</a:t>
            </a:r>
          </a:p>
        </p:txBody>
      </p:sp>
      <p:sp>
        <p:nvSpPr>
          <p:cNvPr id="11" name="">
            <a:extLst xmlns:a="http://schemas.openxmlformats.org/drawingml/2006/main">
              <a:ext uri="{FF2B5EF4-FFF2-40B4-BE49-F238E27FC236}">
                <a16:creationId xmlns:a16="http://schemas.microsoft.com/office/drawing/2014/main" id="{A4803CAF-994A-4C97-B488-0EA4C0B3DD60}"/>
              </a:ext>
            </a:extLst>
          </p:cNvPr>
          <p:cNvSpPr>
            <a:spLocks xmlns:a="http://schemas.openxmlformats.org/drawingml/2006/main" noGrp="1"/>
          </p:cNvSpPr>
          <p:nvPr/>
        </p:nvSpPr>
        <p:spPr>
          <a:xfrm xmlns:a="http://schemas.openxmlformats.org/drawingml/2006/main">
            <a:off x="1200150" y="48006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We compare both policies with the same workload, memory capacity and migration rules. The current results come from our analytical simulator.</a:t>
            </a:r>
          </a:p>
        </p:txBody>
      </p:sp>
    </p:spTree>
    <p:extLst>
      <p:ext uri="{BB962C8B-B14F-4D97-AF65-F5344CB8AC3E}">
        <p14:creationId xmlns:p14="http://schemas.microsoft.com/office/powerpoint/2010/main" val="1187925"/>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19B22FE-BF8B-4A42-A8D6-E77C608E4ED2}"/>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Why PAC helps when memory accesses overlap</a:t>
            </a:r>
          </a:p>
        </p:txBody>
      </p:sp>
      <p:sp>
        <p:nvSpPr>
          <p:cNvPr id="2" name="">
            <a:extLst xmlns:a="http://schemas.openxmlformats.org/drawingml/2006/main">
              <a:ext uri="{FF2B5EF4-FFF2-40B4-BE49-F238E27FC236}">
                <a16:creationId xmlns:a16="http://schemas.microsoft.com/office/drawing/2014/main" id="{D7919AE2-0DE4-41CF-B013-4EA69657FE12}"/>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02</a:t>
            </a:r>
          </a:p>
        </p:txBody>
      </p:sp>
      <p:sp>
        <p:nvSpPr>
          <p:cNvPr id="3" name="">
            <a:extLst xmlns:a="http://schemas.openxmlformats.org/drawingml/2006/main">
              <a:ext uri="{FF2B5EF4-FFF2-40B4-BE49-F238E27FC236}">
                <a16:creationId xmlns:a16="http://schemas.microsoft.com/office/drawing/2014/main" id="{15EFCF32-BF15-4C10-BDC7-B5D5E2E59CC6}"/>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defRPr sz="1125" b="0">
                <a:solidFill>
                  <a:srgbClr val="526276"/>
                </a:solidFill>
                <a:latin typeface="Aptos"/>
                <a:ea typeface="Aptos"/>
                <a:cs typeface="Aptos"/>
              </a:defRPr>
            </a:pPr>
            <a:r>
              <a:rPr sz="1125" b="0">
                <a:solidFill>
                  <a:srgbClr val="526276"/>
                </a:solidFill>
                <a:latin typeface="Aptos"/>
                <a:ea typeface="Aptos"/>
                <a:cs typeface="Aptos"/>
              </a:rPr>
              <a:t>Source: SYNTHETIC_STREAMS.md</a:t>
            </a:r>
          </a:p>
        </p:txBody>
      </p:sp>
      <p:graphicFrame>
        <p:nvGraphicFramePr>
          <p:cNvPr id="4" name="">
            <a:extLst xmlns:a="http://schemas.openxmlformats.org/drawingml/2006/main">
              <a:ext uri="{FF2B5EF4-FFF2-40B4-BE49-F238E27FC236}">
                <a16:creationId xmlns:a16="http://schemas.microsoft.com/office/drawing/2014/main" id="{CA9A6A2F-4390-4B63-90A2-C1A2AD364FD4}"/>
              </a:ext>
            </a:extLst>
          </p:cNvPr>
          <p:cNvGraphicFramePr/>
          <p:nvPr/>
        </p:nvGraphicFramePr>
        <p:xfrm>
          <a:off xmlns:a="http://schemas.openxmlformats.org/drawingml/2006/main" x="609600" y="1562100"/>
          <a:ext xmlns:a="http://schemas.openxmlformats.org/drawingml/2006/main" cx="10972800" cy="2000250"/>
        </p:xfrm>
        <a:graphic xmlns:a="http://schemas.openxmlformats.org/drawingml/2006/main">
          <a:graphicData uri="http://schemas.openxmlformats.org/drawingml/2006/table">
            <a:tbl>
              <a:tblPr/>
              <a:tblGrid>
                <a:gridCol w="4191000"/>
                <a:gridCol w="2238375"/>
                <a:gridCol w="1905000"/>
                <a:gridCol w="2638425"/>
              </a:tblGrid>
              <a:tr h="666750">
                <a:tc>
                  <a:txBody>
                    <a:bodyPr/>
                    <a:lstStyle/>
                    <a:p>
                      <a:r>
                        <a:rPr sz="1725" b="1">
                          <a:solidFill>
                            <a:srgbClr val="FFFFFF"/>
                          </a:solidFill>
                          <a:latin typeface="Aptos"/>
                          <a:ea typeface="Aptos"/>
                          <a:cs typeface="Aptos"/>
                        </a:rPr>
                        <a:t>Page group</a:t>
                      </a:r>
                    </a:p>
                  </a:txBody>
                  <a:tcPr marL="114300" marR="114300" marT="47625" marB="47625">
                    <a:lnL w="9525">
                      <a:solidFill>
                        <a:srgbClr val="D4DDE4"/>
                      </a:solidFill>
                      <a:prstDash val="solid"/>
                    </a:lnL>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c>
                  <a:txBody>
                    <a:bodyPr/>
                    <a:lstStyle/>
                    <a:p>
                      <a:r>
                        <a:rPr sz="1725" b="1">
                          <a:solidFill>
                            <a:srgbClr val="FFFFFF"/>
                          </a:solidFill>
                          <a:latin typeface="Aptos"/>
                          <a:ea typeface="Aptos"/>
                          <a:cs typeface="Aptos"/>
                        </a:rPr>
                        <a:t>Relative misses</a:t>
                      </a:r>
                    </a:p>
                  </a:txBody>
                  <a:tcPr marL="114300" marR="114300" marT="47625" marB="47625">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c>
                  <a:txBody>
                    <a:bodyPr/>
                    <a:lstStyle/>
                    <a:p>
                      <a:r>
                        <a:rPr sz="1725" b="1">
                          <a:solidFill>
                            <a:srgbClr val="FFFFFF"/>
                          </a:solidFill>
                          <a:latin typeface="Aptos"/>
                          <a:ea typeface="Aptos"/>
                          <a:cs typeface="Aptos"/>
                        </a:rPr>
                        <a:t>Phase MLP</a:t>
                      </a:r>
                    </a:p>
                  </a:txBody>
                  <a:tcPr marL="114300" marR="114300" marT="47625" marB="47625">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c>
                  <a:txBody>
                    <a:bodyPr/>
                    <a:lstStyle/>
                    <a:p>
                      <a:r>
                        <a:rPr sz="1725" b="1">
                          <a:solidFill>
                            <a:srgbClr val="FFFFFF"/>
                          </a:solidFill>
                          <a:latin typeface="Aptos"/>
                          <a:ea typeface="Aptos"/>
                          <a:cs typeface="Aptos"/>
                        </a:rPr>
                        <a:t>Relative PAC</a:t>
                      </a:r>
                    </a:p>
                  </a:txBody>
                  <a:tcPr marL="114300" marR="114300" marT="47625" marB="47625">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r>
              <a:tr h="666750">
                <a:tc>
                  <a:txBody>
                    <a:bodyPr/>
                    <a:lstStyle/>
                    <a:p>
                      <a:r>
                        <a:rPr sz="1725">
                          <a:solidFill>
                            <a:srgbClr val="16283D"/>
                          </a:solidFill>
                          <a:latin typeface="Aptos"/>
                          <a:ea typeface="Aptos"/>
                          <a:cs typeface="Aptos"/>
                        </a:rPr>
                        <a:t>Dependent pointer chain</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1</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1</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1 / 1 = 1.00</a:t>
                      </a:r>
                    </a:p>
                  </a:txBody>
                  <a:tcPr marL="114300" marR="114300" marT="47625" marB="47625">
                    <a:lnR w="9525">
                      <a:solidFill>
                        <a:srgbClr val="D4DDE4"/>
                      </a:solidFill>
                      <a:prstDash val="solid"/>
                    </a:lnR>
                    <a:lnB w="9525">
                      <a:solidFill>
                        <a:srgbClr val="D4DDE4"/>
                      </a:solidFill>
                      <a:prstDash val="solid"/>
                    </a:lnB>
                  </a:tcPr>
                </a:tc>
              </a:tr>
              <a:tr h="666750">
                <a:tc>
                  <a:txBody>
                    <a:bodyPr/>
                    <a:lstStyle/>
                    <a:p>
                      <a:r>
                        <a:rPr sz="1725">
                          <a:solidFill>
                            <a:srgbClr val="16283D"/>
                          </a:solidFill>
                          <a:latin typeface="Aptos"/>
                          <a:ea typeface="Aptos"/>
                          <a:cs typeface="Aptos"/>
                        </a:rPr>
                        <a:t>Hot independent loads</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4</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16</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4 / 16 = 0.25</a:t>
                      </a:r>
                    </a:p>
                  </a:txBody>
                  <a:tcPr marL="114300" marR="114300" marT="47625" marB="47625">
                    <a:lnR w="9525">
                      <a:solidFill>
                        <a:srgbClr val="D4DDE4"/>
                      </a:solidFill>
                      <a:prstDash val="solid"/>
                    </a:lnR>
                    <a:lnB w="9525">
                      <a:solidFill>
                        <a:srgbClr val="D4DDE4"/>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33217304-97B6-48D9-BA74-CF424E866BCB}"/>
              </a:ext>
            </a:extLst>
          </p:cNvPr>
          <p:cNvSpPr>
            <a:spLocks xmlns:a="http://schemas.openxmlformats.org/drawingml/2006/main" noGrp="1"/>
          </p:cNvSpPr>
          <p:nvPr/>
        </p:nvSpPr>
        <p:spPr>
          <a:xfrm xmlns:a="http://schemas.openxmlformats.org/drawingml/2006/main">
            <a:off x="609600" y="390525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06A75"/>
                </a:solidFill>
                <a:latin typeface="Aptos"/>
                <a:ea typeface="Aptos"/>
                <a:cs typeface="Aptos"/>
              </a:defRPr>
            </a:defPPr>
          </a:lstStyle>
          <a:p xmlns:a="http://schemas.openxmlformats.org/drawingml/2006/main">
            <a:pPr>
              <a:defRPr sz="2400" b="1">
                <a:solidFill>
                  <a:srgbClr val="006A75"/>
                </a:solidFill>
                <a:latin typeface="Aptos"/>
                <a:ea typeface="Aptos"/>
                <a:cs typeface="Aptos"/>
              </a:defRPr>
            </a:pPr>
            <a:r>
              <a:rPr sz="2400" b="1">
                <a:solidFill>
                  <a:srgbClr val="006A75"/>
                </a:solidFill>
                <a:latin typeface="Aptos"/>
                <a:ea typeface="Aptos"/>
                <a:cs typeface="Aptos"/>
              </a:rPr>
              <a:t>Frequency counts how often. PAC weights each window by how much latency remains exposed.</a:t>
            </a:r>
          </a:p>
        </p:txBody>
      </p:sp>
      <p:sp>
        <p:nvSpPr>
          <p:cNvPr id="6" name="">
            <a:extLst xmlns:a="http://schemas.openxmlformats.org/drawingml/2006/main">
              <a:ext uri="{FF2B5EF4-FFF2-40B4-BE49-F238E27FC236}">
                <a16:creationId xmlns:a16="http://schemas.microsoft.com/office/drawing/2014/main" id="{BE6992E8-2120-4EB5-A9F7-885A1CB4852E}"/>
              </a:ext>
            </a:extLst>
          </p:cNvPr>
          <p:cNvSpPr>
            <a:spLocks xmlns:a="http://schemas.openxmlformats.org/drawingml/2006/main" noGrp="1"/>
          </p:cNvSpPr>
          <p:nvPr/>
        </p:nvSpPr>
        <p:spPr>
          <a:xfrm xmlns:a="http://schemas.openxmlformats.org/drawingml/2006/main">
            <a:off x="609600" y="49053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283D"/>
                </a:solidFill>
                <a:latin typeface="Aptos"/>
                <a:ea typeface="Aptos"/>
                <a:cs typeface="Aptos"/>
              </a:defRPr>
            </a:defPPr>
          </a:lstStyle>
          <a:p xmlns:a="http://schemas.openxmlformats.org/drawingml/2006/main">
            <a:pPr>
              <a:defRPr sz="2175" b="1">
                <a:solidFill>
                  <a:srgbClr val="16283D"/>
                </a:solidFill>
                <a:latin typeface="Aptos"/>
                <a:ea typeface="Aptos"/>
                <a:cs typeface="Aptos"/>
              </a:defRPr>
            </a:pPr>
            <a:r>
              <a:rPr sz="2175" b="1">
                <a:solidFill>
                  <a:srgbClr val="16283D"/>
                </a:solidFill>
                <a:latin typeface="Aptos"/>
                <a:ea typeface="Aptos"/>
                <a:cs typeface="Aptos"/>
              </a:rPr>
              <a:t>PAC_new = alpha × PAC_old + k × page misses / window MLP</a:t>
            </a:r>
          </a:p>
        </p:txBody>
      </p:sp>
      <p:sp>
        <p:nvSpPr>
          <p:cNvPr id="7" name="">
            <a:extLst xmlns:a="http://schemas.openxmlformats.org/drawingml/2006/main">
              <a:ext uri="{FF2B5EF4-FFF2-40B4-BE49-F238E27FC236}">
                <a16:creationId xmlns:a16="http://schemas.microsoft.com/office/drawing/2014/main" id="{1FFF434A-BAB3-43DF-8380-8D354B973C1D}"/>
              </a:ext>
            </a:extLst>
          </p:cNvPr>
          <p:cNvSpPr>
            <a:spLocks xmlns:a="http://schemas.openxmlformats.org/drawingml/2006/main" noGrp="1"/>
          </p:cNvSpPr>
          <p:nvPr/>
        </p:nvSpPr>
        <p:spPr>
          <a:xfrm xmlns:a="http://schemas.openxmlformats.org/drawingml/2006/main">
            <a:off x="609600" y="56292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283D"/>
                </a:solidFill>
                <a:latin typeface="Aptos"/>
                <a:ea typeface="Aptos"/>
                <a:cs typeface="Aptos"/>
              </a:defRPr>
            </a:defPPr>
          </a:lstStyle>
          <a:p xmlns:a="http://schemas.openxmlformats.org/drawingml/2006/main">
            <a:pPr>
              <a:defRPr sz="2025" b="0">
                <a:solidFill>
                  <a:srgbClr val="16283D"/>
                </a:solidFill>
                <a:latin typeface="Aptos"/>
                <a:ea typeface="Aptos"/>
                <a:cs typeface="Aptos"/>
              </a:defRPr>
            </a:pPr>
            <a:r>
              <a:rPr sz="2025" b="0">
                <a:solidFill>
                  <a:srgbClr val="16283D"/>
                </a:solidFill>
                <a:latin typeface="Aptos"/>
                <a:ea typeface="Aptos"/>
                <a:cs typeface="Aptos"/>
              </a:rPr>
              <a:t>Within one tier and one window, PAC is proportional to frequency. Different MLP phases create the useful distinction.</a:t>
            </a:r>
          </a:p>
        </p:txBody>
      </p:sp>
    </p:spTree>
    <p:extLst>
      <p:ext uri="{BB962C8B-B14F-4D97-AF65-F5344CB8AC3E}">
        <p14:creationId xmlns:p14="http://schemas.microsoft.com/office/powerpoint/2010/main" val="1962379896"/>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15352D83-7944-4DA6-BB20-A3D0C0B3D64B}"/>
              </a:ext>
            </a:extLst>
          </p:cNvPr>
          <p:cNvCxnSpPr>
            <a:stCxn xmlns:a="http://schemas.openxmlformats.org/drawingml/2006/main" id="8" idx="0"/>
            <a:endCxn xmlns:a="http://schemas.openxmlformats.org/drawingml/2006/main" id="6" idx="3"/>
          </p:cNvCxnSpPr>
          <p:nvPr/>
        </p:nvCxnSpPr>
        <p:spPr>
          <a:xfrm xmlns:a="http://schemas.openxmlformats.org/drawingml/2006/main" flipH="1" flipV="1">
            <a:off x="8467725" y="3190875"/>
            <a:ext cx="571500" cy="1047750"/>
          </a:xfrm>
          <a:prstGeom xmlns:a="http://schemas.openxmlformats.org/drawingml/2006/main" prst="bentConnector5">
            <a:avLst>
              <a:gd name="adj1" fmla="val 0"/>
              <a:gd name="adj2" fmla="val 21818"/>
              <a:gd name="adj3" fmla="val 60000"/>
            </a:avLst>
          </a:prstGeom>
          <a:ln xmlns:a="http://schemas.openxmlformats.org/drawingml/2006/main" w="19050">
            <a:solidFill>
              <a:srgbClr val="006A75"/>
            </a:solidFill>
            <a:tailEnd type="triangle" w="med" len="med"/>
          </a:ln>
        </p:spPr>
      </p:cxnSp>
      <p:cxnSp>
        <p:nvCxnSpPr>
          <p:cNvPr id="12" name="">
            <a:extLst xmlns:a="http://schemas.openxmlformats.org/drawingml/2006/main">
              <a:ext uri="{FF2B5EF4-FFF2-40B4-BE49-F238E27FC236}">
                <a16:creationId xmlns:a16="http://schemas.microsoft.com/office/drawing/2014/main" id="{3BA750C4-673C-49AE-8A1E-184C34BE7401}"/>
              </a:ext>
            </a:extLst>
          </p:cNvPr>
          <p:cNvCxnSpPr>
            <a:stCxn xmlns:a="http://schemas.openxmlformats.org/drawingml/2006/main" id="7" idx="3"/>
            <a:endCxn xmlns:a="http://schemas.openxmlformats.org/drawingml/2006/main" id="8" idx="1"/>
          </p:cNvCxnSpPr>
          <p:nvPr/>
        </p:nvCxnSpPr>
        <p:spPr>
          <a:xfrm xmlns:a="http://schemas.openxmlformats.org/drawingml/2006/main">
            <a:off x="5657850" y="4700588"/>
            <a:ext cx="857250" cy="0"/>
          </a:xfrm>
          <a:prstGeom xmlns:a="http://schemas.openxmlformats.org/drawingml/2006/main" prst="straightConnector1">
            <a:avLst/>
          </a:prstGeom>
          <a:ln xmlns:a="http://schemas.openxmlformats.org/drawingml/2006/main" w="19050">
            <a:solidFill>
              <a:srgbClr val="006A75"/>
            </a:solidFill>
            <a:tailEnd type="triangle" w="med" len="med"/>
          </a:ln>
        </p:spPr>
      </p:cxnSp>
      <p:cxnSp>
        <p:nvCxnSpPr>
          <p:cNvPr id="11" name="">
            <a:extLst xmlns:a="http://schemas.openxmlformats.org/drawingml/2006/main">
              <a:ext uri="{FF2B5EF4-FFF2-40B4-BE49-F238E27FC236}">
                <a16:creationId xmlns:a16="http://schemas.microsoft.com/office/drawing/2014/main" id="{D3661B08-98B0-43B1-9AF9-1C21735FDD4F}"/>
              </a:ext>
            </a:extLst>
          </p:cNvPr>
          <p:cNvCxnSpPr>
            <a:stCxn xmlns:a="http://schemas.openxmlformats.org/drawingml/2006/main" id="6" idx="2"/>
            <a:endCxn xmlns:a="http://schemas.openxmlformats.org/drawingml/2006/main" id="7" idx="0"/>
          </p:cNvCxnSpPr>
          <p:nvPr/>
        </p:nvCxnSpPr>
        <p:spPr>
          <a:xfrm xmlns:a="http://schemas.openxmlformats.org/drawingml/2006/main" flipH="1">
            <a:off x="3133725" y="3619500"/>
            <a:ext cx="2952750" cy="619125"/>
          </a:xfrm>
          <a:prstGeom xmlns:a="http://schemas.openxmlformats.org/drawingml/2006/main" prst="bentConnector4">
            <a:avLst>
              <a:gd name="adj1" fmla="val 0"/>
              <a:gd name="adj2" fmla="val 50000"/>
            </a:avLst>
          </a:prstGeom>
          <a:ln xmlns:a="http://schemas.openxmlformats.org/drawingml/2006/main" w="19050">
            <a:solidFill>
              <a:srgbClr val="006A75"/>
            </a:solidFill>
            <a:tailEnd type="triangle" w="med" len="med"/>
          </a:ln>
        </p:spPr>
      </p:cxnSp>
      <p:cxnSp>
        <p:nvCxnSpPr>
          <p:cNvPr id="10" name="">
            <a:extLst xmlns:a="http://schemas.openxmlformats.org/drawingml/2006/main">
              <a:ext uri="{FF2B5EF4-FFF2-40B4-BE49-F238E27FC236}">
                <a16:creationId xmlns:a16="http://schemas.microsoft.com/office/drawing/2014/main" id="{1C0155C0-E506-43C3-A722-607F4C44F217}"/>
              </a:ext>
            </a:extLst>
          </p:cNvPr>
          <p:cNvCxnSpPr>
            <a:stCxn xmlns:a="http://schemas.openxmlformats.org/drawingml/2006/main" id="5" idx="2"/>
            <a:endCxn xmlns:a="http://schemas.openxmlformats.org/drawingml/2006/main" id="6" idx="0"/>
          </p:cNvCxnSpPr>
          <p:nvPr/>
        </p:nvCxnSpPr>
        <p:spPr>
          <a:xfrm xmlns:a="http://schemas.openxmlformats.org/drawingml/2006/main" flipH="1">
            <a:off x="6086475" y="2305050"/>
            <a:ext cx="3095625" cy="457200"/>
          </a:xfrm>
          <a:prstGeom xmlns:a="http://schemas.openxmlformats.org/drawingml/2006/main" prst="bentConnector4">
            <a:avLst>
              <a:gd name="adj1" fmla="val 0"/>
              <a:gd name="adj2" fmla="val 50000"/>
            </a:avLst>
          </a:prstGeom>
          <a:ln xmlns:a="http://schemas.openxmlformats.org/drawingml/2006/main" w="19050">
            <a:solidFill>
              <a:srgbClr val="006A75"/>
            </a:solidFill>
            <a:tailEnd type="triangle" w="med" len="med"/>
          </a:ln>
        </p:spPr>
      </p:cxnSp>
      <p:cxnSp>
        <p:nvCxnSpPr>
          <p:cNvPr id="9" name="">
            <a:extLst xmlns:a="http://schemas.openxmlformats.org/drawingml/2006/main">
              <a:ext uri="{FF2B5EF4-FFF2-40B4-BE49-F238E27FC236}">
                <a16:creationId xmlns:a16="http://schemas.microsoft.com/office/drawing/2014/main" id="{F2449E63-AD52-4D01-9A4D-8A05728AAE81}"/>
              </a:ext>
            </a:extLst>
          </p:cNvPr>
          <p:cNvCxnSpPr>
            <a:stCxn xmlns:a="http://schemas.openxmlformats.org/drawingml/2006/main" id="4" idx="2"/>
            <a:endCxn xmlns:a="http://schemas.openxmlformats.org/drawingml/2006/main" id="6" idx="0"/>
          </p:cNvCxnSpPr>
          <p:nvPr/>
        </p:nvCxnSpPr>
        <p:spPr>
          <a:xfrm xmlns:a="http://schemas.openxmlformats.org/drawingml/2006/main">
            <a:off x="2990850" y="2305050"/>
            <a:ext cx="3095625" cy="457200"/>
          </a:xfrm>
          <a:prstGeom xmlns:a="http://schemas.openxmlformats.org/drawingml/2006/main" prst="bentConnector4">
            <a:avLst>
              <a:gd name="adj1" fmla="val 0"/>
              <a:gd name="adj2" fmla="val 50000"/>
            </a:avLst>
          </a:prstGeom>
          <a:ln xmlns:a="http://schemas.openxmlformats.org/drawingml/2006/main" w="19050">
            <a:solidFill>
              <a:srgbClr val="006A75"/>
            </a:solidFill>
            <a:tailEnd type="triangle" w="med" len="med"/>
          </a:ln>
        </p:spPr>
      </p:cxnSp>
      <p:sp>
        <p:nvSpPr>
          <p:cNvPr id="15" name="">
            <a:extLst xmlns:a="http://schemas.openxmlformats.org/drawingml/2006/main">
              <a:ext uri="{FF2B5EF4-FFF2-40B4-BE49-F238E27FC236}">
                <a16:creationId xmlns:a16="http://schemas.microsoft.com/office/drawing/2014/main" id="{33DAEAD4-2CB2-42A4-A825-29537FDFE938}"/>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Architecture of our analytical simulator</a:t>
            </a:r>
          </a:p>
        </p:txBody>
      </p:sp>
      <p:sp>
        <p:nvSpPr>
          <p:cNvPr id="2" name="">
            <a:extLst xmlns:a="http://schemas.openxmlformats.org/drawingml/2006/main">
              <a:ext uri="{FF2B5EF4-FFF2-40B4-BE49-F238E27FC236}">
                <a16:creationId xmlns:a16="http://schemas.microsoft.com/office/drawing/2014/main" id="{6B4DF21D-97C2-4635-A451-695F086AC700}"/>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03</a:t>
            </a:r>
          </a:p>
        </p:txBody>
      </p:sp>
      <p:sp>
        <p:nvSpPr>
          <p:cNvPr id="3" name="">
            <a:extLst xmlns:a="http://schemas.openxmlformats.org/drawingml/2006/main">
              <a:ext uri="{FF2B5EF4-FFF2-40B4-BE49-F238E27FC236}">
                <a16:creationId xmlns:a16="http://schemas.microsoft.com/office/drawing/2014/main" id="{AEC4D435-72FD-4E0D-BA49-E94147A6A46F}"/>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defRPr sz="1125" b="0">
                <a:solidFill>
                  <a:srgbClr val="526276"/>
                </a:solidFill>
                <a:latin typeface="Aptos"/>
                <a:ea typeface="Aptos"/>
                <a:cs typeface="Aptos"/>
              </a:defRPr>
            </a:pPr>
            <a:r>
              <a:rPr sz="1125" b="0">
                <a:solidFill>
                  <a:srgbClr val="526276"/>
                </a:solidFill>
                <a:latin typeface="Aptos"/>
                <a:ea typeface="Aptos"/>
                <a:cs typeface="Aptos"/>
              </a:rPr>
              <a:t>Source: COMPACT_MODEL.md</a:t>
            </a:r>
          </a:p>
        </p:txBody>
      </p:sp>
      <p:sp>
        <p:nvSpPr>
          <p:cNvPr id="4" name="">
            <a:extLst xmlns:a="http://schemas.openxmlformats.org/drawingml/2006/main">
              <a:ext uri="{FF2B5EF4-FFF2-40B4-BE49-F238E27FC236}">
                <a16:creationId xmlns:a16="http://schemas.microsoft.com/office/drawing/2014/main" id="{E3A2FCBF-7A44-4C0D-AFBA-9EEFAE7728DC}"/>
              </a:ext>
            </a:extLst>
          </p:cNvPr>
          <p:cNvSpPr>
            <a:spLocks xmlns:a="http://schemas.openxmlformats.org/drawingml/2006/main" noGrp="1"/>
          </p:cNvSpPr>
          <p:nvPr/>
        </p:nvSpPr>
        <p:spPr>
          <a:xfrm xmlns:a="http://schemas.openxmlformats.org/drawingml/2006/main">
            <a:off x="609600" y="1438275"/>
            <a:ext cx="4762500" cy="866775"/>
          </a:xfrm>
          <a:prstGeom xmlns:a="http://schemas.openxmlformats.org/drawingml/2006/main" prst="rect">
            <a:avLst/>
          </a:prstGeom>
          <a:solidFill xmlns:a="http://schemas.openxmlformats.org/drawingml/2006/main">
            <a:srgbClr val="E5EFF0"/>
          </a:solidFill>
          <a:ln xmlns:a="http://schemas.openxmlformats.org/drawingml/2006/main" w="14288">
            <a:solidFill>
              <a:srgbClr val="006A75"/>
            </a:solidFill>
          </a:ln>
        </p:spPr>
        <p:txBody>
          <a:bodyPr xmlns:a="http://schemas.openxmlformats.org/drawingml/2006/main"/>
          <a:lstStyle xmlns:a="http://schemas.openxmlformats.org/drawingml/2006/main">
            <a:defPPr>
              <a:defRPr sz="1875" b="1">
                <a:solidFill>
                  <a:srgbClr val="16283D"/>
                </a:solidFill>
                <a:latin typeface="Aptos"/>
                <a:ea typeface="Aptos"/>
                <a:cs typeface="Aptos"/>
              </a:defRPr>
            </a:defPPr>
          </a:lstStyle>
          <a:p xmlns:a="http://schemas.openxmlformats.org/drawingml/2006/main">
            <a:pPr>
              <a:defRPr sz="1875" b="1">
                <a:solidFill>
                  <a:srgbClr val="16283D"/>
                </a:solidFill>
                <a:latin typeface="Aptos"/>
                <a:ea typeface="Aptos"/>
                <a:cs typeface="Aptos"/>
              </a:defRPr>
            </a:pPr>
            <a:r>
              <a:rPr sz="1875" b="1">
                <a:solidFill>
                  <a:srgbClr val="16283D"/>
                </a:solidFill>
                <a:latin typeface="Aptos"/>
                <a:ea typeface="Aptos"/>
                <a:cs typeface="Aptos"/>
              </a:rPr>
              <a:t>Public instruction traces</a:t>
            </a:r>
          </a:p>
          <a:p xmlns:a="http://schemas.openxmlformats.org/drawingml/2006/main">
            <a:pPr>
              <a:defRPr sz="1875" b="1">
                <a:solidFill>
                  <a:srgbClr val="16283D"/>
                </a:solidFill>
                <a:latin typeface="Aptos"/>
                <a:ea typeface="Aptos"/>
                <a:cs typeface="Aptos"/>
              </a:defRPr>
            </a:pPr>
            <a:r>
              <a:rPr sz="1875" b="1">
                <a:solidFill>
                  <a:srgbClr val="16283D"/>
                </a:solidFill>
                <a:latin typeface="Aptos"/>
                <a:ea typeface="Aptos"/>
                <a:cs typeface="Aptos"/>
              </a:rPr>
              <a:t>Cache filtering + dependency graph</a:t>
            </a:r>
          </a:p>
        </p:txBody>
      </p:sp>
      <p:sp>
        <p:nvSpPr>
          <p:cNvPr id="5" name="">
            <a:extLst xmlns:a="http://schemas.openxmlformats.org/drawingml/2006/main">
              <a:ext uri="{FF2B5EF4-FFF2-40B4-BE49-F238E27FC236}">
                <a16:creationId xmlns:a16="http://schemas.microsoft.com/office/drawing/2014/main" id="{CDA586B5-79BA-4642-809A-F8F20896567E}"/>
              </a:ext>
            </a:extLst>
          </p:cNvPr>
          <p:cNvSpPr>
            <a:spLocks xmlns:a="http://schemas.openxmlformats.org/drawingml/2006/main" noGrp="1"/>
          </p:cNvSpPr>
          <p:nvPr/>
        </p:nvSpPr>
        <p:spPr>
          <a:xfrm xmlns:a="http://schemas.openxmlformats.org/drawingml/2006/main">
            <a:off x="6800850" y="1438275"/>
            <a:ext cx="4762500" cy="866775"/>
          </a:xfrm>
          <a:prstGeom xmlns:a="http://schemas.openxmlformats.org/drawingml/2006/main" prst="rect">
            <a:avLst/>
          </a:prstGeom>
          <a:solidFill xmlns:a="http://schemas.openxmlformats.org/drawingml/2006/main">
            <a:srgbClr val="E5EFF0"/>
          </a:solidFill>
          <a:ln xmlns:a="http://schemas.openxmlformats.org/drawingml/2006/main" w="14288">
            <a:solidFill>
              <a:srgbClr val="006A75"/>
            </a:solidFill>
          </a:ln>
        </p:spPr>
        <p:txBody>
          <a:bodyPr xmlns:a="http://schemas.openxmlformats.org/drawingml/2006/main"/>
          <a:lstStyle xmlns:a="http://schemas.openxmlformats.org/drawingml/2006/main">
            <a:defPPr>
              <a:defRPr sz="1875" b="1">
                <a:solidFill>
                  <a:srgbClr val="16283D"/>
                </a:solidFill>
                <a:latin typeface="Aptos"/>
                <a:ea typeface="Aptos"/>
                <a:cs typeface="Aptos"/>
              </a:defRPr>
            </a:defPPr>
          </a:lstStyle>
          <a:p xmlns:a="http://schemas.openxmlformats.org/drawingml/2006/main">
            <a:pPr>
              <a:defRPr sz="1875" b="1">
                <a:solidFill>
                  <a:srgbClr val="16283D"/>
                </a:solidFill>
                <a:latin typeface="Aptos"/>
                <a:ea typeface="Aptos"/>
                <a:cs typeface="Aptos"/>
              </a:defRPr>
            </a:pPr>
            <a:r>
              <a:rPr sz="1875" b="1">
                <a:solidFill>
                  <a:srgbClr val="16283D"/>
                </a:solidFill>
                <a:latin typeface="Aptos"/>
                <a:ea typeface="Aptos"/>
                <a:cs typeface="Aptos"/>
              </a:rPr>
              <a:t>Synthetic MLP streams</a:t>
            </a:r>
          </a:p>
          <a:p xmlns:a="http://schemas.openxmlformats.org/drawingml/2006/main">
            <a:pPr>
              <a:defRPr sz="1875" b="1">
                <a:solidFill>
                  <a:srgbClr val="16283D"/>
                </a:solidFill>
                <a:latin typeface="Aptos"/>
                <a:ea typeface="Aptos"/>
                <a:cs typeface="Aptos"/>
              </a:defRPr>
            </a:pPr>
            <a:r>
              <a:rPr sz="1875" b="1">
                <a:solidFill>
                  <a:srgbClr val="16283D"/>
                </a:solidFill>
                <a:latin typeface="Aptos"/>
                <a:ea typeface="Aptos"/>
                <a:cs typeface="Aptos"/>
              </a:rPr>
              <a:t>Serial chain + independent batches</a:t>
            </a:r>
          </a:p>
        </p:txBody>
      </p:sp>
      <p:sp>
        <p:nvSpPr>
          <p:cNvPr id="6" name="">
            <a:extLst xmlns:a="http://schemas.openxmlformats.org/drawingml/2006/main">
              <a:ext uri="{FF2B5EF4-FFF2-40B4-BE49-F238E27FC236}">
                <a16:creationId xmlns:a16="http://schemas.microsoft.com/office/drawing/2014/main" id="{C0274249-48C1-4E6B-AB66-354F20E51B41}"/>
              </a:ext>
            </a:extLst>
          </p:cNvPr>
          <p:cNvSpPr>
            <a:spLocks xmlns:a="http://schemas.openxmlformats.org/drawingml/2006/main" noGrp="1"/>
          </p:cNvSpPr>
          <p:nvPr/>
        </p:nvSpPr>
        <p:spPr>
          <a:xfrm xmlns:a="http://schemas.openxmlformats.org/drawingml/2006/main">
            <a:off x="3705225" y="2762250"/>
            <a:ext cx="4762500" cy="857250"/>
          </a:xfrm>
          <a:prstGeom xmlns:a="http://schemas.openxmlformats.org/drawingml/2006/main" prst="rect">
            <a:avLst/>
          </a:prstGeom>
          <a:solidFill xmlns:a="http://schemas.openxmlformats.org/drawingml/2006/main">
            <a:srgbClr val="E5EFF0"/>
          </a:solidFill>
          <a:ln xmlns:a="http://schemas.openxmlformats.org/drawingml/2006/main" w="14288">
            <a:solidFill>
              <a:srgbClr val="006A75"/>
            </a:solidFill>
          </a:ln>
        </p:spPr>
        <p:txBody>
          <a:bodyPr xmlns:a="http://schemas.openxmlformats.org/drawingml/2006/main"/>
          <a:lstStyle xmlns:a="http://schemas.openxmlformats.org/drawingml/2006/main">
            <a:defPPr>
              <a:defRPr sz="1875" b="1">
                <a:solidFill>
                  <a:srgbClr val="16283D"/>
                </a:solidFill>
                <a:latin typeface="Aptos"/>
                <a:ea typeface="Aptos"/>
                <a:cs typeface="Aptos"/>
              </a:defRPr>
            </a:defPPr>
          </a:lstStyle>
          <a:p xmlns:a="http://schemas.openxmlformats.org/drawingml/2006/main">
            <a:pPr>
              <a:defRPr sz="1875" b="1">
                <a:solidFill>
                  <a:srgbClr val="16283D"/>
                </a:solidFill>
                <a:latin typeface="Aptos"/>
                <a:ea typeface="Aptos"/>
                <a:cs typeface="Aptos"/>
              </a:defRPr>
            </a:pPr>
            <a:r>
              <a:rPr sz="1875" b="1">
                <a:solidFill>
                  <a:srgbClr val="16283D"/>
                </a:solidFill>
                <a:latin typeface="Aptos"/>
                <a:ea typeface="Aptos"/>
                <a:cs typeface="Aptos"/>
              </a:rPr>
              <a:t>Execution engine</a:t>
            </a:r>
          </a:p>
          <a:p xmlns:a="http://schemas.openxmlformats.org/drawingml/2006/main">
            <a:pPr>
              <a:defRPr sz="1875" b="1">
                <a:solidFill>
                  <a:srgbClr val="16283D"/>
                </a:solidFill>
                <a:latin typeface="Aptos"/>
                <a:ea typeface="Aptos"/>
                <a:cs typeface="Aptos"/>
              </a:defRPr>
            </a:pPr>
            <a:r>
              <a:rPr sz="1875" b="1">
                <a:solidFill>
                  <a:srgbClr val="16283D"/>
                </a:solidFill>
                <a:latin typeface="Aptos"/>
                <a:ea typeface="Aptos"/>
                <a:cs typeface="Aptos"/>
              </a:rPr>
              <a:t>Events + DRAM/CXL placement</a:t>
            </a:r>
          </a:p>
        </p:txBody>
      </p:sp>
      <p:sp>
        <p:nvSpPr>
          <p:cNvPr id="7" name="">
            <a:extLst xmlns:a="http://schemas.openxmlformats.org/drawingml/2006/main">
              <a:ext uri="{FF2B5EF4-FFF2-40B4-BE49-F238E27FC236}">
                <a16:creationId xmlns:a16="http://schemas.microsoft.com/office/drawing/2014/main" id="{AE12FC93-678C-4513-B58E-4CD68D92FA61}"/>
              </a:ext>
            </a:extLst>
          </p:cNvPr>
          <p:cNvSpPr>
            <a:spLocks xmlns:a="http://schemas.openxmlformats.org/drawingml/2006/main" noGrp="1"/>
          </p:cNvSpPr>
          <p:nvPr/>
        </p:nvSpPr>
        <p:spPr>
          <a:xfrm xmlns:a="http://schemas.openxmlformats.org/drawingml/2006/main">
            <a:off x="609600" y="4238625"/>
            <a:ext cx="5048250" cy="923925"/>
          </a:xfrm>
          <a:prstGeom xmlns:a="http://schemas.openxmlformats.org/drawingml/2006/main" prst="rect">
            <a:avLst/>
          </a:prstGeom>
          <a:solidFill xmlns:a="http://schemas.openxmlformats.org/drawingml/2006/main">
            <a:srgbClr val="E5EFF0"/>
          </a:solidFill>
          <a:ln xmlns:a="http://schemas.openxmlformats.org/drawingml/2006/main" w="14288">
            <a:solidFill>
              <a:srgbClr val="006A75"/>
            </a:solidFill>
          </a:ln>
        </p:spPr>
        <p:txBody>
          <a:bodyPr xmlns:a="http://schemas.openxmlformats.org/drawingml/2006/main"/>
          <a:lstStyle xmlns:a="http://schemas.openxmlformats.org/drawingml/2006/main">
            <a:defPPr>
              <a:defRPr sz="1875" b="1">
                <a:solidFill>
                  <a:srgbClr val="16283D"/>
                </a:solidFill>
                <a:latin typeface="Aptos"/>
                <a:ea typeface="Aptos"/>
                <a:cs typeface="Aptos"/>
              </a:defRPr>
            </a:defPPr>
          </a:lstStyle>
          <a:p xmlns:a="http://schemas.openxmlformats.org/drawingml/2006/main">
            <a:pPr>
              <a:defRPr sz="1875" b="1">
                <a:solidFill>
                  <a:srgbClr val="16283D"/>
                </a:solidFill>
                <a:latin typeface="Aptos"/>
                <a:ea typeface="Aptos"/>
                <a:cs typeface="Aptos"/>
              </a:defRPr>
            </a:pPr>
            <a:r>
              <a:rPr sz="1875" b="1">
                <a:solidFill>
                  <a:srgbClr val="16283D"/>
                </a:solidFill>
                <a:latin typeface="Aptos"/>
                <a:ea typeface="Aptos"/>
                <a:cs typeface="Aptos"/>
              </a:rPr>
              <a:t>Profiler observations</a:t>
            </a:r>
          </a:p>
          <a:p xmlns:a="http://schemas.openxmlformats.org/drawingml/2006/main">
            <a:pPr>
              <a:defRPr sz="1875" b="1">
                <a:solidFill>
                  <a:srgbClr val="16283D"/>
                </a:solidFill>
                <a:latin typeface="Aptos"/>
                <a:ea typeface="Aptos"/>
                <a:cs typeface="Aptos"/>
              </a:defRPr>
            </a:pPr>
            <a:r>
              <a:rPr sz="1875" b="1">
                <a:solidFill>
                  <a:srgbClr val="16283D"/>
                </a:solidFill>
                <a:latin typeface="Aptos"/>
                <a:ea typeface="Aptos"/>
                <a:cs typeface="Aptos"/>
              </a:rPr>
              <a:t>Load misses, occupancy, active time</a:t>
            </a:r>
          </a:p>
        </p:txBody>
      </p:sp>
      <p:sp>
        <p:nvSpPr>
          <p:cNvPr id="8" name="">
            <a:extLst xmlns:a="http://schemas.openxmlformats.org/drawingml/2006/main">
              <a:ext uri="{FF2B5EF4-FFF2-40B4-BE49-F238E27FC236}">
                <a16:creationId xmlns:a16="http://schemas.microsoft.com/office/drawing/2014/main" id="{6205CE03-DEC1-4F6C-A491-539F3857FAFE}"/>
              </a:ext>
            </a:extLst>
          </p:cNvPr>
          <p:cNvSpPr>
            <a:spLocks xmlns:a="http://schemas.openxmlformats.org/drawingml/2006/main" noGrp="1"/>
          </p:cNvSpPr>
          <p:nvPr/>
        </p:nvSpPr>
        <p:spPr>
          <a:xfrm xmlns:a="http://schemas.openxmlformats.org/drawingml/2006/main">
            <a:off x="6515100" y="4238625"/>
            <a:ext cx="5048250" cy="923925"/>
          </a:xfrm>
          <a:prstGeom xmlns:a="http://schemas.openxmlformats.org/drawingml/2006/main" prst="rect">
            <a:avLst/>
          </a:prstGeom>
          <a:solidFill xmlns:a="http://schemas.openxmlformats.org/drawingml/2006/main">
            <a:srgbClr val="E5EFF0"/>
          </a:solidFill>
          <a:ln xmlns:a="http://schemas.openxmlformats.org/drawingml/2006/main" w="14288">
            <a:solidFill>
              <a:srgbClr val="006A75"/>
            </a:solidFill>
          </a:ln>
        </p:spPr>
        <p:txBody>
          <a:bodyPr xmlns:a="http://schemas.openxmlformats.org/drawingml/2006/main"/>
          <a:lstStyle xmlns:a="http://schemas.openxmlformats.org/drawingml/2006/main">
            <a:defPPr>
              <a:defRPr sz="1875" b="1">
                <a:solidFill>
                  <a:srgbClr val="16283D"/>
                </a:solidFill>
                <a:latin typeface="Aptos"/>
                <a:ea typeface="Aptos"/>
                <a:cs typeface="Aptos"/>
              </a:defRPr>
            </a:defPPr>
          </a:lstStyle>
          <a:p xmlns:a="http://schemas.openxmlformats.org/drawingml/2006/main">
            <a:pPr>
              <a:defRPr sz="1875" b="1">
                <a:solidFill>
                  <a:srgbClr val="16283D"/>
                </a:solidFill>
                <a:latin typeface="Aptos"/>
                <a:ea typeface="Aptos"/>
                <a:cs typeface="Aptos"/>
              </a:defRPr>
            </a:pPr>
            <a:r>
              <a:rPr sz="1875" b="1">
                <a:solidFill>
                  <a:srgbClr val="16283D"/>
                </a:solidFill>
                <a:latin typeface="Aptos"/>
                <a:ea typeface="Aptos"/>
                <a:cs typeface="Aptos"/>
              </a:rPr>
              <a:t>Shared RuntimePolicy</a:t>
            </a:r>
          </a:p>
          <a:p xmlns:a="http://schemas.openxmlformats.org/drawingml/2006/main">
            <a:pPr>
              <a:defRPr sz="1875" b="1">
                <a:solidFill>
                  <a:srgbClr val="16283D"/>
                </a:solidFill>
                <a:latin typeface="Aptos"/>
                <a:ea typeface="Aptos"/>
                <a:cs typeface="Aptos"/>
              </a:defRPr>
            </a:pPr>
            <a:r>
              <a:rPr sz="1875" b="1">
                <a:solidFill>
                  <a:srgbClr val="16283D"/>
                </a:solidFill>
                <a:latin typeface="Aptos"/>
                <a:ea typeface="Aptos"/>
                <a:cs typeface="Aptos"/>
              </a:rPr>
              <a:t>Frequency or PAC, promote, demote</a:t>
            </a:r>
          </a:p>
        </p:txBody>
      </p:sp>
      <p:sp>
        <p:nvSpPr>
          <p:cNvPr id="14" name="">
            <a:extLst xmlns:a="http://schemas.openxmlformats.org/drawingml/2006/main">
              <a:ext uri="{FF2B5EF4-FFF2-40B4-BE49-F238E27FC236}">
                <a16:creationId xmlns:a16="http://schemas.microsoft.com/office/drawing/2014/main" id="{4BADDBD3-AC8D-4422-989B-76E335A37F44}"/>
              </a:ext>
            </a:extLst>
          </p:cNvPr>
          <p:cNvSpPr>
            <a:spLocks xmlns:a="http://schemas.openxmlformats.org/drawingml/2006/main" noGrp="1"/>
          </p:cNvSpPr>
          <p:nvPr/>
        </p:nvSpPr>
        <p:spPr>
          <a:xfrm xmlns:a="http://schemas.openxmlformats.org/drawingml/2006/main">
            <a:off x="609600" y="55149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283D"/>
                </a:solidFill>
                <a:latin typeface="Aptos"/>
                <a:ea typeface="Aptos"/>
                <a:cs typeface="Aptos"/>
              </a:defRPr>
            </a:defPPr>
          </a:lstStyle>
          <a:p xmlns:a="http://schemas.openxmlformats.org/drawingml/2006/main">
            <a:pPr>
              <a:defRPr sz="2025" b="0">
                <a:solidFill>
                  <a:srgbClr val="16283D"/>
                </a:solidFill>
                <a:latin typeface="Aptos"/>
                <a:ea typeface="Aptos"/>
                <a:cs typeface="Aptos"/>
              </a:defRPr>
            </a:pPr>
            <a:r>
              <a:rPr sz="2025" b="0">
                <a:solidFill>
                  <a:srgbClr val="16283D"/>
                </a:solidFill>
                <a:latin typeface="Aptos"/>
                <a:ea typeface="Aptos"/>
                <a:cs typeface="Aptos"/>
              </a:rPr>
              <a:t>Each move incurs an assumed copy cost. Outputs include runtime, window MLP, page residency and migration logs.</a:t>
            </a:r>
          </a:p>
        </p:txBody>
      </p:sp>
    </p:spTree>
    <p:extLst>
      <p:ext uri="{BB962C8B-B14F-4D97-AF65-F5344CB8AC3E}">
        <p14:creationId xmlns:p14="http://schemas.microsoft.com/office/powerpoint/2010/main" val="1295600499"/>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42F104B-3A52-490D-9ABA-E61D01356642}"/>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Commands to build and run the comparisons</a:t>
            </a:r>
          </a:p>
        </p:txBody>
      </p:sp>
      <p:sp>
        <p:nvSpPr>
          <p:cNvPr id="2" name="">
            <a:extLst xmlns:a="http://schemas.openxmlformats.org/drawingml/2006/main">
              <a:ext uri="{FF2B5EF4-FFF2-40B4-BE49-F238E27FC236}">
                <a16:creationId xmlns:a16="http://schemas.microsoft.com/office/drawing/2014/main" id="{A80BBC0E-2FCB-4B5D-9D48-5CA4AC6D52A9}"/>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04</a:t>
            </a:r>
          </a:p>
        </p:txBody>
      </p:sp>
      <p:sp>
        <p:nvSpPr>
          <p:cNvPr id="3" name="">
            <a:extLst xmlns:a="http://schemas.openxmlformats.org/drawingml/2006/main">
              <a:ext uri="{FF2B5EF4-FFF2-40B4-BE49-F238E27FC236}">
                <a16:creationId xmlns:a16="http://schemas.microsoft.com/office/drawing/2014/main" id="{589AAC49-33EF-468E-A650-E3BA0B62C36C}"/>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defRPr sz="1125" b="0">
                <a:solidFill>
                  <a:srgbClr val="526276"/>
                </a:solidFill>
                <a:latin typeface="Aptos"/>
                <a:ea typeface="Aptos"/>
                <a:cs typeface="Aptos"/>
              </a:defRPr>
            </a:pPr>
            <a:r>
              <a:rPr sz="1125" b="0">
                <a:solidFill>
                  <a:srgbClr val="526276"/>
                </a:solidFill>
                <a:latin typeface="Aptos"/>
                <a:ea typeface="Aptos"/>
                <a:cs typeface="Aptos"/>
              </a:rPr>
              <a:t>Source: SYNTHETIC_STREAMS.md</a:t>
            </a:r>
          </a:p>
        </p:txBody>
      </p:sp>
      <p:sp>
        <p:nvSpPr>
          <p:cNvPr id="4" name="">
            <a:extLst xmlns:a="http://schemas.openxmlformats.org/drawingml/2006/main">
              <a:ext uri="{FF2B5EF4-FFF2-40B4-BE49-F238E27FC236}">
                <a16:creationId xmlns:a16="http://schemas.microsoft.com/office/drawing/2014/main" id="{01EDA16D-1EA8-4AAA-8FD1-1C0CA1676F59}"/>
              </a:ext>
            </a:extLst>
          </p:cNvPr>
          <p:cNvSpPr>
            <a:spLocks xmlns:a="http://schemas.openxmlformats.org/drawingml/2006/main" noGrp="1"/>
          </p:cNvSpPr>
          <p:nvPr/>
        </p:nvSpPr>
        <p:spPr>
          <a:xfrm xmlns:a="http://schemas.openxmlformats.org/drawingml/2006/main">
            <a:off x="609600" y="14097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A75"/>
                </a:solidFill>
                <a:latin typeface="Aptos"/>
                <a:ea typeface="Aptos"/>
                <a:cs typeface="Aptos"/>
              </a:defRPr>
            </a:defPPr>
          </a:lstStyle>
          <a:p xmlns:a="http://schemas.openxmlformats.org/drawingml/2006/main">
            <a:pPr>
              <a:defRPr sz="2100" b="1">
                <a:solidFill>
                  <a:srgbClr val="006A75"/>
                </a:solidFill>
                <a:latin typeface="Aptos"/>
                <a:ea typeface="Aptos"/>
                <a:cs typeface="Aptos"/>
              </a:defRPr>
            </a:pPr>
            <a:r>
              <a:rPr sz="2100" b="1">
                <a:solidFill>
                  <a:srgbClr val="006A75"/>
                </a:solidFill>
                <a:latin typeface="Aptos"/>
                <a:ea typeface="Aptos"/>
                <a:cs typeface="Aptos"/>
              </a:rPr>
              <a:t>Build the synthetic engine</a:t>
            </a:r>
          </a:p>
        </p:txBody>
      </p:sp>
      <p:sp>
        <p:nvSpPr>
          <p:cNvPr id="5" name="">
            <a:extLst xmlns:a="http://schemas.openxmlformats.org/drawingml/2006/main">
              <a:ext uri="{FF2B5EF4-FFF2-40B4-BE49-F238E27FC236}">
                <a16:creationId xmlns:a16="http://schemas.microsoft.com/office/drawing/2014/main" id="{3F820D30-A7A2-43BC-9B9E-A44E5B2295F8}"/>
              </a:ext>
            </a:extLst>
          </p:cNvPr>
          <p:cNvSpPr>
            <a:spLocks xmlns:a="http://schemas.openxmlformats.org/drawingml/2006/main" noGrp="1"/>
          </p:cNvSpPr>
          <p:nvPr/>
        </p:nvSpPr>
        <p:spPr>
          <a:xfrm xmlns:a="http://schemas.openxmlformats.org/drawingml/2006/main">
            <a:off x="609600" y="18192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6283D"/>
                </a:solidFill>
                <a:latin typeface="Aptos"/>
                <a:ea typeface="Aptos"/>
                <a:cs typeface="Aptos"/>
              </a:defRPr>
            </a:defPPr>
          </a:lstStyle>
          <a:p xmlns:a="http://schemas.openxmlformats.org/drawingml/2006/main">
            <a:pPr>
              <a:defRPr sz="1800" b="0">
                <a:solidFill>
                  <a:srgbClr val="16283D"/>
                </a:solidFill>
                <a:latin typeface="Aptos"/>
                <a:ea typeface="Aptos"/>
                <a:cs typeface="Aptos"/>
              </a:defRPr>
            </a:pPr>
            <a:r>
              <a:rPr sz="1800" b="0">
                <a:solidFill>
                  <a:srgbClr val="16283D"/>
                </a:solidFill>
                <a:latin typeface="Aptos"/>
                <a:ea typeface="Aptos"/>
                <a:cs typeface="Aptos"/>
              </a:rPr>
              <a:t>cd criticality-profiler</a:t>
            </a:r>
          </a:p>
          <a:p xmlns:a="http://schemas.openxmlformats.org/drawingml/2006/main">
            <a:pPr>
              <a:defRPr sz="1800" b="0">
                <a:solidFill>
                  <a:srgbClr val="16283D"/>
                </a:solidFill>
                <a:latin typeface="Aptos"/>
                <a:ea typeface="Aptos"/>
                <a:cs typeface="Aptos"/>
              </a:defRPr>
            </a:pPr>
            <a:r>
              <a:rPr sz="1800" b="0">
                <a:solidFill>
                  <a:srgbClr val="16283D"/>
                </a:solidFill>
                <a:latin typeface="Aptos"/>
                <a:ea typeface="Aptos"/>
                <a:cs typeface="Aptos"/>
              </a:rPr>
              <a:t>g++ -std=c++17 -O2 synthetic_stream_profiler.cpp -o pac_demo.exe</a:t>
            </a:r>
          </a:p>
        </p:txBody>
      </p:sp>
      <p:sp>
        <p:nvSpPr>
          <p:cNvPr id="6" name="">
            <a:extLst xmlns:a="http://schemas.openxmlformats.org/drawingml/2006/main">
              <a:ext uri="{FF2B5EF4-FFF2-40B4-BE49-F238E27FC236}">
                <a16:creationId xmlns:a16="http://schemas.microsoft.com/office/drawing/2014/main" id="{43EE5745-2DA2-4DA0-9290-E80672F2A915}"/>
              </a:ext>
            </a:extLst>
          </p:cNvPr>
          <p:cNvSpPr>
            <a:spLocks xmlns:a="http://schemas.openxmlformats.org/drawingml/2006/main" noGrp="1"/>
          </p:cNvSpPr>
          <p:nvPr/>
        </p:nvSpPr>
        <p:spPr>
          <a:xfrm xmlns:a="http://schemas.openxmlformats.org/drawingml/2006/main">
            <a:off x="609600" y="27813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A75"/>
                </a:solidFill>
                <a:latin typeface="Aptos"/>
                <a:ea typeface="Aptos"/>
                <a:cs typeface="Aptos"/>
              </a:defRPr>
            </a:defPPr>
          </a:lstStyle>
          <a:p xmlns:a="http://schemas.openxmlformats.org/drawingml/2006/main">
            <a:pPr>
              <a:defRPr sz="2100" b="1">
                <a:solidFill>
                  <a:srgbClr val="006A75"/>
                </a:solidFill>
                <a:latin typeface="Aptos"/>
                <a:ea typeface="Aptos"/>
                <a:cs typeface="Aptos"/>
              </a:defRPr>
            </a:pPr>
            <a:r>
              <a:rPr sz="2100" b="1">
                <a:solidFill>
                  <a:srgbClr val="006A75"/>
                </a:solidFill>
                <a:latin typeface="Aptos"/>
                <a:ea typeface="Aptos"/>
                <a:cs typeface="Aptos"/>
              </a:rPr>
              <a:t>Run the initial MLP 8 and MLP 16 cases</a:t>
            </a:r>
          </a:p>
        </p:txBody>
      </p:sp>
      <p:sp>
        <p:nvSpPr>
          <p:cNvPr id="7" name="">
            <a:extLst xmlns:a="http://schemas.openxmlformats.org/drawingml/2006/main">
              <a:ext uri="{FF2B5EF4-FFF2-40B4-BE49-F238E27FC236}">
                <a16:creationId xmlns:a16="http://schemas.microsoft.com/office/drawing/2014/main" id="{BFA64AC3-B716-4F4B-BFAB-6092293E6E91}"/>
              </a:ext>
            </a:extLst>
          </p:cNvPr>
          <p:cNvSpPr>
            <a:spLocks xmlns:a="http://schemas.openxmlformats.org/drawingml/2006/main" noGrp="1"/>
          </p:cNvSpPr>
          <p:nvPr/>
        </p:nvSpPr>
        <p:spPr>
          <a:xfrm xmlns:a="http://schemas.openxmlformats.org/drawingml/2006/main">
            <a:off x="609600" y="3190875"/>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6283D"/>
                </a:solidFill>
                <a:latin typeface="Aptos"/>
                <a:ea typeface="Aptos"/>
                <a:cs typeface="Aptos"/>
              </a:defRPr>
            </a:defPPr>
          </a:lstStyle>
          <a:p xmlns:a="http://schemas.openxmlformats.org/drawingml/2006/main">
            <a:pPr>
              <a:defRPr sz="1800" b="0">
                <a:solidFill>
                  <a:srgbClr val="16283D"/>
                </a:solidFill>
                <a:latin typeface="Aptos"/>
                <a:ea typeface="Aptos"/>
                <a:cs typeface="Aptos"/>
              </a:defRPr>
            </a:pPr>
            <a:r>
              <a:rPr sz="1800" b="0">
                <a:solidFill>
                  <a:srgbClr val="16283D"/>
                </a:solidFill>
                <a:latin typeface="Aptos"/>
                <a:ea typeface="Aptos"/>
                <a:cs typeface="Aptos"/>
              </a:rPr>
              <a:t>./pac_demo.exe --scenario hot_first_mlp8 --out results/demo_mlp8</a:t>
            </a:r>
          </a:p>
          <a:p xmlns:a="http://schemas.openxmlformats.org/drawingml/2006/main">
            <a:pPr>
              <a:defRPr sz="1800" b="0">
                <a:solidFill>
                  <a:srgbClr val="16283D"/>
                </a:solidFill>
                <a:latin typeface="Aptos"/>
                <a:ea typeface="Aptos"/>
                <a:cs typeface="Aptos"/>
              </a:defRPr>
            </a:pPr>
            <a:r>
              <a:rPr sz="1800" b="0">
                <a:solidFill>
                  <a:srgbClr val="16283D"/>
                </a:solidFill>
                <a:latin typeface="Aptos"/>
                <a:ea typeface="Aptos"/>
                <a:cs typeface="Aptos"/>
              </a:rPr>
              <a:t>./pac_demo.exe --scenario hot_first_mlp16 --out results/demo_mlp16</a:t>
            </a:r>
          </a:p>
        </p:txBody>
      </p:sp>
      <p:sp>
        <p:nvSpPr>
          <p:cNvPr id="8" name="">
            <a:extLst xmlns:a="http://schemas.openxmlformats.org/drawingml/2006/main">
              <a:ext uri="{FF2B5EF4-FFF2-40B4-BE49-F238E27FC236}">
                <a16:creationId xmlns:a16="http://schemas.microsoft.com/office/drawing/2014/main" id="{4E9F0EAE-B5F0-416E-86D4-0741AFD26B21}"/>
              </a:ext>
            </a:extLst>
          </p:cNvPr>
          <p:cNvSpPr>
            <a:spLocks xmlns:a="http://schemas.openxmlformats.org/drawingml/2006/main" noGrp="1"/>
          </p:cNvSpPr>
          <p:nvPr/>
        </p:nvSpPr>
        <p:spPr>
          <a:xfrm xmlns:a="http://schemas.openxmlformats.org/drawingml/2006/main">
            <a:off x="609600" y="41624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A75"/>
                </a:solidFill>
                <a:latin typeface="Aptos"/>
                <a:ea typeface="Aptos"/>
                <a:cs typeface="Aptos"/>
              </a:defRPr>
            </a:defPPr>
          </a:lstStyle>
          <a:p xmlns:a="http://schemas.openxmlformats.org/drawingml/2006/main">
            <a:pPr>
              <a:defRPr sz="2100" b="1">
                <a:solidFill>
                  <a:srgbClr val="006A75"/>
                </a:solidFill>
                <a:latin typeface="Aptos"/>
                <a:ea typeface="Aptos"/>
                <a:cs typeface="Aptos"/>
              </a:defRPr>
            </a:pPr>
            <a:r>
              <a:rPr sz="2100" b="1">
                <a:solidFill>
                  <a:srgbClr val="006A75"/>
                </a:solidFill>
                <a:latin typeface="Aptos"/>
                <a:ea typeface="Aptos"/>
                <a:cs typeface="Aptos"/>
              </a:rPr>
              <a:t>Run decay 0.7, then the complete fixed-seed sweep</a:t>
            </a:r>
          </a:p>
        </p:txBody>
      </p:sp>
      <p:sp>
        <p:nvSpPr>
          <p:cNvPr id="9" name="">
            <a:extLst xmlns:a="http://schemas.openxmlformats.org/drawingml/2006/main">
              <a:ext uri="{FF2B5EF4-FFF2-40B4-BE49-F238E27FC236}">
                <a16:creationId xmlns:a16="http://schemas.microsoft.com/office/drawing/2014/main" id="{711D8F8D-92C8-4B4D-ACCA-62CE9C8C7C56}"/>
              </a:ext>
            </a:extLst>
          </p:cNvPr>
          <p:cNvSpPr>
            <a:spLocks xmlns:a="http://schemas.openxmlformats.org/drawingml/2006/main" noGrp="1"/>
          </p:cNvSpPr>
          <p:nvPr/>
        </p:nvSpPr>
        <p:spPr>
          <a:xfrm xmlns:a="http://schemas.openxmlformats.org/drawingml/2006/main">
            <a:off x="609600" y="45720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6283D"/>
                </a:solidFill>
                <a:latin typeface="Aptos"/>
                <a:ea typeface="Aptos"/>
                <a:cs typeface="Aptos"/>
              </a:defRPr>
            </a:defPPr>
          </a:lstStyle>
          <a:p xmlns:a="http://schemas.openxmlformats.org/drawingml/2006/main">
            <a:pPr>
              <a:defRPr sz="1800" b="0">
                <a:solidFill>
                  <a:srgbClr val="16283D"/>
                </a:solidFill>
                <a:latin typeface="Aptos"/>
                <a:ea typeface="Aptos"/>
                <a:cs typeface="Aptos"/>
              </a:defRPr>
            </a:pPr>
            <a:r>
              <a:rPr sz="1800" b="0">
                <a:solidFill>
                  <a:srgbClr val="16283D"/>
                </a:solidFill>
                <a:latin typeface="Aptos"/>
                <a:ea typeface="Aptos"/>
                <a:cs typeface="Aptos"/>
              </a:rPr>
              <a:t>./pac_demo.exe --scenario hot_first_mlp16 --alpha 0.7 --out results/demo_decay</a:t>
            </a:r>
          </a:p>
          <a:p xmlns:a="http://schemas.openxmlformats.org/drawingml/2006/main">
            <a:pPr>
              <a:defRPr sz="1800" b="0">
                <a:solidFill>
                  <a:srgbClr val="16283D"/>
                </a:solidFill>
                <a:latin typeface="Aptos"/>
                <a:ea typeface="Aptos"/>
                <a:cs typeface="Aptos"/>
              </a:defRPr>
            </a:pPr>
            <a:r>
              <a:rPr sz="1800" b="0">
                <a:solidFill>
                  <a:srgbClr val="16283D"/>
                </a:solidFill>
                <a:latin typeface="Aptos"/>
                <a:ea typeface="Aptos"/>
                <a:cs typeface="Aptos"/>
              </a:rPr>
              <a:t>python run_random_decay_sweep.py</a:t>
            </a:r>
          </a:p>
        </p:txBody>
      </p:sp>
      <p:sp>
        <p:nvSpPr>
          <p:cNvPr id="10" name="">
            <a:extLst xmlns:a="http://schemas.openxmlformats.org/drawingml/2006/main">
              <a:ext uri="{FF2B5EF4-FFF2-40B4-BE49-F238E27FC236}">
                <a16:creationId xmlns:a16="http://schemas.microsoft.com/office/drawing/2014/main" id="{48C5F37B-92BD-4CBE-8239-A5634B1940F9}"/>
              </a:ext>
            </a:extLst>
          </p:cNvPr>
          <p:cNvSpPr>
            <a:spLocks xmlns:a="http://schemas.openxmlformats.org/drawingml/2006/main" noGrp="1"/>
          </p:cNvSpPr>
          <p:nvPr/>
        </p:nvSpPr>
        <p:spPr>
          <a:xfrm xmlns:a="http://schemas.openxmlformats.org/drawingml/2006/main">
            <a:off x="609600" y="57435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83D"/>
                </a:solidFill>
                <a:latin typeface="Aptos"/>
                <a:ea typeface="Aptos"/>
                <a:cs typeface="Aptos"/>
              </a:defRPr>
            </a:defPPr>
          </a:lstStyle>
          <a:p xmlns:a="http://schemas.openxmlformats.org/drawingml/2006/main">
            <a:pPr>
              <a:defRPr sz="1875" b="0">
                <a:solidFill>
                  <a:srgbClr val="16283D"/>
                </a:solidFill>
                <a:latin typeface="Aptos"/>
                <a:ea typeface="Aptos"/>
                <a:cs typeface="Aptos"/>
              </a:defRPr>
            </a:pPr>
            <a:r>
              <a:rPr sz="1875" b="0">
                <a:solidFill>
                  <a:srgbClr val="16283D"/>
                </a:solidFill>
                <a:latin typeface="Aptos"/>
                <a:ea typeface="Aptos"/>
                <a:cs typeface="Aptos"/>
              </a:rPr>
              <a:t>Inspect REPORT.md, summary.csv and the per-window CSVs in the output directory.</a:t>
            </a:r>
          </a:p>
        </p:txBody>
      </p:sp>
    </p:spTree>
    <p:extLst>
      <p:ext uri="{BB962C8B-B14F-4D97-AF65-F5344CB8AC3E}">
        <p14:creationId xmlns:p14="http://schemas.microsoft.com/office/powerpoint/2010/main" val="1337155820"/>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D6BCC5A-1EDD-4773-BC0D-7F8DF0C406D2}"/>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PAC versus frequency on the available traces</a:t>
            </a:r>
          </a:p>
        </p:txBody>
      </p:sp>
      <p:sp>
        <p:nvSpPr>
          <p:cNvPr id="2" name="">
            <a:extLst xmlns:a="http://schemas.openxmlformats.org/drawingml/2006/main">
              <a:ext uri="{FF2B5EF4-FFF2-40B4-BE49-F238E27FC236}">
                <a16:creationId xmlns:a16="http://schemas.microsoft.com/office/drawing/2014/main" id="{4607B430-3877-48FA-8169-C56FB6FE4BFE}"/>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05</a:t>
            </a:r>
          </a:p>
        </p:txBody>
      </p:sp>
      <p:sp>
        <p:nvSpPr>
          <p:cNvPr id="3" name="">
            <a:extLst xmlns:a="http://schemas.openxmlformats.org/drawingml/2006/main">
              <a:ext uri="{FF2B5EF4-FFF2-40B4-BE49-F238E27FC236}">
                <a16:creationId xmlns:a16="http://schemas.microsoft.com/office/drawing/2014/main" id="{EE727F08-4A83-4D0B-AAB7-DCF1C49003BA}"/>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defRPr sz="1125" b="0">
                <a:solidFill>
                  <a:srgbClr val="526276"/>
                </a:solidFill>
                <a:latin typeface="Aptos"/>
                <a:ea typeface="Aptos"/>
                <a:cs typeface="Aptos"/>
              </a:defRPr>
            </a:pPr>
            <a:r>
              <a:rPr sz="1125" b="0">
                <a:solidFill>
                  <a:srgbClr val="526276"/>
                </a:solidFill>
                <a:latin typeface="Aptos"/>
                <a:ea typeface="Aptos"/>
                <a:cs typeface="Aptos"/>
              </a:rPr>
              <a:t>Source: results/pac/REPORT.md</a:t>
            </a:r>
          </a:p>
        </p:txBody>
      </p:sp>
      <p:graphicFrame>
        <p:nvGraphicFramePr>
          <p:cNvPr id="4" name="">
            <a:extLst xmlns:a="http://schemas.openxmlformats.org/drawingml/2006/main">
              <a:ext uri="{FF2B5EF4-FFF2-40B4-BE49-F238E27FC236}">
                <a16:creationId xmlns:a16="http://schemas.microsoft.com/office/drawing/2014/main" id="{B409002F-F8C0-48F0-A9FB-86AA651A79FC}"/>
              </a:ext>
            </a:extLst>
          </p:cNvPr>
          <p:cNvGraphicFramePr/>
          <p:nvPr/>
        </p:nvGraphicFramePr>
        <p:xfrm>
          <a:off xmlns:a="http://schemas.openxmlformats.org/drawingml/2006/main" x="609600" y="1562100"/>
          <a:ext xmlns:a="http://schemas.openxmlformats.org/drawingml/2006/main" cx="10972800" cy="3181350"/>
        </p:xfrm>
        <a:graphic xmlns:a="http://schemas.openxmlformats.org/drawingml/2006/main">
          <a:graphicData uri="http://schemas.openxmlformats.org/drawingml/2006/table">
            <a:tbl>
              <a:tblPr/>
              <a:tblGrid>
                <a:gridCol w="3619500"/>
                <a:gridCol w="4286250"/>
                <a:gridCol w="3067050"/>
              </a:tblGrid>
              <a:tr h="636270">
                <a:tc>
                  <a:txBody>
                    <a:bodyPr/>
                    <a:lstStyle/>
                    <a:p>
                      <a:r>
                        <a:rPr sz="1725" b="1">
                          <a:solidFill>
                            <a:srgbClr val="FFFFFF"/>
                          </a:solidFill>
                          <a:latin typeface="Aptos"/>
                          <a:ea typeface="Aptos"/>
                          <a:cs typeface="Aptos"/>
                        </a:rPr>
                        <a:t>Workload / experiment</a:t>
                      </a:r>
                    </a:p>
                  </a:txBody>
                  <a:tcPr marL="114300" marR="114300" marT="47625" marB="47625">
                    <a:lnL w="9525">
                      <a:solidFill>
                        <a:srgbClr val="D4DDE4"/>
                      </a:solidFill>
                      <a:prstDash val="solid"/>
                    </a:lnL>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c>
                  <a:txBody>
                    <a:bodyPr/>
                    <a:lstStyle/>
                    <a:p>
                      <a:r>
                        <a:rPr sz="1725" b="1">
                          <a:solidFill>
                            <a:srgbClr val="FFFFFF"/>
                          </a:solidFill>
                          <a:latin typeface="Aptos"/>
                          <a:ea typeface="Aptos"/>
                          <a:cs typeface="Aptos"/>
                        </a:rPr>
                        <a:t>Displayed comparison</a:t>
                      </a:r>
                    </a:p>
                  </a:txBody>
                  <a:tcPr marL="114300" marR="114300" marT="47625" marB="47625">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c>
                  <a:txBody>
                    <a:bodyPr/>
                    <a:lstStyle/>
                    <a:p>
                      <a:r>
                        <a:rPr sz="1725" b="1">
                          <a:solidFill>
                            <a:srgbClr val="FFFFFF"/>
                          </a:solidFill>
                          <a:latin typeface="Aptos"/>
                          <a:ea typeface="Aptos"/>
                          <a:cs typeface="Aptos"/>
                        </a:rPr>
                        <a:t>PAC runtime reduction</a:t>
                      </a:r>
                    </a:p>
                  </a:txBody>
                  <a:tcPr marL="114300" marR="114300" marT="47625" marB="47625">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r>
              <a:tr h="636270">
                <a:tc>
                  <a:txBody>
                    <a:bodyPr/>
                    <a:lstStyle/>
                    <a:p>
                      <a:r>
                        <a:rPr sz="1725">
                          <a:solidFill>
                            <a:srgbClr val="16283D"/>
                          </a:solidFill>
                          <a:latin typeface="Aptos"/>
                          <a:ea typeface="Aptos"/>
                          <a:cs typeface="Aptos"/>
                        </a:rPr>
                        <a:t>SPEC short prefixes</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20 ms static PAC</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0.000%</a:t>
                      </a:r>
                    </a:p>
                  </a:txBody>
                  <a:tcPr marL="114300" marR="114300" marT="47625" marB="47625">
                    <a:lnR w="9525">
                      <a:solidFill>
                        <a:srgbClr val="D4DDE4"/>
                      </a:solidFill>
                      <a:prstDash val="solid"/>
                    </a:lnR>
                    <a:lnB w="9525">
                      <a:solidFill>
                        <a:srgbClr val="D4DDE4"/>
                      </a:solidFill>
                      <a:prstDash val="solid"/>
                    </a:lnB>
                  </a:tcPr>
                </a:tc>
              </a:tr>
              <a:tr h="636270">
                <a:tc>
                  <a:txBody>
                    <a:bodyPr/>
                    <a:lstStyle/>
                    <a:p>
                      <a:r>
                        <a:rPr sz="1725">
                          <a:solidFill>
                            <a:srgbClr val="16283D"/>
                          </a:solidFill>
                          <a:latin typeface="Aptos"/>
                          <a:ea typeface="Aptos"/>
                          <a:cs typeface="Aptos"/>
                        </a:rPr>
                        <a:t>mcf longer prefix</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20 ms, 256 DRAM pages</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0.111%</a:t>
                      </a:r>
                    </a:p>
                  </a:txBody>
                  <a:tcPr marL="114300" marR="114300" marT="47625" marB="47625">
                    <a:lnR w="9525">
                      <a:solidFill>
                        <a:srgbClr val="D4DDE4"/>
                      </a:solidFill>
                      <a:prstDash val="solid"/>
                    </a:lnR>
                    <a:lnB w="9525">
                      <a:solidFill>
                        <a:srgbClr val="D4DDE4"/>
                      </a:solidFill>
                      <a:prstDash val="solid"/>
                    </a:lnB>
                  </a:tcPr>
                </a:tc>
              </a:tr>
              <a:tr h="636270">
                <a:tc>
                  <a:txBody>
                    <a:bodyPr/>
                    <a:lstStyle/>
                    <a:p>
                      <a:r>
                        <a:rPr sz="1725">
                          <a:solidFill>
                            <a:srgbClr val="16283D"/>
                          </a:solidFill>
                          <a:latin typeface="Aptos"/>
                          <a:ea typeface="Aptos"/>
                          <a:cs typeface="Aptos"/>
                        </a:rPr>
                        <a:t>BC-kron full region</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Paper all-events, matched moves</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0.006%</a:t>
                      </a:r>
                    </a:p>
                  </a:txBody>
                  <a:tcPr marL="114300" marR="114300" marT="47625" marB="47625">
                    <a:lnR w="9525">
                      <a:solidFill>
                        <a:srgbClr val="D4DDE4"/>
                      </a:solidFill>
                      <a:prstDash val="solid"/>
                    </a:lnR>
                    <a:lnB w="9525">
                      <a:solidFill>
                        <a:srgbClr val="D4DDE4"/>
                      </a:solidFill>
                      <a:prstDash val="solid"/>
                    </a:lnB>
                  </a:tcPr>
                </a:tc>
              </a:tr>
              <a:tr h="636270">
                <a:tc>
                  <a:txBody>
                    <a:bodyPr/>
                    <a:lstStyle/>
                    <a:p>
                      <a:r>
                        <a:rPr sz="1725">
                          <a:solidFill>
                            <a:srgbClr val="16283D"/>
                          </a:solidFill>
                          <a:latin typeface="Aptos"/>
                          <a:ea typeface="Aptos"/>
                          <a:cs typeface="Aptos"/>
                        </a:rPr>
                        <a:t>BC-twitter variable overlap</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5 ms, decay on both scores</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0.170%</a:t>
                      </a:r>
                    </a:p>
                  </a:txBody>
                  <a:tcPr marL="114300" marR="114300" marT="47625" marB="47625">
                    <a:lnR w="9525">
                      <a:solidFill>
                        <a:srgbClr val="D4DDE4"/>
                      </a:solidFill>
                      <a:prstDash val="solid"/>
                    </a:lnR>
                    <a:lnB w="9525">
                      <a:solidFill>
                        <a:srgbClr val="D4DDE4"/>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F08396F4-4B5B-4691-8033-A0322B82CE0F}"/>
              </a:ext>
            </a:extLst>
          </p:cNvPr>
          <p:cNvSpPr>
            <a:spLocks xmlns:a="http://schemas.openxmlformats.org/drawingml/2006/main" noGrp="1"/>
          </p:cNvSpPr>
          <p:nvPr/>
        </p:nvSpPr>
        <p:spPr>
          <a:xfrm xmlns:a="http://schemas.openxmlformats.org/drawingml/2006/main">
            <a:off x="609600" y="51339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6283D"/>
                </a:solidFill>
                <a:latin typeface="Aptos"/>
                <a:ea typeface="Aptos"/>
                <a:cs typeface="Aptos"/>
              </a:defRPr>
            </a:defPPr>
          </a:lstStyle>
          <a:p xmlns:a="http://schemas.openxmlformats.org/drawingml/2006/main">
            <a:pPr>
              <a:defRPr sz="2250" b="1">
                <a:solidFill>
                  <a:srgbClr val="16283D"/>
                </a:solidFill>
                <a:latin typeface="Aptos"/>
                <a:ea typeface="Aptos"/>
                <a:cs typeface="Aptos"/>
              </a:defRPr>
            </a:pPr>
            <a:r>
              <a:rPr sz="2250" b="1">
                <a:solidFill>
                  <a:srgbClr val="16283D"/>
                </a:solidFill>
                <a:latin typeface="Aptos"/>
                <a:ea typeface="Aptos"/>
                <a:cs typeface="Aptos"/>
              </a:rPr>
              <a:t>PAC does not really shine in these regions. Stable MLP or limited separation between page groups gives it less useful information.</a:t>
            </a:r>
          </a:p>
        </p:txBody>
      </p:sp>
      <p:sp>
        <p:nvSpPr>
          <p:cNvPr id="6" name="">
            <a:extLst xmlns:a="http://schemas.openxmlformats.org/drawingml/2006/main">
              <a:ext uri="{FF2B5EF4-FFF2-40B4-BE49-F238E27FC236}">
                <a16:creationId xmlns:a16="http://schemas.microsoft.com/office/drawing/2014/main" id="{488DD523-9992-4B80-9C6D-C056A4952FB4}"/>
              </a:ext>
            </a:extLst>
          </p:cNvPr>
          <p:cNvSpPr>
            <a:spLocks xmlns:a="http://schemas.openxmlformats.org/drawingml/2006/main" noGrp="1"/>
          </p:cNvSpPr>
          <p:nvPr/>
        </p:nvSpPr>
        <p:spPr>
          <a:xfrm xmlns:a="http://schemas.openxmlformats.org/drawingml/2006/main">
            <a:off x="609600" y="596265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6283D"/>
                </a:solidFill>
                <a:latin typeface="Aptos"/>
                <a:ea typeface="Aptos"/>
                <a:cs typeface="Aptos"/>
              </a:defRPr>
            </a:defPPr>
          </a:lstStyle>
          <a:p xmlns:a="http://schemas.openxmlformats.org/drawingml/2006/main">
            <a:pPr>
              <a:defRPr sz="1725" b="0">
                <a:solidFill>
                  <a:srgbClr val="16283D"/>
                </a:solidFill>
                <a:latin typeface="Aptos"/>
                <a:ea typeface="Aptos"/>
                <a:cs typeface="Aptos"/>
              </a:defRPr>
            </a:pPr>
            <a:r>
              <a:rPr sz="1725" b="0">
                <a:solidFill>
                  <a:srgbClr val="16283D"/>
                </a:solidFill>
                <a:latin typeface="Aptos"/>
                <a:ea typeface="Aptos"/>
                <a:cs typeface="Aptos"/>
              </a:rPr>
              <a:t>Each row retains its own model and settings. The next experiments deliberately vary the overlap between phases.</a:t>
            </a:r>
          </a:p>
        </p:txBody>
      </p:sp>
    </p:spTree>
    <p:extLst>
      <p:ext uri="{BB962C8B-B14F-4D97-AF65-F5344CB8AC3E}">
        <p14:creationId xmlns:p14="http://schemas.microsoft.com/office/powerpoint/2010/main" val="1323242136"/>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98B7AAA-2522-4F70-96E4-5FBC04EB4C32}"/>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The MLP 8 and MLP 16 workload design</a:t>
            </a:r>
          </a:p>
        </p:txBody>
      </p:sp>
      <p:sp>
        <p:nvSpPr>
          <p:cNvPr id="2" name="">
            <a:extLst xmlns:a="http://schemas.openxmlformats.org/drawingml/2006/main">
              <a:ext uri="{FF2B5EF4-FFF2-40B4-BE49-F238E27FC236}">
                <a16:creationId xmlns:a16="http://schemas.microsoft.com/office/drawing/2014/main" id="{ABAD6C1B-C2D0-4266-94BB-37068A1DF152}"/>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06</a:t>
            </a:r>
          </a:p>
        </p:txBody>
      </p:sp>
      <p:sp>
        <p:nvSpPr>
          <p:cNvPr id="3" name="">
            <a:extLst xmlns:a="http://schemas.openxmlformats.org/drawingml/2006/main">
              <a:ext uri="{FF2B5EF4-FFF2-40B4-BE49-F238E27FC236}">
                <a16:creationId xmlns:a16="http://schemas.microsoft.com/office/drawing/2014/main" id="{D4D6AAF6-C220-4C51-9569-E146A9FA14A2}"/>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defRPr sz="1125" b="0">
                <a:solidFill>
                  <a:srgbClr val="526276"/>
                </a:solidFill>
                <a:latin typeface="Aptos"/>
                <a:ea typeface="Aptos"/>
                <a:cs typeface="Aptos"/>
              </a:defRPr>
            </a:pPr>
            <a:r>
              <a:rPr sz="1125" b="0">
                <a:solidFill>
                  <a:srgbClr val="526276"/>
                </a:solidFill>
                <a:latin typeface="Aptos"/>
                <a:ea typeface="Aptos"/>
                <a:cs typeface="Aptos"/>
              </a:rPr>
              <a:t>Source: SYNTHETIC_STREAMS.md</a:t>
            </a:r>
          </a:p>
        </p:txBody>
      </p:sp>
      <p:sp>
        <p:nvSpPr>
          <p:cNvPr id="4" name="">
            <a:extLst xmlns:a="http://schemas.openxmlformats.org/drawingml/2006/main">
              <a:ext uri="{FF2B5EF4-FFF2-40B4-BE49-F238E27FC236}">
                <a16:creationId xmlns:a16="http://schemas.microsoft.com/office/drawing/2014/main" id="{851C523A-928B-4E0E-B5EE-7968004A5F89}"/>
              </a:ext>
            </a:extLst>
          </p:cNvPr>
          <p:cNvSpPr>
            <a:spLocks xmlns:a="http://schemas.openxmlformats.org/drawingml/2006/main" noGrp="1"/>
          </p:cNvSpPr>
          <p:nvPr/>
        </p:nvSpPr>
        <p:spPr>
          <a:xfrm xmlns:a="http://schemas.openxmlformats.org/drawingml/2006/main">
            <a:off x="628650" y="15049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5DB61006-1952-47C1-8D1B-602B8243F0CC}"/>
              </a:ext>
            </a:extLst>
          </p:cNvPr>
          <p:cNvSpPr>
            <a:spLocks xmlns:a="http://schemas.openxmlformats.org/drawingml/2006/main" noGrp="1"/>
          </p:cNvSpPr>
          <p:nvPr/>
        </p:nvSpPr>
        <p:spPr>
          <a:xfrm xmlns:a="http://schemas.openxmlformats.org/drawingml/2006/main">
            <a:off x="1200150" y="14859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We alternate two 4 MiB groups: a dependent pointer chain at MLP 1 and a hot group with four times as many misses, issued in independent batches of 8 or 16.</a:t>
            </a:r>
          </a:p>
        </p:txBody>
      </p:sp>
      <p:sp>
        <p:nvSpPr>
          <p:cNvPr id="6" name="">
            <a:extLst xmlns:a="http://schemas.openxmlformats.org/drawingml/2006/main">
              <a:ext uri="{FF2B5EF4-FFF2-40B4-BE49-F238E27FC236}">
                <a16:creationId xmlns:a16="http://schemas.microsoft.com/office/drawing/2014/main" id="{52B32AE5-0F70-4A6B-B733-7CCC5D0ECDF4}"/>
              </a:ext>
            </a:extLst>
          </p:cNvPr>
          <p:cNvSpPr>
            <a:spLocks xmlns:a="http://schemas.openxmlformats.org/drawingml/2006/main" noGrp="1"/>
          </p:cNvSpPr>
          <p:nvPr/>
        </p:nvSpPr>
        <p:spPr>
          <a:xfrm xmlns:a="http://schemas.openxmlformats.org/drawingml/2006/main">
            <a:off x="628650" y="26098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C2C25768-3768-49B3-AC44-95B1851CD32C}"/>
              </a:ext>
            </a:extLst>
          </p:cNvPr>
          <p:cNvSpPr>
            <a:spLocks xmlns:a="http://schemas.openxmlformats.org/drawingml/2006/main" noGrp="1"/>
          </p:cNvSpPr>
          <p:nvPr/>
        </p:nvSpPr>
        <p:spPr>
          <a:xfrm xmlns:a="http://schemas.openxmlformats.org/drawingml/2006/main">
            <a:off x="1200150" y="25908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DRAM holds 4 MiB, while the active data totals 8 MiB. Both policies begin with the same cold pages in DRAM, so active pages initially access CXL.</a:t>
            </a:r>
          </a:p>
        </p:txBody>
      </p:sp>
      <p:sp>
        <p:nvSpPr>
          <p:cNvPr id="8" name="">
            <a:extLst xmlns:a="http://schemas.openxmlformats.org/drawingml/2006/main">
              <a:ext uri="{FF2B5EF4-FFF2-40B4-BE49-F238E27FC236}">
                <a16:creationId xmlns:a16="http://schemas.microsoft.com/office/drawing/2014/main" id="{622F106A-CB9D-487E-BAEA-8510BFC4B2E7}"/>
              </a:ext>
            </a:extLst>
          </p:cNvPr>
          <p:cNvSpPr>
            <a:spLocks xmlns:a="http://schemas.openxmlformats.org/drawingml/2006/main" noGrp="1"/>
          </p:cNvSpPr>
          <p:nvPr/>
        </p:nvSpPr>
        <p:spPr>
          <a:xfrm xmlns:a="http://schemas.openxmlformats.org/drawingml/2006/main">
            <a:off x="628650" y="37147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03</a:t>
            </a:r>
          </a:p>
        </p:txBody>
      </p:sp>
      <p:sp>
        <p:nvSpPr>
          <p:cNvPr id="9" name="">
            <a:extLst xmlns:a="http://schemas.openxmlformats.org/drawingml/2006/main">
              <a:ext uri="{FF2B5EF4-FFF2-40B4-BE49-F238E27FC236}">
                <a16:creationId xmlns:a16="http://schemas.microsoft.com/office/drawing/2014/main" id="{D98C2E5B-2719-4B25-B2DB-D964167CC6D8}"/>
              </a:ext>
            </a:extLst>
          </p:cNvPr>
          <p:cNvSpPr>
            <a:spLocks xmlns:a="http://schemas.openxmlformats.org/drawingml/2006/main" noGrp="1"/>
          </p:cNvSpPr>
          <p:nvPr/>
        </p:nvSpPr>
        <p:spPr>
          <a:xfrm xmlns:a="http://schemas.openxmlformats.org/drawingml/2006/main">
            <a:off x="1200150" y="36957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Each case runs 12 rounds and 25,313,280 load misses. Service times are 90 ns for DRAM and 190 ns for CXL, with a 20 ms observation interval.</a:t>
            </a:r>
          </a:p>
        </p:txBody>
      </p:sp>
      <p:sp>
        <p:nvSpPr>
          <p:cNvPr id="10" name="">
            <a:extLst xmlns:a="http://schemas.openxmlformats.org/drawingml/2006/main">
              <a:ext uri="{FF2B5EF4-FFF2-40B4-BE49-F238E27FC236}">
                <a16:creationId xmlns:a16="http://schemas.microsoft.com/office/drawing/2014/main" id="{0C2ADA54-A636-4F3B-A282-558DE90CDEA4}"/>
              </a:ext>
            </a:extLst>
          </p:cNvPr>
          <p:cNvSpPr>
            <a:spLocks xmlns:a="http://schemas.openxmlformats.org/drawingml/2006/main" noGrp="1"/>
          </p:cNvSpPr>
          <p:nvPr/>
        </p:nvSpPr>
        <p:spPr>
          <a:xfrm xmlns:a="http://schemas.openxmlformats.org/drawingml/2006/main">
            <a:off x="628650" y="48196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04</a:t>
            </a:r>
          </a:p>
        </p:txBody>
      </p:sp>
      <p:sp>
        <p:nvSpPr>
          <p:cNvPr id="11" name="">
            <a:extLst xmlns:a="http://schemas.openxmlformats.org/drawingml/2006/main">
              <a:ext uri="{FF2B5EF4-FFF2-40B4-BE49-F238E27FC236}">
                <a16:creationId xmlns:a16="http://schemas.microsoft.com/office/drawing/2014/main" id="{A9AF5943-24FE-4264-AC64-59156ED5EBB5}"/>
              </a:ext>
            </a:extLst>
          </p:cNvPr>
          <p:cNvSpPr>
            <a:spLocks xmlns:a="http://schemas.openxmlformats.org/drawingml/2006/main" noGrp="1"/>
          </p:cNvSpPr>
          <p:nvPr/>
        </p:nvSpPr>
        <p:spPr>
          <a:xfrm xmlns:a="http://schemas.openxmlformats.org/drawingml/2006/main">
            <a:off x="1200150" y="48006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Both policies actually perform 1,024 promotions and 1,024 demotions and pay the same 2.886861 ms copy cost. Placement freezes after that budget is exhausted.</a:t>
            </a:r>
          </a:p>
        </p:txBody>
      </p:sp>
    </p:spTree>
    <p:extLst>
      <p:ext uri="{BB962C8B-B14F-4D97-AF65-F5344CB8AC3E}">
        <p14:creationId xmlns:p14="http://schemas.microsoft.com/office/powerpoint/2010/main" val="1511498166"/>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C79C574-4EB5-448D-B2D8-A67FD5758116}"/>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Initial results: MLP 8 and MLP 16</a:t>
            </a:r>
          </a:p>
        </p:txBody>
      </p:sp>
      <p:sp>
        <p:nvSpPr>
          <p:cNvPr id="2" name="">
            <a:extLst xmlns:a="http://schemas.openxmlformats.org/drawingml/2006/main">
              <a:ext uri="{FF2B5EF4-FFF2-40B4-BE49-F238E27FC236}">
                <a16:creationId xmlns:a16="http://schemas.microsoft.com/office/drawing/2014/main" id="{3B480967-D599-4011-8819-15A7FC3F7234}"/>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07</a:t>
            </a:r>
          </a:p>
        </p:txBody>
      </p:sp>
      <p:sp>
        <p:nvSpPr>
          <p:cNvPr id="3" name="">
            <a:extLst xmlns:a="http://schemas.openxmlformats.org/drawingml/2006/main">
              <a:ext uri="{FF2B5EF4-FFF2-40B4-BE49-F238E27FC236}">
                <a16:creationId xmlns:a16="http://schemas.microsoft.com/office/drawing/2014/main" id="{BC6E891F-5628-4C12-922B-CDDCAE1C4C49}"/>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defRPr sz="1125" b="0">
                <a:solidFill>
                  <a:srgbClr val="526276"/>
                </a:solidFill>
                <a:latin typeface="Aptos"/>
                <a:ea typeface="Aptos"/>
                <a:cs typeface="Aptos"/>
              </a:defRPr>
            </a:pPr>
            <a:r>
              <a:rPr sz="1125" b="0">
                <a:solidFill>
                  <a:srgbClr val="526276"/>
                </a:solidFill>
                <a:latin typeface="Aptos"/>
                <a:ea typeface="Aptos"/>
                <a:cs typeface="Aptos"/>
              </a:rPr>
              <a:t>Source: results/synthetic_streams/REPORT.md</a:t>
            </a:r>
          </a:p>
        </p:txBody>
      </p:sp>
      <p:graphicFrame>
        <p:nvGraphicFramePr>
          <p:cNvPr id="4" name="Chart">
            <a:extLst xmlns:a="http://schemas.openxmlformats.org/drawingml/2006/main">
              <a:ext uri="{FF2B5EF4-FFF2-40B4-BE49-F238E27FC236}">
                <a16:creationId xmlns:a16="http://schemas.microsoft.com/office/drawing/2014/main" id="{500D53AF-D6C5-4ACF-8968-67E71A4D20F0}"/>
              </a:ext>
            </a:extLst>
          </p:cNvPr>
          <p:cNvGraphicFramePr/>
          <p:nvPr/>
        </p:nvGraphicFramePr>
        <p:xfrm>
          <a:off xmlns:a="http://schemas.openxmlformats.org/drawingml/2006/main" x="609600" y="1619250"/>
          <a:ext xmlns:a="http://schemas.openxmlformats.org/drawingml/2006/main" cx="5334000" cy="3238500"/>
        </p:xfrm>
        <a:graphic xmlns:a="http://schemas.openxmlformats.org/drawingml/2006/main">
          <a:graphicData uri="http://schemas.openxmlformats.org/drawingml/2006/chart">
            <c:chart xmlns:r="http://schemas.openxmlformats.org/officeDocument/2006/relationships" xmlns:c="http://schemas.openxmlformats.org/drawingml/2006/chart" r:id="R21f6a80379404a29"/>
          </a:graphicData>
        </a:graphic>
      </p:graphicFrame>
      <p:sp>
        <p:nvSpPr>
          <p:cNvPr id="5" name="">
            <a:extLst xmlns:a="http://schemas.openxmlformats.org/drawingml/2006/main">
              <a:ext uri="{FF2B5EF4-FFF2-40B4-BE49-F238E27FC236}">
                <a16:creationId xmlns:a16="http://schemas.microsoft.com/office/drawing/2014/main" id="{8FE346E6-B6FF-41EF-A71A-62615F9259BE}"/>
              </a:ext>
            </a:extLst>
          </p:cNvPr>
          <p:cNvSpPr>
            <a:spLocks xmlns:a="http://schemas.openxmlformats.org/drawingml/2006/main" noGrp="1"/>
          </p:cNvSpPr>
          <p:nvPr/>
        </p:nvSpPr>
        <p:spPr>
          <a:xfrm xmlns:a="http://schemas.openxmlformats.org/drawingml/2006/main">
            <a:off x="609600" y="136207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276"/>
                </a:solidFill>
                <a:latin typeface="Aptos"/>
                <a:ea typeface="Aptos"/>
                <a:cs typeface="Aptos"/>
              </a:defRPr>
            </a:defPPr>
          </a:lstStyle>
          <a:p xmlns:a="http://schemas.openxmlformats.org/drawingml/2006/main">
            <a:pPr>
              <a:defRPr sz="1725" b="0">
                <a:solidFill>
                  <a:srgbClr val="526276"/>
                </a:solidFill>
                <a:latin typeface="Aptos"/>
                <a:ea typeface="Aptos"/>
                <a:cs typeface="Aptos"/>
              </a:defRPr>
            </a:pPr>
            <a:r>
              <a:rPr sz="1725" b="0">
                <a:solidFill>
                  <a:srgbClr val="526276"/>
                </a:solidFill>
                <a:latin typeface="Aptos"/>
                <a:ea typeface="Aptos"/>
                <a:cs typeface="Aptos"/>
              </a:rPr>
              <a:t>Modeled runtime reduction versus frequency (%)</a:t>
            </a:r>
          </a:p>
        </p:txBody>
      </p:sp>
      <p:sp>
        <p:nvSpPr>
          <p:cNvPr id="6" name="">
            <a:extLst xmlns:a="http://schemas.openxmlformats.org/drawingml/2006/main">
              <a:ext uri="{FF2B5EF4-FFF2-40B4-BE49-F238E27FC236}">
                <a16:creationId xmlns:a16="http://schemas.microsoft.com/office/drawing/2014/main" id="{2124CD6C-1E22-42A5-860C-4655288E57FF}"/>
              </a:ext>
            </a:extLst>
          </p:cNvPr>
          <p:cNvSpPr>
            <a:spLocks xmlns:a="http://schemas.openxmlformats.org/drawingml/2006/main" noGrp="1"/>
          </p:cNvSpPr>
          <p:nvPr/>
        </p:nvSpPr>
        <p:spPr>
          <a:xfrm xmlns:a="http://schemas.openxmlformats.org/drawingml/2006/main">
            <a:off x="6553200" y="1743075"/>
            <a:ext cx="48577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6283D"/>
                </a:solidFill>
                <a:latin typeface="Aptos"/>
                <a:ea typeface="Aptos"/>
                <a:cs typeface="Aptos"/>
              </a:defRPr>
            </a:defPPr>
          </a:lstStyle>
          <a:p xmlns:a="http://schemas.openxmlformats.org/drawingml/2006/main">
            <a:pPr>
              <a:defRPr sz="2175" b="0">
                <a:solidFill>
                  <a:srgbClr val="16283D"/>
                </a:solidFill>
                <a:latin typeface="Aptos"/>
                <a:ea typeface="Aptos"/>
                <a:cs typeface="Aptos"/>
              </a:defRPr>
            </a:pPr>
            <a:r>
              <a:rPr sz="2175" b="0">
                <a:solidFill>
                  <a:srgbClr val="16283D"/>
                </a:solidFill>
                <a:latin typeface="Aptos"/>
                <a:ea typeface="Aptos"/>
                <a:cs typeface="Aptos"/>
              </a:rPr>
              <a:t>MLP 8</a:t>
            </a:r>
          </a:p>
          <a:p xmlns:a="http://schemas.openxmlformats.org/drawingml/2006/main">
            <a:pPr>
              <a:defRPr sz="2175" b="0">
                <a:solidFill>
                  <a:srgbClr val="16283D"/>
                </a:solidFill>
                <a:latin typeface="Aptos"/>
                <a:ea typeface="Aptos"/>
                <a:cs typeface="Aptos"/>
              </a:defRPr>
            </a:pPr>
            <a:r>
              <a:rPr sz="2175" b="0">
                <a:solidFill>
                  <a:srgbClr val="16283D"/>
                </a:solidFill>
                <a:latin typeface="Aptos"/>
                <a:ea typeface="Aptos"/>
                <a:cs typeface="Aptos"/>
              </a:rPr>
              <a:t>1,217.408 ms frequency</a:t>
            </a:r>
          </a:p>
          <a:p xmlns:a="http://schemas.openxmlformats.org/drawingml/2006/main">
            <a:pPr>
              <a:defRPr sz="2175" b="0">
                <a:solidFill>
                  <a:srgbClr val="16283D"/>
                </a:solidFill>
                <a:latin typeface="Aptos"/>
                <a:ea typeface="Aptos"/>
                <a:cs typeface="Aptos"/>
              </a:defRPr>
            </a:pPr>
            <a:r>
              <a:rPr sz="2175" b="0">
                <a:solidFill>
                  <a:srgbClr val="16283D"/>
                </a:solidFill>
                <a:latin typeface="Aptos"/>
                <a:ea typeface="Aptos"/>
                <a:cs typeface="Aptos"/>
              </a:rPr>
              <a:t>1,157.765 ms PAC</a:t>
            </a:r>
          </a:p>
          <a:p xmlns:a="http://schemas.openxmlformats.org/drawingml/2006/main">
            <a:pPr>
              <a:defRPr sz="2175" b="0">
                <a:solidFill>
                  <a:srgbClr val="16283D"/>
                </a:solidFill>
                <a:latin typeface="Aptos"/>
                <a:ea typeface="Aptos"/>
                <a:cs typeface="Aptos"/>
              </a:defRPr>
            </a:pPr>
            <a:r>
              <a:rPr sz="2175" b="0">
                <a:solidFill>
                  <a:srgbClr val="16283D"/>
                </a:solidFill>
                <a:latin typeface="Aptos"/>
                <a:ea typeface="Aptos"/>
                <a:cs typeface="Aptos"/>
              </a:rPr>
              <a:t>256 serial pages in DRAM</a:t>
            </a:r>
          </a:p>
        </p:txBody>
      </p:sp>
      <p:sp>
        <p:nvSpPr>
          <p:cNvPr id="7" name="">
            <a:extLst xmlns:a="http://schemas.openxmlformats.org/drawingml/2006/main">
              <a:ext uri="{FF2B5EF4-FFF2-40B4-BE49-F238E27FC236}">
                <a16:creationId xmlns:a16="http://schemas.microsoft.com/office/drawing/2014/main" id="{4C17FD09-520C-42E3-B621-E4D190226B28}"/>
              </a:ext>
            </a:extLst>
          </p:cNvPr>
          <p:cNvSpPr>
            <a:spLocks xmlns:a="http://schemas.openxmlformats.org/drawingml/2006/main" noGrp="1"/>
          </p:cNvSpPr>
          <p:nvPr/>
        </p:nvSpPr>
        <p:spPr>
          <a:xfrm xmlns:a="http://schemas.openxmlformats.org/drawingml/2006/main">
            <a:off x="6553200" y="3467100"/>
            <a:ext cx="48577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6283D"/>
                </a:solidFill>
                <a:latin typeface="Aptos"/>
                <a:ea typeface="Aptos"/>
                <a:cs typeface="Aptos"/>
              </a:defRPr>
            </a:defPPr>
          </a:lstStyle>
          <a:p xmlns:a="http://schemas.openxmlformats.org/drawingml/2006/main">
            <a:pPr>
              <a:defRPr sz="2175" b="0">
                <a:solidFill>
                  <a:srgbClr val="16283D"/>
                </a:solidFill>
                <a:latin typeface="Aptos"/>
                <a:ea typeface="Aptos"/>
                <a:cs typeface="Aptos"/>
              </a:defRPr>
            </a:pPr>
            <a:r>
              <a:rPr sz="2175" b="0">
                <a:solidFill>
                  <a:srgbClr val="16283D"/>
                </a:solidFill>
                <a:latin typeface="Aptos"/>
                <a:ea typeface="Aptos"/>
                <a:cs typeface="Aptos"/>
              </a:rPr>
              <a:t>MLP 16</a:t>
            </a:r>
          </a:p>
          <a:p xmlns:a="http://schemas.openxmlformats.org/drawingml/2006/main">
            <a:pPr>
              <a:defRPr sz="2175" b="0">
                <a:solidFill>
                  <a:srgbClr val="16283D"/>
                </a:solidFill>
                <a:latin typeface="Aptos"/>
                <a:ea typeface="Aptos"/>
                <a:cs typeface="Aptos"/>
              </a:defRPr>
            </a:pPr>
            <a:r>
              <a:rPr sz="2175" b="0">
                <a:solidFill>
                  <a:srgbClr val="16283D"/>
                </a:solidFill>
                <a:latin typeface="Aptos"/>
                <a:ea typeface="Aptos"/>
                <a:cs typeface="Aptos"/>
              </a:rPr>
              <a:t>1,093.201 ms frequency</a:t>
            </a:r>
          </a:p>
          <a:p xmlns:a="http://schemas.openxmlformats.org/drawingml/2006/main">
            <a:pPr>
              <a:defRPr sz="2175" b="0">
                <a:solidFill>
                  <a:srgbClr val="16283D"/>
                </a:solidFill>
                <a:latin typeface="Aptos"/>
                <a:ea typeface="Aptos"/>
                <a:cs typeface="Aptos"/>
              </a:defRPr>
            </a:pPr>
            <a:r>
              <a:rPr sz="2175" b="0">
                <a:solidFill>
                  <a:srgbClr val="16283D"/>
                </a:solidFill>
                <a:latin typeface="Aptos"/>
                <a:ea typeface="Aptos"/>
                <a:cs typeface="Aptos"/>
              </a:rPr>
              <a:t>831.416 ms PAC</a:t>
            </a:r>
          </a:p>
          <a:p xmlns:a="http://schemas.openxmlformats.org/drawingml/2006/main">
            <a:pPr>
              <a:defRPr sz="2175" b="0">
                <a:solidFill>
                  <a:srgbClr val="16283D"/>
                </a:solidFill>
                <a:latin typeface="Aptos"/>
                <a:ea typeface="Aptos"/>
                <a:cs typeface="Aptos"/>
              </a:defRPr>
            </a:pPr>
            <a:r>
              <a:rPr sz="2175" b="0">
                <a:solidFill>
                  <a:srgbClr val="16283D"/>
                </a:solidFill>
                <a:latin typeface="Aptos"/>
                <a:ea typeface="Aptos"/>
                <a:cs typeface="Aptos"/>
              </a:rPr>
              <a:t>768 serial pages in DRAM</a:t>
            </a:r>
          </a:p>
        </p:txBody>
      </p:sp>
      <p:sp>
        <p:nvSpPr>
          <p:cNvPr id="8" name="">
            <a:extLst xmlns:a="http://schemas.openxmlformats.org/drawingml/2006/main">
              <a:ext uri="{FF2B5EF4-FFF2-40B4-BE49-F238E27FC236}">
                <a16:creationId xmlns:a16="http://schemas.microsoft.com/office/drawing/2014/main" id="{DEAF1415-23DE-47EF-9BE3-EA2688E63605}"/>
              </a:ext>
            </a:extLst>
          </p:cNvPr>
          <p:cNvSpPr>
            <a:spLocks xmlns:a="http://schemas.openxmlformats.org/drawingml/2006/main" noGrp="1"/>
          </p:cNvSpPr>
          <p:nvPr/>
        </p:nvSpPr>
        <p:spPr>
          <a:xfrm xmlns:a="http://schemas.openxmlformats.org/drawingml/2006/main">
            <a:off x="609600" y="52482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06A75"/>
                </a:solidFill>
                <a:latin typeface="Aptos"/>
                <a:ea typeface="Aptos"/>
                <a:cs typeface="Aptos"/>
              </a:defRPr>
            </a:defPPr>
          </a:lstStyle>
          <a:p xmlns:a="http://schemas.openxmlformats.org/drawingml/2006/main">
            <a:pPr>
              <a:defRPr sz="2325" b="1">
                <a:solidFill>
                  <a:srgbClr val="006A75"/>
                </a:solidFill>
                <a:latin typeface="Aptos"/>
                <a:ea typeface="Aptos"/>
                <a:cs typeface="Aptos"/>
              </a:defRPr>
            </a:pPr>
            <a:r>
              <a:rPr sz="2325" b="1">
                <a:solidFill>
                  <a:srgbClr val="006A75"/>
                </a:solidFill>
                <a:latin typeface="Aptos"/>
                <a:ea typeface="Aptos"/>
                <a:cs typeface="Aptos"/>
              </a:rPr>
              <a:t>PAC saves 23.95% at MLP 16 by keeping more exposed serial accesses in DRAM. Both policies pay the same copy cost.</a:t>
            </a:r>
          </a:p>
        </p:txBody>
      </p:sp>
      <p:sp>
        <p:nvSpPr>
          <p:cNvPr id="9" name="">
            <a:extLst xmlns:a="http://schemas.openxmlformats.org/drawingml/2006/main">
              <a:ext uri="{FF2B5EF4-FFF2-40B4-BE49-F238E27FC236}">
                <a16:creationId xmlns:a16="http://schemas.microsoft.com/office/drawing/2014/main" id="{D5E81ABD-F21E-4F1C-A9E8-33C0ADE9BAC9}"/>
              </a:ext>
            </a:extLst>
          </p:cNvPr>
          <p:cNvSpPr>
            <a:spLocks xmlns:a="http://schemas.openxmlformats.org/drawingml/2006/main" noGrp="1"/>
          </p:cNvSpPr>
          <p:nvPr/>
        </p:nvSpPr>
        <p:spPr>
          <a:xfrm xmlns:a="http://schemas.openxmlformats.org/drawingml/2006/main">
            <a:off x="609600" y="6038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6283D"/>
                </a:solidFill>
                <a:latin typeface="Aptos"/>
                <a:ea typeface="Aptos"/>
                <a:cs typeface="Aptos"/>
              </a:defRPr>
            </a:defPPr>
          </a:lstStyle>
          <a:p xmlns:a="http://schemas.openxmlformats.org/drawingml/2006/main">
            <a:pPr>
              <a:defRPr sz="1725" b="0">
                <a:solidFill>
                  <a:srgbClr val="16283D"/>
                </a:solidFill>
                <a:latin typeface="Aptos"/>
                <a:ea typeface="Aptos"/>
                <a:cs typeface="Aptos"/>
              </a:defRPr>
            </a:pPr>
            <a:r>
              <a:rPr sz="1725" b="0">
                <a:solidFill>
                  <a:srgbClr val="16283D"/>
                </a:solidFill>
                <a:latin typeface="Aptos"/>
                <a:ea typeface="Aptos"/>
                <a:cs typeface="Aptos"/>
              </a:rPr>
              <a:t>Alpha = 1. MLP 1 control: exact tie. Reversed MLP 16 phase order: 21.43% reduction.</a:t>
            </a:r>
          </a:p>
        </p:txBody>
      </p:sp>
    </p:spTree>
    <p:extLst>
      <p:ext uri="{BB962C8B-B14F-4D97-AF65-F5344CB8AC3E}">
        <p14:creationId xmlns:p14="http://schemas.microsoft.com/office/powerpoint/2010/main" val="711659900"/>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10F36AB-41CC-45D0-98BF-9C24AD86938E}"/>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PAC versus frequency with varying score decay</a:t>
            </a:r>
          </a:p>
        </p:txBody>
      </p:sp>
      <p:sp>
        <p:nvSpPr>
          <p:cNvPr id="2" name="">
            <a:extLst xmlns:a="http://schemas.openxmlformats.org/drawingml/2006/main">
              <a:ext uri="{FF2B5EF4-FFF2-40B4-BE49-F238E27FC236}">
                <a16:creationId xmlns:a16="http://schemas.microsoft.com/office/drawing/2014/main" id="{379A13FF-EE95-4C31-8CF5-123A916B0F9F}"/>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08</a:t>
            </a:r>
          </a:p>
        </p:txBody>
      </p:sp>
      <p:sp>
        <p:nvSpPr>
          <p:cNvPr id="3" name="">
            <a:extLst xmlns:a="http://schemas.openxmlformats.org/drawingml/2006/main">
              <a:ext uri="{FF2B5EF4-FFF2-40B4-BE49-F238E27FC236}">
                <a16:creationId xmlns:a16="http://schemas.microsoft.com/office/drawing/2014/main" id="{EC89C4E8-A0A5-47BA-819A-3EA9B9BFE1F7}"/>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defRPr sz="1125" b="0">
                <a:solidFill>
                  <a:srgbClr val="526276"/>
                </a:solidFill>
                <a:latin typeface="Aptos"/>
                <a:ea typeface="Aptos"/>
                <a:cs typeface="Aptos"/>
              </a:defRPr>
            </a:pPr>
            <a:r>
              <a:rPr sz="1125" b="0">
                <a:solidFill>
                  <a:srgbClr val="526276"/>
                </a:solidFill>
                <a:latin typeface="Aptos"/>
                <a:ea typeface="Aptos"/>
                <a:cs typeface="Aptos"/>
              </a:rPr>
              <a:t>Source: results/synthetic_streams/random_decay_20ms/REPORT.md</a:t>
            </a:r>
          </a:p>
        </p:txBody>
      </p:sp>
      <p:graphicFrame>
        <p:nvGraphicFramePr>
          <p:cNvPr id="4" name="">
            <a:extLst xmlns:a="http://schemas.openxmlformats.org/drawingml/2006/main">
              <a:ext uri="{FF2B5EF4-FFF2-40B4-BE49-F238E27FC236}">
                <a16:creationId xmlns:a16="http://schemas.microsoft.com/office/drawing/2014/main" id="{07323A97-580C-4B6C-9061-F2159F81A955}"/>
              </a:ext>
            </a:extLst>
          </p:cNvPr>
          <p:cNvGraphicFramePr/>
          <p:nvPr/>
        </p:nvGraphicFramePr>
        <p:xfrm>
          <a:off xmlns:a="http://schemas.openxmlformats.org/drawingml/2006/main" x="609600" y="1352550"/>
          <a:ext xmlns:a="http://schemas.openxmlformats.org/drawingml/2006/main" cx="10972800" cy="3905250"/>
        </p:xfrm>
        <a:graphic xmlns:a="http://schemas.openxmlformats.org/drawingml/2006/main">
          <a:graphicData uri="http://schemas.openxmlformats.org/drawingml/2006/table">
            <a:tbl>
              <a:tblPr/>
              <a:tblGrid>
                <a:gridCol w="5429250"/>
                <a:gridCol w="2771775"/>
                <a:gridCol w="2771775"/>
              </a:tblGrid>
              <a:tr h="433917">
                <a:tc>
                  <a:txBody>
                    <a:bodyPr/>
                    <a:lstStyle/>
                    <a:p>
                      <a:r>
                        <a:rPr sz="1725" b="1">
                          <a:solidFill>
                            <a:srgbClr val="FFFFFF"/>
                          </a:solidFill>
                          <a:latin typeface="Aptos"/>
                          <a:ea typeface="Aptos"/>
                          <a:cs typeface="Aptos"/>
                        </a:rPr>
                        <a:t>Alpha, 20 ms updates</a:t>
                      </a:r>
                    </a:p>
                  </a:txBody>
                  <a:tcPr marL="114300" marR="114300" marT="47625" marB="47625">
                    <a:lnL w="9525">
                      <a:solidFill>
                        <a:srgbClr val="D4DDE4"/>
                      </a:solidFill>
                      <a:prstDash val="solid"/>
                    </a:lnL>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c>
                  <a:txBody>
                    <a:bodyPr/>
                    <a:lstStyle/>
                    <a:p>
                      <a:r>
                        <a:rPr sz="1725" b="1">
                          <a:solidFill>
                            <a:srgbClr val="FFFFFF"/>
                          </a:solidFill>
                          <a:latin typeface="Aptos"/>
                          <a:ea typeface="Aptos"/>
                          <a:cs typeface="Aptos"/>
                        </a:rPr>
                        <a:t>MLP 8 reduction</a:t>
                      </a:r>
                    </a:p>
                  </a:txBody>
                  <a:tcPr marL="114300" marR="114300" marT="47625" marB="47625">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c>
                  <a:txBody>
                    <a:bodyPr/>
                    <a:lstStyle/>
                    <a:p>
                      <a:r>
                        <a:rPr sz="1725" b="1">
                          <a:solidFill>
                            <a:srgbClr val="FFFFFF"/>
                          </a:solidFill>
                          <a:latin typeface="Aptos"/>
                          <a:ea typeface="Aptos"/>
                          <a:cs typeface="Aptos"/>
                        </a:rPr>
                        <a:t>MLP 16 reduction</a:t>
                      </a:r>
                    </a:p>
                  </a:txBody>
                  <a:tcPr marL="114300" marR="114300" marT="47625" marB="47625">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r>
              <a:tr h="433917">
                <a:tc>
                  <a:txBody>
                    <a:bodyPr/>
                    <a:lstStyle/>
                    <a:p>
                      <a:r>
                        <a:rPr sz="1725">
                          <a:solidFill>
                            <a:srgbClr val="16283D"/>
                          </a:solidFill>
                          <a:latin typeface="Aptos"/>
                          <a:ea typeface="Aptos"/>
                          <a:cs typeface="Aptos"/>
                        </a:rPr>
                        <a:t>0.264</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2.789%</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9.230%</a:t>
                      </a:r>
                    </a:p>
                  </a:txBody>
                  <a:tcPr marL="114300" marR="114300" marT="47625" marB="47625">
                    <a:lnR w="9525">
                      <a:solidFill>
                        <a:srgbClr val="D4DDE4"/>
                      </a:solidFill>
                      <a:prstDash val="solid"/>
                    </a:lnR>
                    <a:lnB w="9525">
                      <a:solidFill>
                        <a:srgbClr val="D4DDE4"/>
                      </a:solidFill>
                      <a:prstDash val="solid"/>
                    </a:lnB>
                  </a:tcPr>
                </a:tc>
              </a:tr>
              <a:tr h="433917">
                <a:tc>
                  <a:txBody>
                    <a:bodyPr/>
                    <a:lstStyle/>
                    <a:p>
                      <a:r>
                        <a:rPr sz="1725">
                          <a:solidFill>
                            <a:srgbClr val="16283D"/>
                          </a:solidFill>
                          <a:latin typeface="Aptos"/>
                          <a:ea typeface="Aptos"/>
                          <a:cs typeface="Aptos"/>
                        </a:rPr>
                        <a:t>0.379</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2.947%</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13.161%</a:t>
                      </a:r>
                    </a:p>
                  </a:txBody>
                  <a:tcPr marL="114300" marR="114300" marT="47625" marB="47625">
                    <a:lnR w="9525">
                      <a:solidFill>
                        <a:srgbClr val="D4DDE4"/>
                      </a:solidFill>
                      <a:prstDash val="solid"/>
                    </a:lnR>
                    <a:lnB w="9525">
                      <a:solidFill>
                        <a:srgbClr val="D4DDE4"/>
                      </a:solidFill>
                      <a:prstDash val="solid"/>
                    </a:lnB>
                  </a:tcPr>
                </a:tc>
              </a:tr>
              <a:tr h="433917">
                <a:tc>
                  <a:txBody>
                    <a:bodyPr/>
                    <a:lstStyle/>
                    <a:p>
                      <a:r>
                        <a:rPr sz="1725">
                          <a:solidFill>
                            <a:srgbClr val="16283D"/>
                          </a:solidFill>
                          <a:latin typeface="Aptos"/>
                          <a:ea typeface="Aptos"/>
                          <a:cs typeface="Aptos"/>
                        </a:rPr>
                        <a:t>0.503</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7.857%</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21.018%</a:t>
                      </a:r>
                    </a:p>
                  </a:txBody>
                  <a:tcPr marL="114300" marR="114300" marT="47625" marB="47625">
                    <a:lnR w="9525">
                      <a:solidFill>
                        <a:srgbClr val="D4DDE4"/>
                      </a:solidFill>
                      <a:prstDash val="solid"/>
                    </a:lnR>
                    <a:lnB w="9525">
                      <a:solidFill>
                        <a:srgbClr val="D4DDE4"/>
                      </a:solidFill>
                      <a:prstDash val="solid"/>
                    </a:lnB>
                  </a:tcPr>
                </a:tc>
              </a:tr>
              <a:tr h="433917">
                <a:tc>
                  <a:txBody>
                    <a:bodyPr/>
                    <a:lstStyle/>
                    <a:p>
                      <a:r>
                        <a:rPr sz="1725">
                          <a:solidFill>
                            <a:srgbClr val="16283D"/>
                          </a:solidFill>
                          <a:latin typeface="Aptos"/>
                          <a:ea typeface="Aptos"/>
                          <a:cs typeface="Aptos"/>
                        </a:rPr>
                        <a:t>0.619</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7.481%</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24.162%</a:t>
                      </a:r>
                    </a:p>
                  </a:txBody>
                  <a:tcPr marL="114300" marR="114300" marT="47625" marB="47625">
                    <a:lnR w="9525">
                      <a:solidFill>
                        <a:srgbClr val="D4DDE4"/>
                      </a:solidFill>
                      <a:prstDash val="solid"/>
                    </a:lnR>
                    <a:lnB w="9525">
                      <a:solidFill>
                        <a:srgbClr val="D4DDE4"/>
                      </a:solidFill>
                      <a:prstDash val="solid"/>
                    </a:lnB>
                  </a:tcPr>
                </a:tc>
              </a:tr>
              <a:tr h="433917">
                <a:tc>
                  <a:txBody>
                    <a:bodyPr/>
                    <a:lstStyle/>
                    <a:p>
                      <a:r>
                        <a:rPr sz="1725">
                          <a:solidFill>
                            <a:srgbClr val="16283D"/>
                          </a:solidFill>
                          <a:latin typeface="Aptos"/>
                          <a:ea typeface="Aptos"/>
                          <a:cs typeface="Aptos"/>
                        </a:rPr>
                        <a:t>0.700 reference</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7.481%</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24.162%</a:t>
                      </a:r>
                    </a:p>
                  </a:txBody>
                  <a:tcPr marL="114300" marR="114300" marT="47625" marB="47625">
                    <a:lnR w="9525">
                      <a:solidFill>
                        <a:srgbClr val="D4DDE4"/>
                      </a:solidFill>
                      <a:prstDash val="solid"/>
                    </a:lnR>
                    <a:lnB w="9525">
                      <a:solidFill>
                        <a:srgbClr val="D4DDE4"/>
                      </a:solidFill>
                      <a:prstDash val="solid"/>
                    </a:lnB>
                  </a:tcPr>
                </a:tc>
              </a:tr>
              <a:tr h="433917">
                <a:tc>
                  <a:txBody>
                    <a:bodyPr/>
                    <a:lstStyle/>
                    <a:p>
                      <a:r>
                        <a:rPr sz="1725">
                          <a:solidFill>
                            <a:srgbClr val="16283D"/>
                          </a:solidFill>
                          <a:latin typeface="Aptos"/>
                          <a:ea typeface="Aptos"/>
                          <a:cs typeface="Aptos"/>
                        </a:rPr>
                        <a:t>0.847</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7.481%</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28.141%</a:t>
                      </a:r>
                    </a:p>
                  </a:txBody>
                  <a:tcPr marL="114300" marR="114300" marT="47625" marB="47625">
                    <a:lnR w="9525">
                      <a:solidFill>
                        <a:srgbClr val="D4DDE4"/>
                      </a:solidFill>
                      <a:prstDash val="solid"/>
                    </a:lnR>
                    <a:lnB w="9525">
                      <a:solidFill>
                        <a:srgbClr val="D4DDE4"/>
                      </a:solidFill>
                      <a:prstDash val="solid"/>
                    </a:lnB>
                  </a:tcPr>
                </a:tc>
              </a:tr>
              <a:tr h="433917">
                <a:tc>
                  <a:txBody>
                    <a:bodyPr/>
                    <a:lstStyle/>
                    <a:p>
                      <a:r>
                        <a:rPr sz="1725">
                          <a:solidFill>
                            <a:srgbClr val="16283D"/>
                          </a:solidFill>
                          <a:latin typeface="Aptos"/>
                          <a:ea typeface="Aptos"/>
                          <a:cs typeface="Aptos"/>
                        </a:rPr>
                        <a:t>0.874</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7.481%</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28.141%</a:t>
                      </a:r>
                    </a:p>
                  </a:txBody>
                  <a:tcPr marL="114300" marR="114300" marT="47625" marB="47625">
                    <a:lnR w="9525">
                      <a:solidFill>
                        <a:srgbClr val="D4DDE4"/>
                      </a:solidFill>
                      <a:prstDash val="solid"/>
                    </a:lnR>
                    <a:lnB w="9525">
                      <a:solidFill>
                        <a:srgbClr val="D4DDE4"/>
                      </a:solidFill>
                      <a:prstDash val="solid"/>
                    </a:lnB>
                  </a:tcPr>
                </a:tc>
              </a:tr>
              <a:tr h="433917">
                <a:tc>
                  <a:txBody>
                    <a:bodyPr/>
                    <a:lstStyle/>
                    <a:p>
                      <a:r>
                        <a:rPr sz="1725">
                          <a:solidFill>
                            <a:srgbClr val="16283D"/>
                          </a:solidFill>
                          <a:latin typeface="Aptos"/>
                          <a:ea typeface="Aptos"/>
                          <a:cs typeface="Aptos"/>
                        </a:rPr>
                        <a:t>1.000 reference</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4.899%</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23.947%</a:t>
                      </a:r>
                    </a:p>
                  </a:txBody>
                  <a:tcPr marL="114300" marR="114300" marT="47625" marB="47625">
                    <a:lnR w="9525">
                      <a:solidFill>
                        <a:srgbClr val="D4DDE4"/>
                      </a:solidFill>
                      <a:prstDash val="solid"/>
                    </a:lnR>
                    <a:lnB w="9525">
                      <a:solidFill>
                        <a:srgbClr val="D4DDE4"/>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0C6273CF-3A47-494B-B1FF-752DADCA684A}"/>
              </a:ext>
            </a:extLst>
          </p:cNvPr>
          <p:cNvSpPr>
            <a:spLocks xmlns:a="http://schemas.openxmlformats.org/drawingml/2006/main" noGrp="1"/>
          </p:cNvSpPr>
          <p:nvPr/>
        </p:nvSpPr>
        <p:spPr>
          <a:xfrm xmlns:a="http://schemas.openxmlformats.org/drawingml/2006/main">
            <a:off x="609600" y="54578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83D"/>
                </a:solidFill>
                <a:latin typeface="Aptos"/>
                <a:ea typeface="Aptos"/>
                <a:cs typeface="Aptos"/>
              </a:defRPr>
            </a:defPPr>
          </a:lstStyle>
          <a:p xmlns:a="http://schemas.openxmlformats.org/drawingml/2006/main">
            <a:pPr>
              <a:defRPr sz="1875" b="0">
                <a:solidFill>
                  <a:srgbClr val="16283D"/>
                </a:solidFill>
                <a:latin typeface="Aptos"/>
                <a:ea typeface="Aptos"/>
                <a:cs typeface="Aptos"/>
              </a:defRPr>
            </a:pPr>
            <a:r>
              <a:rPr sz="1875" b="0">
                <a:solidFill>
                  <a:srgbClr val="16283D"/>
                </a:solidFill>
                <a:latin typeface="Aptos"/>
                <a:ea typeface="Aptos"/>
                <a:cs typeface="Aptos"/>
              </a:rPr>
              <a:t>Alpha retains old scores: score_new = alpha × score_old + contribution. Both policies receive the same alpha and actual migration budget.</a:t>
            </a:r>
          </a:p>
        </p:txBody>
      </p:sp>
      <p:sp>
        <p:nvSpPr>
          <p:cNvPr id="6" name="">
            <a:extLst xmlns:a="http://schemas.openxmlformats.org/drawingml/2006/main">
              <a:ext uri="{FF2B5EF4-FFF2-40B4-BE49-F238E27FC236}">
                <a16:creationId xmlns:a16="http://schemas.microsoft.com/office/drawing/2014/main" id="{A60BA129-ACEE-4E58-A6CD-3D6041F28E27}"/>
              </a:ext>
            </a:extLst>
          </p:cNvPr>
          <p:cNvSpPr>
            <a:spLocks xmlns:a="http://schemas.openxmlformats.org/drawingml/2006/main" noGrp="1"/>
          </p:cNvSpPr>
          <p:nvPr/>
        </p:nvSpPr>
        <p:spPr>
          <a:xfrm xmlns:a="http://schemas.openxmlformats.org/drawingml/2006/main">
            <a:off x="609600" y="60674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At MLP 16: 24.16% with alpha 0.7, and 28.14% in the best recorded sweep cases.</a:t>
            </a:r>
          </a:p>
        </p:txBody>
      </p:sp>
    </p:spTree>
    <p:extLst>
      <p:ext uri="{BB962C8B-B14F-4D97-AF65-F5344CB8AC3E}">
        <p14:creationId xmlns:p14="http://schemas.microsoft.com/office/powerpoint/2010/main" val="1453559373"/>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A1B006B-F127-4EFD-B04B-49619DF33867}"/>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Examples of workloads that can expose high MLP</a:t>
            </a:r>
          </a:p>
        </p:txBody>
      </p:sp>
      <p:sp>
        <p:nvSpPr>
          <p:cNvPr id="2" name="">
            <a:extLst xmlns:a="http://schemas.openxmlformats.org/drawingml/2006/main">
              <a:ext uri="{FF2B5EF4-FFF2-40B4-BE49-F238E27FC236}">
                <a16:creationId xmlns:a16="http://schemas.microsoft.com/office/drawing/2014/main" id="{9BACC4DD-FA67-4CD4-B117-3C35899DCDE6}"/>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09</a:t>
            </a:r>
          </a:p>
        </p:txBody>
      </p:sp>
      <p:graphicFrame>
        <p:nvGraphicFramePr>
          <p:cNvPr id="3" name="">
            <a:extLst xmlns:a="http://schemas.openxmlformats.org/drawingml/2006/main">
              <a:ext uri="{FF2B5EF4-FFF2-40B4-BE49-F238E27FC236}">
                <a16:creationId xmlns:a16="http://schemas.microsoft.com/office/drawing/2014/main" id="{31DDC0EA-250F-4B63-9932-F370F443F245}"/>
              </a:ext>
            </a:extLst>
          </p:cNvPr>
          <p:cNvGraphicFramePr/>
          <p:nvPr/>
        </p:nvGraphicFramePr>
        <p:xfrm>
          <a:off xmlns:a="http://schemas.openxmlformats.org/drawingml/2006/main" x="609600" y="1562100"/>
          <a:ext xmlns:a="http://schemas.openxmlformats.org/drawingml/2006/main" cx="10972800" cy="3181350"/>
        </p:xfrm>
        <a:graphic xmlns:a="http://schemas.openxmlformats.org/drawingml/2006/main">
          <a:graphicData uri="http://schemas.openxmlformats.org/drawingml/2006/table">
            <a:tbl>
              <a:tblPr/>
              <a:tblGrid>
                <a:gridCol w="4381500"/>
                <a:gridCol w="6591300"/>
              </a:tblGrid>
              <a:tr h="636270">
                <a:tc>
                  <a:txBody>
                    <a:bodyPr/>
                    <a:lstStyle/>
                    <a:p>
                      <a:r>
                        <a:rPr sz="1725" b="1">
                          <a:solidFill>
                            <a:srgbClr val="FFFFFF"/>
                          </a:solidFill>
                          <a:latin typeface="Aptos"/>
                          <a:ea typeface="Aptos"/>
                          <a:cs typeface="Aptos"/>
                        </a:rPr>
                        <a:t>Candidate workload</a:t>
                      </a:r>
                    </a:p>
                  </a:txBody>
                  <a:tcPr marL="114300" marR="114300" marT="47625" marB="47625">
                    <a:lnL w="9525">
                      <a:solidFill>
                        <a:srgbClr val="D4DDE4"/>
                      </a:solidFill>
                      <a:prstDash val="solid"/>
                    </a:lnL>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c>
                  <a:txBody>
                    <a:bodyPr/>
                    <a:lstStyle/>
                    <a:p>
                      <a:r>
                        <a:rPr sz="1725" b="1">
                          <a:solidFill>
                            <a:srgbClr val="FFFFFF"/>
                          </a:solidFill>
                          <a:latin typeface="Aptos"/>
                          <a:ea typeface="Aptos"/>
                          <a:cs typeface="Aptos"/>
                        </a:rPr>
                        <a:t>How independent accesses can overlap</a:t>
                      </a:r>
                    </a:p>
                  </a:txBody>
                  <a:tcPr marL="114300" marR="114300" marT="47625" marB="47625">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r>
              <a:tr h="636270">
                <a:tc>
                  <a:txBody>
                    <a:bodyPr/>
                    <a:lstStyle/>
                    <a:p>
                      <a:r>
                        <a:rPr sz="1725">
                          <a:solidFill>
                            <a:srgbClr val="16283D"/>
                          </a:solidFill>
                          <a:latin typeface="Aptos"/>
                          <a:ea typeface="Aptos"/>
                          <a:cs typeface="Aptos"/>
                        </a:rPr>
                        <a:t>Multiple pointer chains</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Interleave 8 or 16 separate chains</a:t>
                      </a:r>
                    </a:p>
                  </a:txBody>
                  <a:tcPr marL="114300" marR="114300" marT="47625" marB="47625">
                    <a:lnR w="9525">
                      <a:solidFill>
                        <a:srgbClr val="D4DDE4"/>
                      </a:solidFill>
                      <a:prstDash val="solid"/>
                    </a:lnR>
                    <a:lnB w="9525">
                      <a:solidFill>
                        <a:srgbClr val="D4DDE4"/>
                      </a:solidFill>
                      <a:prstDash val="solid"/>
                    </a:lnB>
                  </a:tcPr>
                </a:tc>
              </a:tr>
              <a:tr h="636270">
                <a:tc>
                  <a:txBody>
                    <a:bodyPr/>
                    <a:lstStyle/>
                    <a:p>
                      <a:r>
                        <a:rPr sz="1725">
                          <a:solidFill>
                            <a:srgbClr val="16283D"/>
                          </a:solidFill>
                          <a:latin typeface="Aptos"/>
                          <a:ea typeface="Aptos"/>
                          <a:cs typeface="Aptos"/>
                        </a:rPr>
                        <a:t>Batched hash-table / tree probes</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Issue independent lookups from several queries</a:t>
                      </a:r>
                    </a:p>
                  </a:txBody>
                  <a:tcPr marL="114300" marR="114300" marT="47625" marB="47625">
                    <a:lnR w="9525">
                      <a:solidFill>
                        <a:srgbClr val="D4DDE4"/>
                      </a:solidFill>
                      <a:prstDash val="solid"/>
                    </a:lnR>
                    <a:lnB w="9525">
                      <a:solidFill>
                        <a:srgbClr val="D4DDE4"/>
                      </a:solidFill>
                      <a:prstDash val="solid"/>
                    </a:lnB>
                  </a:tcPr>
                </a:tc>
              </a:tr>
              <a:tr h="636270">
                <a:tc>
                  <a:txBody>
                    <a:bodyPr/>
                    <a:lstStyle/>
                    <a:p>
                      <a:r>
                        <a:rPr sz="1725">
                          <a:solidFill>
                            <a:srgbClr val="16283D"/>
                          </a:solidFill>
                          <a:latin typeface="Aptos"/>
                          <a:ea typeface="Aptos"/>
                          <a:cs typeface="Aptos"/>
                        </a:rPr>
                        <a:t>Parallel graph traversal</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Process independent frontier vertices or edges</a:t>
                      </a:r>
                    </a:p>
                  </a:txBody>
                  <a:tcPr marL="114300" marR="114300" marT="47625" marB="47625">
                    <a:lnR w="9525">
                      <a:solidFill>
                        <a:srgbClr val="D4DDE4"/>
                      </a:solidFill>
                      <a:prstDash val="solid"/>
                    </a:lnR>
                    <a:lnB w="9525">
                      <a:solidFill>
                        <a:srgbClr val="D4DDE4"/>
                      </a:solidFill>
                      <a:prstDash val="solid"/>
                    </a:lnB>
                  </a:tcPr>
                </a:tc>
              </a:tr>
              <a:tr h="636270">
                <a:tc>
                  <a:txBody>
                    <a:bodyPr/>
                    <a:lstStyle/>
                    <a:p>
                      <a:r>
                        <a:rPr sz="1725">
                          <a:solidFill>
                            <a:srgbClr val="16283D"/>
                          </a:solidFill>
                          <a:latin typeface="Aptos"/>
                          <a:ea typeface="Aptos"/>
                          <a:cs typeface="Aptos"/>
                        </a:rPr>
                        <a:t>Batched embedding gathers</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Fetch independent rows across samples or tables</a:t>
                      </a:r>
                    </a:p>
                  </a:txBody>
                  <a:tcPr marL="114300" marR="114300" marT="47625" marB="47625">
                    <a:lnR w="9525">
                      <a:solidFill>
                        <a:srgbClr val="D4DDE4"/>
                      </a:solidFill>
                      <a:prstDash val="solid"/>
                    </a:lnR>
                    <a:lnB w="9525">
                      <a:solidFill>
                        <a:srgbClr val="D4DDE4"/>
                      </a:solidFill>
                      <a:prstDash val="solid"/>
                    </a:lnB>
                  </a:tcPr>
                </a:tc>
              </a:tr>
            </a:tbl>
          </a:graphicData>
        </a:graphic>
      </p:graphicFrame>
      <p:sp>
        <p:nvSpPr>
          <p:cNvPr id="4" name="">
            <a:extLst xmlns:a="http://schemas.openxmlformats.org/drawingml/2006/main">
              <a:ext uri="{FF2B5EF4-FFF2-40B4-BE49-F238E27FC236}">
                <a16:creationId xmlns:a16="http://schemas.microsoft.com/office/drawing/2014/main" id="{B5541B53-0B9D-44E5-B730-57461D13474E}"/>
              </a:ext>
            </a:extLst>
          </p:cNvPr>
          <p:cNvSpPr>
            <a:spLocks xmlns:a="http://schemas.openxmlformats.org/drawingml/2006/main" noGrp="1"/>
          </p:cNvSpPr>
          <p:nvPr/>
        </p:nvSpPr>
        <p:spPr>
          <a:xfrm xmlns:a="http://schemas.openxmlformats.org/drawingml/2006/main">
            <a:off x="609600" y="50958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06A75"/>
                </a:solidFill>
                <a:latin typeface="Aptos"/>
                <a:ea typeface="Aptos"/>
                <a:cs typeface="Aptos"/>
              </a:defRPr>
            </a:defPPr>
          </a:lstStyle>
          <a:p xmlns:a="http://schemas.openxmlformats.org/drawingml/2006/main">
            <a:pPr>
              <a:defRPr sz="2250" b="1">
                <a:solidFill>
                  <a:srgbClr val="006A75"/>
                </a:solidFill>
                <a:latin typeface="Aptos"/>
                <a:ea typeface="Aptos"/>
                <a:cs typeface="Aptos"/>
              </a:defRPr>
            </a:pPr>
            <a:r>
              <a:rPr sz="2250" b="1">
                <a:solidFill>
                  <a:srgbClr val="006A75"/>
                </a:solidFill>
                <a:latin typeface="Aptos"/>
                <a:ea typeface="Aptos"/>
                <a:cs typeface="Aptos"/>
              </a:rPr>
              <a:t>High MLP alone is insufficient. PAC needs different exposed stall costs across windows or page groups to change rankings usefully.</a:t>
            </a:r>
          </a:p>
        </p:txBody>
      </p:sp>
      <p:sp>
        <p:nvSpPr>
          <p:cNvPr id="5" name="">
            <a:extLst xmlns:a="http://schemas.openxmlformats.org/drawingml/2006/main">
              <a:ext uri="{FF2B5EF4-FFF2-40B4-BE49-F238E27FC236}">
                <a16:creationId xmlns:a16="http://schemas.microsoft.com/office/drawing/2014/main" id="{9E1BA0F8-0316-41C0-A039-E8FCB2094C4E}"/>
              </a:ext>
            </a:extLst>
          </p:cNvPr>
          <p:cNvSpPr>
            <a:spLocks xmlns:a="http://schemas.openxmlformats.org/drawingml/2006/main" noGrp="1"/>
          </p:cNvSpPr>
          <p:nvPr/>
        </p:nvSpPr>
        <p:spPr>
          <a:xfrm xmlns:a="http://schemas.openxmlformats.org/drawingml/2006/main">
            <a:off x="609600" y="59436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6283D"/>
                </a:solidFill>
                <a:latin typeface="Aptos"/>
                <a:ea typeface="Aptos"/>
                <a:cs typeface="Aptos"/>
              </a:defRPr>
            </a:defPPr>
          </a:lstStyle>
          <a:p xmlns:a="http://schemas.openxmlformats.org/drawingml/2006/main">
            <a:pPr>
              <a:defRPr sz="1800" b="0">
                <a:solidFill>
                  <a:srgbClr val="16283D"/>
                </a:solidFill>
                <a:latin typeface="Aptos"/>
                <a:ea typeface="Aptos"/>
                <a:cs typeface="Aptos"/>
              </a:defRPr>
            </a:pPr>
            <a:r>
              <a:rPr sz="1800" b="0">
                <a:solidFill>
                  <a:srgbClr val="16283D"/>
                </a:solidFill>
                <a:latin typeface="Aptos"/>
                <a:ea typeface="Aptos"/>
                <a:cs typeface="Aptos"/>
              </a:rPr>
              <a:t>Candidates for measurement. Actual MLP depends on the implementation, dependencies, cache misses and resource limits.</a:t>
            </a:r>
          </a:p>
        </p:txBody>
      </p:sp>
    </p:spTree>
    <p:extLst>
      <p:ext uri="{BB962C8B-B14F-4D97-AF65-F5344CB8AC3E}">
        <p14:creationId xmlns:p14="http://schemas.microsoft.com/office/powerpoint/2010/main" val="1362742875"/>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FA92D25-5675-4397-A3D9-6E6D5D345E3C}"/>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Tentative plan: validate PACT, then integrate PIPM</a:t>
            </a:r>
          </a:p>
        </p:txBody>
      </p:sp>
      <p:sp>
        <p:nvSpPr>
          <p:cNvPr id="2" name="">
            <a:extLst xmlns:a="http://schemas.openxmlformats.org/drawingml/2006/main">
              <a:ext uri="{FF2B5EF4-FFF2-40B4-BE49-F238E27FC236}">
                <a16:creationId xmlns:a16="http://schemas.microsoft.com/office/drawing/2014/main" id="{2121BB59-F2A8-451F-B379-40511F500E80}"/>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10</a:t>
            </a:r>
          </a:p>
        </p:txBody>
      </p:sp>
      <p:sp>
        <p:nvSpPr>
          <p:cNvPr id="3" name="">
            <a:extLst xmlns:a="http://schemas.openxmlformats.org/drawingml/2006/main">
              <a:ext uri="{FF2B5EF4-FFF2-40B4-BE49-F238E27FC236}">
                <a16:creationId xmlns:a16="http://schemas.microsoft.com/office/drawing/2014/main" id="{C65DC7DB-1E3A-4195-BB1B-DAFBBC576B7A}"/>
              </a:ext>
            </a:extLst>
          </p:cNvPr>
          <p:cNvSpPr>
            <a:spLocks xmlns:a="http://schemas.openxmlformats.org/drawingml/2006/main" noGrp="1"/>
          </p:cNvSpPr>
          <p:nvPr/>
        </p:nvSpPr>
        <p:spPr>
          <a:xfrm xmlns:a="http://schemas.openxmlformats.org/drawingml/2006/main">
            <a:off x="609600" y="14763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06A75"/>
                </a:solidFill>
                <a:latin typeface="Aptos"/>
                <a:ea typeface="Aptos"/>
                <a:cs typeface="Aptos"/>
              </a:defRPr>
            </a:defPPr>
          </a:lstStyle>
          <a:p xmlns:a="http://schemas.openxmlformats.org/drawingml/2006/main">
            <a:pPr>
              <a:defRPr sz="2550" b="1">
                <a:solidFill>
                  <a:srgbClr val="006A75"/>
                </a:solidFill>
                <a:latin typeface="Aptos"/>
                <a:ea typeface="Aptos"/>
                <a:cs typeface="Aptos"/>
              </a:defRPr>
            </a:pPr>
            <a:r>
              <a:rPr sz="2550" b="1">
                <a:solidFill>
                  <a:srgbClr val="006A75"/>
                </a:solidFill>
                <a:latin typeface="Aptos"/>
                <a:ea typeface="Aptos"/>
                <a:cs typeface="Aptos"/>
              </a:rPr>
              <a:t>Stage 1  /  Validate PACT</a:t>
            </a:r>
          </a:p>
        </p:txBody>
      </p:sp>
      <p:sp>
        <p:nvSpPr>
          <p:cNvPr id="4" name="">
            <a:extLst xmlns:a="http://schemas.openxmlformats.org/drawingml/2006/main">
              <a:ext uri="{FF2B5EF4-FFF2-40B4-BE49-F238E27FC236}">
                <a16:creationId xmlns:a16="http://schemas.microsoft.com/office/drawing/2014/main" id="{14D22103-9252-4D92-8685-6C9FF1643008}"/>
              </a:ext>
            </a:extLst>
          </p:cNvPr>
          <p:cNvSpPr>
            <a:spLocks xmlns:a="http://schemas.openxmlformats.org/drawingml/2006/main" noGrp="1"/>
          </p:cNvSpPr>
          <p:nvPr/>
        </p:nvSpPr>
        <p:spPr>
          <a:xfrm xmlns:a="http://schemas.openxmlformats.org/drawingml/2006/main">
            <a:off x="609600" y="2047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6283D"/>
                </a:solidFill>
                <a:latin typeface="Aptos"/>
                <a:ea typeface="Aptos"/>
                <a:cs typeface="Aptos"/>
              </a:defRPr>
            </a:defPPr>
          </a:lstStyle>
          <a:p xmlns:a="http://schemas.openxmlformats.org/drawingml/2006/main">
            <a:pPr>
              <a:defRPr sz="2175" b="0">
                <a:solidFill>
                  <a:srgbClr val="16283D"/>
                </a:solidFill>
                <a:latin typeface="Aptos"/>
                <a:ea typeface="Aptos"/>
                <a:cs typeface="Aptos"/>
              </a:defRPr>
            </a:pPr>
            <a:r>
              <a:rPr sz="2175" b="0">
                <a:solidFill>
                  <a:srgbClr val="16283D"/>
                </a:solidFill>
                <a:latin typeface="Aptos"/>
                <a:ea typeface="Aptos"/>
                <a:cs typeface="Aptos"/>
              </a:rPr>
              <a:t>Check PAC equations, MLP accounting, decay and policy decisions against the paper and artifact. Repeat serial controls and MLP 8/16 comparisons.</a:t>
            </a:r>
          </a:p>
        </p:txBody>
      </p:sp>
      <p:sp>
        <p:nvSpPr>
          <p:cNvPr id="5" name="">
            <a:extLst xmlns:a="http://schemas.openxmlformats.org/drawingml/2006/main">
              <a:ext uri="{FF2B5EF4-FFF2-40B4-BE49-F238E27FC236}">
                <a16:creationId xmlns:a16="http://schemas.microsoft.com/office/drawing/2014/main" id="{0E08C804-3FFE-49BD-8A27-61D8D830B36F}"/>
              </a:ext>
            </a:extLst>
          </p:cNvPr>
          <p:cNvSpPr>
            <a:spLocks xmlns:a="http://schemas.openxmlformats.org/drawingml/2006/main" noGrp="1"/>
          </p:cNvSpPr>
          <p:nvPr/>
        </p:nvSpPr>
        <p:spPr>
          <a:xfrm xmlns:a="http://schemas.openxmlformats.org/drawingml/2006/main">
            <a:off x="609600" y="30099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283D"/>
                </a:solidFill>
                <a:latin typeface="Aptos"/>
                <a:ea typeface="Aptos"/>
                <a:cs typeface="Aptos"/>
              </a:defRPr>
            </a:defPPr>
          </a:lstStyle>
          <a:p xmlns:a="http://schemas.openxmlformats.org/drawingml/2006/main">
            <a:pPr>
              <a:defRPr sz="2025" b="0">
                <a:solidFill>
                  <a:srgbClr val="16283D"/>
                </a:solidFill>
                <a:latin typeface="Aptos"/>
                <a:ea typeface="Aptos"/>
                <a:cs typeface="Aptos"/>
              </a:defRPr>
            </a:pPr>
            <a:r>
              <a:rPr sz="2025" b="0">
                <a:solidFill>
                  <a:srgbClr val="16283D"/>
                </a:solidFill>
                <a:latin typeface="Aptos"/>
                <a:ea typeface="Aptos"/>
                <a:cs typeface="Aptos"/>
              </a:rPr>
              <a:t>Completion gate: a validated baseline and a documented list of remaining model differences. Finish this before integration.</a:t>
            </a:r>
          </a:p>
        </p:txBody>
      </p:sp>
      <p:sp>
        <p:nvSpPr>
          <p:cNvPr id="6" name="">
            <a:extLst xmlns:a="http://schemas.openxmlformats.org/drawingml/2006/main">
              <a:ext uri="{FF2B5EF4-FFF2-40B4-BE49-F238E27FC236}">
                <a16:creationId xmlns:a16="http://schemas.microsoft.com/office/drawing/2014/main" id="{4CF726B0-ABBE-4606-9106-26799529BB61}"/>
              </a:ext>
            </a:extLst>
          </p:cNvPr>
          <p:cNvSpPr>
            <a:spLocks xmlns:a="http://schemas.openxmlformats.org/drawingml/2006/main" noGrp="1"/>
          </p:cNvSpPr>
          <p:nvPr/>
        </p:nvSpPr>
        <p:spPr>
          <a:xfrm xmlns:a="http://schemas.openxmlformats.org/drawingml/2006/main">
            <a:off x="609600" y="40195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06A75"/>
                </a:solidFill>
                <a:latin typeface="Aptos"/>
                <a:ea typeface="Aptos"/>
                <a:cs typeface="Aptos"/>
              </a:defRPr>
            </a:defPPr>
          </a:lstStyle>
          <a:p xmlns:a="http://schemas.openxmlformats.org/drawingml/2006/main">
            <a:pPr>
              <a:defRPr sz="2550" b="1">
                <a:solidFill>
                  <a:srgbClr val="006A75"/>
                </a:solidFill>
                <a:latin typeface="Aptos"/>
                <a:ea typeface="Aptos"/>
                <a:cs typeface="Aptos"/>
              </a:defRPr>
            </a:pPr>
            <a:r>
              <a:rPr sz="2550" b="1">
                <a:solidFill>
                  <a:srgbClr val="006A75"/>
                </a:solidFill>
                <a:latin typeface="Aptos"/>
                <a:ea typeface="Aptos"/>
                <a:cs typeface="Aptos"/>
              </a:rPr>
              <a:t>Stage 2  /  Integrate with PIPM  /  2 weeks</a:t>
            </a:r>
          </a:p>
        </p:txBody>
      </p:sp>
      <p:sp>
        <p:nvSpPr>
          <p:cNvPr id="7" name="">
            <a:extLst xmlns:a="http://schemas.openxmlformats.org/drawingml/2006/main">
              <a:ext uri="{FF2B5EF4-FFF2-40B4-BE49-F238E27FC236}">
                <a16:creationId xmlns:a16="http://schemas.microsoft.com/office/drawing/2014/main" id="{3336C1F6-CD34-4DDE-AF10-070D2E486198}"/>
              </a:ext>
            </a:extLst>
          </p:cNvPr>
          <p:cNvSpPr>
            <a:spLocks xmlns:a="http://schemas.openxmlformats.org/drawingml/2006/main" noGrp="1"/>
          </p:cNvSpPr>
          <p:nvPr/>
        </p:nvSpPr>
        <p:spPr>
          <a:xfrm xmlns:a="http://schemas.openxmlformats.org/drawingml/2006/main">
            <a:off x="609600" y="45910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6283D"/>
                </a:solidFill>
                <a:latin typeface="Aptos"/>
                <a:ea typeface="Aptos"/>
                <a:cs typeface="Aptos"/>
              </a:defRPr>
            </a:defPPr>
          </a:lstStyle>
          <a:p xmlns:a="http://schemas.openxmlformats.org/drawingml/2006/main">
            <a:pPr>
              <a:defRPr sz="2175" b="0">
                <a:solidFill>
                  <a:srgbClr val="16283D"/>
                </a:solidFill>
                <a:latin typeface="Aptos"/>
                <a:ea typeface="Aptos"/>
                <a:cs typeface="Aptos"/>
              </a:defRPr>
            </a:pPr>
            <a:r>
              <a:rPr sz="2175" b="0">
                <a:solidFill>
                  <a:srgbClr val="16283D"/>
                </a:solidFill>
                <a:latin typeface="Aptos"/>
                <a:ea typeface="Aptos"/>
                <a:cs typeface="Aptos"/>
              </a:rPr>
              <a:t>Week 1: connect profiling observations, page identities and placement decisions to PIPM. Week 2: debug correctness and run integrated PAC/frequency tests.</a:t>
            </a:r>
          </a:p>
        </p:txBody>
      </p:sp>
      <p:sp>
        <p:nvSpPr>
          <p:cNvPr id="8" name="">
            <a:extLst xmlns:a="http://schemas.openxmlformats.org/drawingml/2006/main">
              <a:ext uri="{FF2B5EF4-FFF2-40B4-BE49-F238E27FC236}">
                <a16:creationId xmlns:a16="http://schemas.microsoft.com/office/drawing/2014/main" id="{FC95535A-A445-49A6-A01C-DC6D45AA360B}"/>
              </a:ext>
            </a:extLst>
          </p:cNvPr>
          <p:cNvSpPr>
            <a:spLocks xmlns:a="http://schemas.openxmlformats.org/drawingml/2006/main" noGrp="1"/>
          </p:cNvSpPr>
          <p:nvPr/>
        </p:nvSpPr>
        <p:spPr>
          <a:xfrm xmlns:a="http://schemas.openxmlformats.org/drawingml/2006/main">
            <a:off x="609600" y="5657850"/>
            <a:ext cx="10972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283D"/>
                </a:solidFill>
                <a:latin typeface="Aptos"/>
                <a:ea typeface="Aptos"/>
                <a:cs typeface="Aptos"/>
              </a:defRPr>
            </a:defPPr>
          </a:lstStyle>
          <a:p xmlns:a="http://schemas.openxmlformats.org/drawingml/2006/main">
            <a:pPr>
              <a:defRPr sz="2025" b="0">
                <a:solidFill>
                  <a:srgbClr val="16283D"/>
                </a:solidFill>
                <a:latin typeface="Aptos"/>
                <a:ea typeface="Aptos"/>
                <a:cs typeface="Aptos"/>
              </a:defRPr>
            </a:pPr>
            <a:r>
              <a:rPr sz="2025" b="0">
                <a:solidFill>
                  <a:srgbClr val="16283D"/>
                </a:solidFill>
                <a:latin typeface="Aptos"/>
                <a:ea typeface="Aptos"/>
                <a:cs typeface="Aptos"/>
              </a:rPr>
              <a:t>Completion gate: a working integrated prototype with repeatable timing and migration logs.</a:t>
            </a:r>
          </a:p>
        </p:txBody>
      </p:sp>
    </p:spTree>
    <p:extLst>
      <p:ext uri="{BB962C8B-B14F-4D97-AF65-F5344CB8AC3E}">
        <p14:creationId xmlns:p14="http://schemas.microsoft.com/office/powerpoint/2010/main" val="936173664"/>
      </p:ext>
    </p:extLst>
  </p:cSld>
</p:sld>
</file>

<file path=ppt/slides/slide1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C7195B2-11BC-49EF-8A89-6681DE141B11}"/>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Tentative plan: simulator selection and full evaluation</a:t>
            </a:r>
          </a:p>
        </p:txBody>
      </p:sp>
      <p:sp>
        <p:nvSpPr>
          <p:cNvPr id="2" name="">
            <a:extLst xmlns:a="http://schemas.openxmlformats.org/drawingml/2006/main">
              <a:ext uri="{FF2B5EF4-FFF2-40B4-BE49-F238E27FC236}">
                <a16:creationId xmlns:a16="http://schemas.microsoft.com/office/drawing/2014/main" id="{67C5D506-9306-406D-88BA-1C74A491FAE8}"/>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11</a:t>
            </a:r>
          </a:p>
        </p:txBody>
      </p:sp>
      <p:sp>
        <p:nvSpPr>
          <p:cNvPr id="3" name="">
            <a:extLst xmlns:a="http://schemas.openxmlformats.org/drawingml/2006/main">
              <a:ext uri="{FF2B5EF4-FFF2-40B4-BE49-F238E27FC236}">
                <a16:creationId xmlns:a16="http://schemas.microsoft.com/office/drawing/2014/main" id="{DBA3FB70-4D66-4001-947E-6DED60DBB995}"/>
              </a:ext>
            </a:extLst>
          </p:cNvPr>
          <p:cNvSpPr>
            <a:spLocks xmlns:a="http://schemas.openxmlformats.org/drawingml/2006/main" noGrp="1"/>
          </p:cNvSpPr>
          <p:nvPr/>
        </p:nvSpPr>
        <p:spPr>
          <a:xfrm xmlns:a="http://schemas.openxmlformats.org/drawingml/2006/main">
            <a:off x="609600" y="14763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06A75"/>
                </a:solidFill>
                <a:latin typeface="Aptos"/>
                <a:ea typeface="Aptos"/>
                <a:cs typeface="Aptos"/>
              </a:defRPr>
            </a:defPPr>
          </a:lstStyle>
          <a:p xmlns:a="http://schemas.openxmlformats.org/drawingml/2006/main">
            <a:pPr>
              <a:defRPr sz="2550" b="1">
                <a:solidFill>
                  <a:srgbClr val="006A75"/>
                </a:solidFill>
                <a:latin typeface="Aptos"/>
                <a:ea typeface="Aptos"/>
                <a:cs typeface="Aptos"/>
              </a:defRPr>
            </a:pPr>
            <a:r>
              <a:rPr sz="2550" b="1">
                <a:solidFill>
                  <a:srgbClr val="006A75"/>
                </a:solidFill>
                <a:latin typeface="Aptos"/>
                <a:ea typeface="Aptos"/>
                <a:cs typeface="Aptos"/>
              </a:rPr>
              <a:t>Stage 3  /  Find a suitable simulator  /  No deadline</a:t>
            </a:r>
          </a:p>
        </p:txBody>
      </p:sp>
      <p:sp>
        <p:nvSpPr>
          <p:cNvPr id="4" name="">
            <a:extLst xmlns:a="http://schemas.openxmlformats.org/drawingml/2006/main">
              <a:ext uri="{FF2B5EF4-FFF2-40B4-BE49-F238E27FC236}">
                <a16:creationId xmlns:a16="http://schemas.microsoft.com/office/drawing/2014/main" id="{47BFC096-E58A-45C2-9263-4D6057BAFAA1}"/>
              </a:ext>
            </a:extLst>
          </p:cNvPr>
          <p:cNvSpPr>
            <a:spLocks xmlns:a="http://schemas.openxmlformats.org/drawingml/2006/main" noGrp="1"/>
          </p:cNvSpPr>
          <p:nvPr/>
        </p:nvSpPr>
        <p:spPr>
          <a:xfrm xmlns:a="http://schemas.openxmlformats.org/drawingml/2006/main">
            <a:off x="609600" y="204787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6283D"/>
                </a:solidFill>
                <a:latin typeface="Aptos"/>
                <a:ea typeface="Aptos"/>
                <a:cs typeface="Aptos"/>
              </a:defRPr>
            </a:defPPr>
          </a:lstStyle>
          <a:p xmlns:a="http://schemas.openxmlformats.org/drawingml/2006/main">
            <a:pPr>
              <a:defRPr sz="2175" b="0">
                <a:solidFill>
                  <a:srgbClr val="16283D"/>
                </a:solidFill>
                <a:latin typeface="Aptos"/>
                <a:ea typeface="Aptos"/>
                <a:cs typeface="Aptos"/>
              </a:defRPr>
            </a:pPr>
            <a:r>
              <a:rPr sz="2175" b="0">
                <a:solidFill>
                  <a:srgbClr val="16283D"/>
                </a:solidFill>
                <a:latin typeface="Aptos"/>
                <a:ea typeface="Aptos"/>
                <a:cs typeface="Aptos"/>
              </a:rPr>
              <a:t>Evaluate CPU/MLP fidelity, DRAM/CXL timing, bandwidth contention and migration support. Check workload compatibility, PIPM integration and practical run time.</a:t>
            </a:r>
          </a:p>
        </p:txBody>
      </p:sp>
      <p:sp>
        <p:nvSpPr>
          <p:cNvPr id="5" name="">
            <a:extLst xmlns:a="http://schemas.openxmlformats.org/drawingml/2006/main">
              <a:ext uri="{FF2B5EF4-FFF2-40B4-BE49-F238E27FC236}">
                <a16:creationId xmlns:a16="http://schemas.microsoft.com/office/drawing/2014/main" id="{F3036049-5F6A-4FAD-A40E-EC98E794F073}"/>
              </a:ext>
            </a:extLst>
          </p:cNvPr>
          <p:cNvSpPr>
            <a:spLocks xmlns:a="http://schemas.openxmlformats.org/drawingml/2006/main" noGrp="1"/>
          </p:cNvSpPr>
          <p:nvPr/>
        </p:nvSpPr>
        <p:spPr>
          <a:xfrm xmlns:a="http://schemas.openxmlformats.org/drawingml/2006/main">
            <a:off x="609600" y="30956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283D"/>
                </a:solidFill>
                <a:latin typeface="Aptos"/>
                <a:ea typeface="Aptos"/>
                <a:cs typeface="Aptos"/>
              </a:defRPr>
            </a:defPPr>
          </a:lstStyle>
          <a:p xmlns:a="http://schemas.openxmlformats.org/drawingml/2006/main">
            <a:pPr>
              <a:defRPr sz="2025" b="0">
                <a:solidFill>
                  <a:srgbClr val="16283D"/>
                </a:solidFill>
                <a:latin typeface="Aptos"/>
                <a:ea typeface="Aptos"/>
                <a:cs typeface="Aptos"/>
              </a:defRPr>
            </a:pPr>
            <a:r>
              <a:rPr sz="2025" b="0">
                <a:solidFill>
                  <a:srgbClr val="16283D"/>
                </a:solidFill>
                <a:latin typeface="Aptos"/>
                <a:ea typeface="Aptos"/>
                <a:cs typeface="Aptos"/>
              </a:rPr>
              <a:t>Completion gate: select a simulator and validate a small integrated test before launching the full campaign.</a:t>
            </a:r>
          </a:p>
        </p:txBody>
      </p:sp>
      <p:sp>
        <p:nvSpPr>
          <p:cNvPr id="6" name="">
            <a:extLst xmlns:a="http://schemas.openxmlformats.org/drawingml/2006/main">
              <a:ext uri="{FF2B5EF4-FFF2-40B4-BE49-F238E27FC236}">
                <a16:creationId xmlns:a16="http://schemas.microsoft.com/office/drawing/2014/main" id="{FEF0F697-CCB7-480F-86E7-C0C6AABF5AB7}"/>
              </a:ext>
            </a:extLst>
          </p:cNvPr>
          <p:cNvSpPr>
            <a:spLocks xmlns:a="http://schemas.openxmlformats.org/drawingml/2006/main" noGrp="1"/>
          </p:cNvSpPr>
          <p:nvPr/>
        </p:nvSpPr>
        <p:spPr>
          <a:xfrm xmlns:a="http://schemas.openxmlformats.org/drawingml/2006/main">
            <a:off x="609600" y="40195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06A75"/>
                </a:solidFill>
                <a:latin typeface="Aptos"/>
                <a:ea typeface="Aptos"/>
                <a:cs typeface="Aptos"/>
              </a:defRPr>
            </a:defPPr>
          </a:lstStyle>
          <a:p xmlns:a="http://schemas.openxmlformats.org/drawingml/2006/main">
            <a:pPr>
              <a:defRPr sz="2550" b="1">
                <a:solidFill>
                  <a:srgbClr val="006A75"/>
                </a:solidFill>
                <a:latin typeface="Aptos"/>
                <a:ea typeface="Aptos"/>
                <a:cs typeface="Aptos"/>
              </a:defRPr>
            </a:pPr>
            <a:r>
              <a:rPr sz="2550" b="1">
                <a:solidFill>
                  <a:srgbClr val="006A75"/>
                </a:solidFill>
                <a:latin typeface="Aptos"/>
                <a:ea typeface="Aptos"/>
                <a:cs typeface="Aptos"/>
              </a:rPr>
              <a:t>Stage 4  /  Full simulations and project completion</a:t>
            </a:r>
          </a:p>
        </p:txBody>
      </p:sp>
      <p:sp>
        <p:nvSpPr>
          <p:cNvPr id="7" name="">
            <a:extLst xmlns:a="http://schemas.openxmlformats.org/drawingml/2006/main">
              <a:ext uri="{FF2B5EF4-FFF2-40B4-BE49-F238E27FC236}">
                <a16:creationId xmlns:a16="http://schemas.microsoft.com/office/drawing/2014/main" id="{D21706D6-B6FE-4145-A2FB-C1AC9F586F11}"/>
              </a:ext>
            </a:extLst>
          </p:cNvPr>
          <p:cNvSpPr>
            <a:spLocks xmlns:a="http://schemas.openxmlformats.org/drawingml/2006/main" noGrp="1"/>
          </p:cNvSpPr>
          <p:nvPr/>
        </p:nvSpPr>
        <p:spPr>
          <a:xfrm xmlns:a="http://schemas.openxmlformats.org/drawingml/2006/main">
            <a:off x="609600" y="45910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6283D"/>
                </a:solidFill>
                <a:latin typeface="Aptos"/>
                <a:ea typeface="Aptos"/>
                <a:cs typeface="Aptos"/>
              </a:defRPr>
            </a:defPPr>
          </a:lstStyle>
          <a:p xmlns:a="http://schemas.openxmlformats.org/drawingml/2006/main">
            <a:pPr>
              <a:defRPr sz="2175" b="0">
                <a:solidFill>
                  <a:srgbClr val="16283D"/>
                </a:solidFill>
                <a:latin typeface="Aptos"/>
                <a:ea typeface="Aptos"/>
                <a:cs typeface="Aptos"/>
              </a:defRPr>
            </a:pPr>
            <a:r>
              <a:rPr sz="2175" b="0">
                <a:solidFill>
                  <a:srgbClr val="16283D"/>
                </a:solidFill>
                <a:latin typeface="Aptos"/>
                <a:ea typeface="Aptos"/>
                <a:cs typeface="Aptos"/>
              </a:rPr>
              <a:t>Run representative workloads and controls across memory capacities, tier latencies and decay settings. Include profiling overhead and page-migration costs.</a:t>
            </a:r>
          </a:p>
        </p:txBody>
      </p:sp>
      <p:sp>
        <p:nvSpPr>
          <p:cNvPr id="8" name="">
            <a:extLst xmlns:a="http://schemas.openxmlformats.org/drawingml/2006/main">
              <a:ext uri="{FF2B5EF4-FFF2-40B4-BE49-F238E27FC236}">
                <a16:creationId xmlns:a16="http://schemas.microsoft.com/office/drawing/2014/main" id="{D2E1DDA6-EEB9-40AD-B2A8-F07F487D0B09}"/>
              </a:ext>
            </a:extLst>
          </p:cNvPr>
          <p:cNvSpPr>
            <a:spLocks xmlns:a="http://schemas.openxmlformats.org/drawingml/2006/main" noGrp="1"/>
          </p:cNvSpPr>
          <p:nvPr/>
        </p:nvSpPr>
        <p:spPr>
          <a:xfrm xmlns:a="http://schemas.openxmlformats.org/drawingml/2006/main">
            <a:off x="609600" y="5657850"/>
            <a:ext cx="10972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283D"/>
                </a:solidFill>
                <a:latin typeface="Aptos"/>
                <a:ea typeface="Aptos"/>
                <a:cs typeface="Aptos"/>
              </a:defRPr>
            </a:defPPr>
          </a:lstStyle>
          <a:p xmlns:a="http://schemas.openxmlformats.org/drawingml/2006/main">
            <a:pPr>
              <a:defRPr sz="2025" b="0">
                <a:solidFill>
                  <a:srgbClr val="16283D"/>
                </a:solidFill>
                <a:latin typeface="Aptos"/>
                <a:ea typeface="Aptos"/>
                <a:cs typeface="Aptos"/>
              </a:defRPr>
            </a:pPr>
            <a:r>
              <a:rPr sz="2025" b="0">
                <a:solidFill>
                  <a:srgbClr val="16283D"/>
                </a:solidFill>
                <a:latin typeface="Aptos"/>
                <a:ea typeface="Aptos"/>
                <a:cs typeface="Aptos"/>
              </a:rPr>
              <a:t>No deadline. Completion gate: reproducible results, final analysis and the project report.</a:t>
            </a:r>
          </a:p>
        </p:txBody>
      </p:sp>
    </p:spTree>
    <p:extLst>
      <p:ext uri="{BB962C8B-B14F-4D97-AF65-F5344CB8AC3E}">
        <p14:creationId xmlns:p14="http://schemas.microsoft.com/office/powerpoint/2010/main" val="4378375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2026-10-13T13:25:41.7160000Z</dcterms:created>
  <dcterms:modified xsi:type="dcterms:W3CDTF">2026-10-13T13:25:41.7160000Z</dcterms:modified>
</coreProperties>
</file>